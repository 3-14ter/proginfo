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3" r:id="rId8"/>
    <p:sldId id="274" r:id="rId9"/>
    <p:sldId id="264" r:id="rId10"/>
    <p:sldId id="273" r:id="rId11"/>
    <p:sldId id="266" r:id="rId12"/>
    <p:sldId id="265" r:id="rId13"/>
    <p:sldId id="271" r:id="rId14"/>
    <p:sldId id="267" r:id="rId15"/>
    <p:sldId id="268" r:id="rId16"/>
    <p:sldId id="269" r:id="rId17"/>
    <p:sldId id="270" r:id="rId18"/>
    <p:sldId id="275" r:id="rId19"/>
    <p:sldId id="272" r:id="rId20"/>
  </p:sldIdLst>
  <p:sldSz cx="9144000" cy="6858000" type="screen4x3"/>
  <p:notesSz cx="6858000" cy="9144000"/>
  <p:defaultTextStyle>
    <a:defPPr>
      <a:defRPr lang="hu-H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09" autoAdjust="0"/>
  </p:normalViewPr>
  <p:slideViewPr>
    <p:cSldViewPr>
      <p:cViewPr>
        <p:scale>
          <a:sx n="70" d="100"/>
          <a:sy n="70" d="100"/>
        </p:scale>
        <p:origin x="-1810" y="-36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E7BB68-146B-400C-9D26-1BF250FF8F03}" type="datetimeFigureOut">
              <a:rPr lang="hu-HU" smtClean="0"/>
              <a:pPr>
                <a:defRPr/>
              </a:pPr>
              <a:t>2025.09.09.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3E2869-4BE3-4E81-B659-460F071574AC}" type="slidenum">
              <a:rPr lang="hu-HU" smtClean="0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8367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E400B91-3BBE-41F2-9F7B-CA05BA99C3CE}" type="datetimeFigureOut">
              <a:rPr lang="hu-HU" smtClean="0"/>
              <a:pPr>
                <a:defRPr/>
              </a:pPr>
              <a:t>2025.09.09.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F7C3AE-50F2-4AC0-8EA6-1643ABCA06E1}" type="slidenum">
              <a:rPr lang="hu-HU" smtClean="0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4127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794DDD-1A31-48A7-96AF-E922A1BBA168}" type="datetimeFigureOut">
              <a:rPr lang="hu-HU" smtClean="0"/>
              <a:pPr>
                <a:defRPr/>
              </a:pPr>
              <a:t>2025.09.09.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CF4699-E244-4698-A6D6-5D1335648191}" type="slidenum">
              <a:rPr lang="hu-HU" smtClean="0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070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AD2ECA-136C-4249-9643-E1E41DF6C2A3}" type="datetimeFigureOut">
              <a:rPr lang="hu-HU" smtClean="0"/>
              <a:pPr>
                <a:defRPr/>
              </a:pPr>
              <a:t>2025.09.09.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CA022A-CF59-415A-BE5D-8B7A0FB5660D}" type="slidenum">
              <a:rPr lang="hu-HU" smtClean="0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8055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BFB4FF-B2CE-4012-AC17-A8EE9623A745}" type="datetimeFigureOut">
              <a:rPr lang="hu-HU" smtClean="0"/>
              <a:pPr>
                <a:defRPr/>
              </a:pPr>
              <a:t>2025.09.09.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8F0118-A62A-41EC-BEDE-F0BB73C4EFC6}" type="slidenum">
              <a:rPr lang="hu-HU" smtClean="0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319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909B00-FB4A-41AE-8977-A754E99C6B89}" type="datetimeFigureOut">
              <a:rPr lang="hu-HU" smtClean="0"/>
              <a:pPr>
                <a:defRPr/>
              </a:pPr>
              <a:t>2025.09.09.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D6DAC2-6A8C-4E90-A1A0-F5A91E37D8AD}" type="slidenum">
              <a:rPr lang="hu-HU" smtClean="0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3383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046665-2C83-4BC0-B70C-9E225B2179C1}" type="datetimeFigureOut">
              <a:rPr lang="hu-HU" smtClean="0"/>
              <a:pPr>
                <a:defRPr/>
              </a:pPr>
              <a:t>2025.09.09.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D9EEA6-15E7-44DF-9BBC-92F908DC7FB9}" type="slidenum">
              <a:rPr lang="hu-HU" smtClean="0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747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9AC646B-A885-4A1A-AC88-AC5D619A20FB}" type="datetimeFigureOut">
              <a:rPr lang="hu-HU" smtClean="0"/>
              <a:pPr>
                <a:defRPr/>
              </a:pPr>
              <a:t>2025.09.09.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FD4307-BB6C-4CC7-8BA2-E7B5DAF97289}" type="slidenum">
              <a:rPr lang="hu-HU" smtClean="0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29181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7145EA-284F-488D-984A-77B71F32ACBE}" type="datetimeFigureOut">
              <a:rPr lang="hu-HU" smtClean="0"/>
              <a:pPr>
                <a:defRPr/>
              </a:pPr>
              <a:t>2025.09.09.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02DDCF-A516-406A-B8E4-C474140036E3}" type="slidenum">
              <a:rPr lang="hu-HU" smtClean="0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4377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7EB288-0D0F-4339-9172-222DAC793A60}" type="datetimeFigureOut">
              <a:rPr lang="hu-HU" smtClean="0"/>
              <a:pPr>
                <a:defRPr/>
              </a:pPr>
              <a:t>2025.09.09.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94F518-3085-421E-9C74-A4E45CE91171}" type="slidenum">
              <a:rPr lang="hu-HU" smtClean="0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5195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FBFC91-52CA-45FD-B62E-2A7C378461E4}" type="datetimeFigureOut">
              <a:rPr lang="hu-HU" smtClean="0"/>
              <a:pPr>
                <a:defRPr/>
              </a:pPr>
              <a:t>2025.09.09.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AFD46-7C6E-44BD-A171-5A4A05637A17}" type="slidenum">
              <a:rPr lang="hu-HU" smtClean="0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0042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F3E16B7-3193-487C-AFDA-2841AED79527}" type="datetimeFigureOut">
              <a:rPr lang="hu-HU" smtClean="0"/>
              <a:pPr>
                <a:defRPr/>
              </a:pPr>
              <a:t>2025.09.09.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0F9FE48-17CA-45C5-9742-A16A38A3752B}" type="slidenum">
              <a:rPr lang="hu-HU" smtClean="0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988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u6u8pEs2570?fbclid=IwZXh0bgNhZW0CMTAAYnJpZBExM0d6MnF5eW1oWTdGQllBQgEeVzdnOmK4iXbclbtNjhq6wF7yIP10PVY5DlAFEAK9sD1sKO1sbRFGJpXem_Q_aem_YDdekN9J5jOC_xElPa7SAQ" TargetMode="External"/><Relationship Id="rId2" Type="http://schemas.openxmlformats.org/officeDocument/2006/relationships/hyperlink" Target="https://youtu.be/Qv8pbyMGEM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vRnL7LMoLio" TargetMode="External"/><Relationship Id="rId4" Type="http://schemas.openxmlformats.org/officeDocument/2006/relationships/hyperlink" Target="https://youtu.be/j7DoJQgf9tE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899592" y="1988840"/>
            <a:ext cx="7772400" cy="938535"/>
          </a:xfrm>
          <a:solidFill>
            <a:schemeClr val="bg1">
              <a:alpha val="45000"/>
            </a:schemeClr>
          </a:solidFill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sz="5300" dirty="0" smtClean="0"/>
              <a:t>EJTŐERNYŐS VÉSZHELYZETEK</a:t>
            </a:r>
            <a:endParaRPr lang="hu-HU" sz="4400" dirty="0"/>
          </a:p>
        </p:txBody>
      </p:sp>
      <p:sp>
        <p:nvSpPr>
          <p:cNvPr id="4" name="Cím 1"/>
          <p:cNvSpPr txBox="1">
            <a:spLocks/>
          </p:cNvSpPr>
          <p:nvPr/>
        </p:nvSpPr>
        <p:spPr>
          <a:xfrm>
            <a:off x="6109" y="5919465"/>
            <a:ext cx="4853923" cy="938535"/>
          </a:xfrm>
          <a:prstGeom prst="rect">
            <a:avLst/>
          </a:prstGeom>
          <a:solidFill>
            <a:schemeClr val="bg1">
              <a:alpha val="45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hu-HU" sz="1600" dirty="0" smtClean="0"/>
              <a:t>Ajánlott irodalom: </a:t>
            </a:r>
            <a:br>
              <a:rPr lang="hu-HU" sz="1600" dirty="0" smtClean="0"/>
            </a:br>
            <a:r>
              <a:rPr lang="hu-HU" sz="1600" dirty="0" smtClean="0"/>
              <a:t>Aradi András: Ejtőernyős alapfokú tankönyv, MHSZ, 1972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hu-HU" sz="1600" dirty="0" smtClean="0"/>
              <a:t>39. sz. Légügyi előírás </a:t>
            </a:r>
            <a:endParaRPr lang="hu-H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sz="4000" u="sng" smtClean="0"/>
              <a:t>A vészhelyzetek felosztása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39552" y="1412776"/>
            <a:ext cx="8229600" cy="4536504"/>
          </a:xfrm>
        </p:spPr>
        <p:txBody>
          <a:bodyPr>
            <a:normAutofit fontScale="92500" lnSpcReduction="10000"/>
          </a:bodyPr>
          <a:lstStyle/>
          <a:p>
            <a:pPr marL="514350" indent="-51435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hu-HU" dirty="0" smtClean="0"/>
          </a:p>
          <a:p>
            <a:pPr marL="514350" indent="-514350" eaLnBrk="1" fontAlgn="auto" hangingPunct="1"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defRPr/>
            </a:pPr>
            <a:r>
              <a:rPr lang="hu-HU" dirty="0" smtClean="0"/>
              <a:t>Légi jármű megközelítése,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defRPr/>
            </a:pPr>
            <a:r>
              <a:rPr lang="hu-HU" dirty="0" smtClean="0"/>
              <a:t>Légi jármű fedélzetén,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  <a:defRPr/>
            </a:pPr>
            <a:r>
              <a:rPr lang="hu-HU" dirty="0" smtClean="0"/>
              <a:t>Nagy sebességű nyílási rendellenességek, 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  <a:defRPr/>
            </a:pPr>
            <a:r>
              <a:rPr lang="hu-HU" dirty="0"/>
              <a:t>K</a:t>
            </a:r>
            <a:r>
              <a:rPr lang="hu-HU" dirty="0" smtClean="0"/>
              <a:t>is </a:t>
            </a:r>
            <a:r>
              <a:rPr lang="hu-HU" dirty="0"/>
              <a:t>sebességű nyílási </a:t>
            </a:r>
            <a:r>
              <a:rPr lang="hu-HU" dirty="0" smtClean="0"/>
              <a:t>rendellenességek,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defRPr/>
            </a:pPr>
            <a:r>
              <a:rPr lang="hu-HU" dirty="0" smtClean="0"/>
              <a:t>Ereszkedés közbeni vészhelyzetek,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defRPr/>
            </a:pPr>
            <a:r>
              <a:rPr lang="hu-HU" dirty="0" smtClean="0"/>
              <a:t>Váratlan meteorológiai helyzetek,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defRPr/>
            </a:pPr>
            <a:r>
              <a:rPr lang="hu-HU" dirty="0" smtClean="0"/>
              <a:t>Földet érés közben előfordulható vészhelyzetek,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defRPr/>
            </a:pPr>
            <a:r>
              <a:rPr lang="hu-HU" dirty="0" smtClean="0"/>
              <a:t>Éjszakai ugrások vészhelyzeti lehetőségei.</a:t>
            </a:r>
            <a:endParaRPr lang="hu-H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ím 1"/>
          <p:cNvSpPr>
            <a:spLocks noGrp="1"/>
          </p:cNvSpPr>
          <p:nvPr>
            <p:ph type="title"/>
          </p:nvPr>
        </p:nvSpPr>
        <p:spPr>
          <a:xfrm>
            <a:off x="565150" y="260648"/>
            <a:ext cx="8229600" cy="85407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hu-HU" sz="4000" u="sng" dirty="0" smtClean="0"/>
              <a:t>1. Légi jármű megközelítése</a:t>
            </a:r>
            <a:endParaRPr lang="hu-HU" sz="4000" dirty="0" smtClean="0"/>
          </a:p>
        </p:txBody>
      </p:sp>
      <p:sp>
        <p:nvSpPr>
          <p:cNvPr id="5123" name="Tartalom helye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hu-HU" dirty="0" smtClean="0"/>
              <a:t>- Repülőgépet hátulról: </a:t>
            </a:r>
          </a:p>
          <a:p>
            <a:pPr eaLnBrk="1" hangingPunct="1"/>
            <a:endParaRPr lang="hu-HU" dirty="0" smtClean="0"/>
          </a:p>
          <a:p>
            <a:pPr eaLnBrk="1" hangingPunct="1"/>
            <a:endParaRPr lang="hu-HU" dirty="0" smtClean="0"/>
          </a:p>
        </p:txBody>
      </p:sp>
      <p:pic>
        <p:nvPicPr>
          <p:cNvPr id="5124" name="Kép 9" descr="Antonov_an-2_ly-big_arp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8175" y="2781300"/>
            <a:ext cx="5543550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artalom helye 2"/>
          <p:cNvSpPr>
            <a:spLocks noGrp="1"/>
          </p:cNvSpPr>
          <p:nvPr>
            <p:ph idx="1"/>
          </p:nvPr>
        </p:nvSpPr>
        <p:spPr>
          <a:xfrm>
            <a:off x="420687" y="1484784"/>
            <a:ext cx="8229600" cy="4525963"/>
          </a:xfrm>
        </p:spPr>
        <p:txBody>
          <a:bodyPr/>
          <a:lstStyle/>
          <a:p>
            <a:pPr eaLnBrk="1" hangingPunct="1">
              <a:buFontTx/>
              <a:buChar char="-"/>
            </a:pPr>
            <a:r>
              <a:rPr lang="hu-HU" smtClean="0"/>
              <a:t>Helikoptert előröl:</a:t>
            </a:r>
          </a:p>
          <a:p>
            <a:pPr eaLnBrk="1" hangingPunct="1">
              <a:buFontTx/>
              <a:buChar char="-"/>
            </a:pPr>
            <a:endParaRPr lang="hu-HU" smtClean="0"/>
          </a:p>
          <a:p>
            <a:pPr eaLnBrk="1" hangingPunct="1">
              <a:buFont typeface="Wingdings 2" pitchFamily="18" charset="2"/>
              <a:buNone/>
            </a:pPr>
            <a:endParaRPr lang="hu-HU" smtClean="0"/>
          </a:p>
          <a:p>
            <a:pPr eaLnBrk="1" hangingPunct="1">
              <a:buFontTx/>
              <a:buChar char="-"/>
            </a:pPr>
            <a:endParaRPr lang="hu-HU" smtClean="0"/>
          </a:p>
          <a:p>
            <a:pPr eaLnBrk="1" hangingPunct="1">
              <a:buFont typeface="Wingdings 2" pitchFamily="18" charset="2"/>
              <a:buNone/>
            </a:pPr>
            <a:endParaRPr lang="hu-HU" smtClean="0"/>
          </a:p>
          <a:p>
            <a:pPr eaLnBrk="1" hangingPunct="1">
              <a:buFontTx/>
              <a:buChar char="-"/>
            </a:pPr>
            <a:endParaRPr lang="hu-HU" smtClean="0"/>
          </a:p>
        </p:txBody>
      </p:sp>
      <p:pic>
        <p:nvPicPr>
          <p:cNvPr id="6148" name="Kép 3" descr="6215_mi_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150" y="2708275"/>
            <a:ext cx="5400675" cy="342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ím 1"/>
          <p:cNvSpPr>
            <a:spLocks noGrp="1"/>
          </p:cNvSpPr>
          <p:nvPr>
            <p:ph type="title"/>
          </p:nvPr>
        </p:nvSpPr>
        <p:spPr>
          <a:xfrm>
            <a:off x="565150" y="260648"/>
            <a:ext cx="8229600" cy="85407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hu-HU" sz="4000" u="sng" dirty="0" smtClean="0"/>
              <a:t>1. Légi jármű megközelítése</a:t>
            </a:r>
            <a:endParaRPr lang="hu-HU" sz="4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74320" indent="-27432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hu-HU" dirty="0" smtClean="0"/>
              <a:t>A</a:t>
            </a:r>
            <a:r>
              <a:rPr lang="hu-HU" sz="3200" dirty="0" smtClean="0"/>
              <a:t>) Repülőgép meghibásodás: </a:t>
            </a:r>
          </a:p>
          <a:p>
            <a:pPr algn="just">
              <a:buClr>
                <a:schemeClr val="tx1"/>
              </a:buClr>
              <a:defRPr/>
            </a:pPr>
            <a:r>
              <a:rPr lang="hu-HU" sz="2400" u="sng" dirty="0" smtClean="0"/>
              <a:t>vészugrás (</a:t>
            </a:r>
            <a:r>
              <a:rPr lang="hu-HU" sz="2400" u="sng" dirty="0"/>
              <a:t>500 méter alatt</a:t>
            </a:r>
            <a:r>
              <a:rPr lang="hu-HU" sz="2400" u="sng" dirty="0" smtClean="0"/>
              <a:t>):</a:t>
            </a:r>
            <a:r>
              <a:rPr lang="hu-HU" sz="2400" dirty="0" smtClean="0"/>
              <a:t> gyorsan, kapkodás nélkül kiugrás, tartalék ejtőernyő nyitás (500 méter alatti kiugrás esetén)</a:t>
            </a:r>
          </a:p>
          <a:p>
            <a:pPr algn="just">
              <a:buClr>
                <a:schemeClr val="tx1"/>
              </a:buClr>
              <a:defRPr/>
            </a:pPr>
            <a:r>
              <a:rPr lang="hu-HU" sz="2400" u="sng" dirty="0" err="1" smtClean="0"/>
              <a:t>vészgépelhagyás</a:t>
            </a:r>
            <a:r>
              <a:rPr lang="hu-HU" sz="2400" u="sng" dirty="0" smtClean="0"/>
              <a:t> (</a:t>
            </a:r>
            <a:r>
              <a:rPr lang="hu-HU" sz="2400" u="sng" dirty="0"/>
              <a:t>500 méter felett</a:t>
            </a:r>
            <a:r>
              <a:rPr lang="hu-HU" sz="2400" u="sng" dirty="0" smtClean="0"/>
              <a:t>):</a:t>
            </a:r>
            <a:r>
              <a:rPr lang="hu-HU" sz="2400" dirty="0" smtClean="0"/>
              <a:t> gyorsan, kapkodás nélkül kiugrás, főejtőernyő nyitás</a:t>
            </a:r>
          </a:p>
          <a:p>
            <a:pPr>
              <a:buClr>
                <a:schemeClr val="tx1"/>
              </a:buClr>
              <a:defRPr/>
            </a:pPr>
            <a:r>
              <a:rPr lang="hu-HU" sz="2400" u="sng" dirty="0" smtClean="0"/>
              <a:t>kényszerleszállás</a:t>
            </a:r>
            <a:r>
              <a:rPr lang="hu-HU" sz="2400" dirty="0" smtClean="0"/>
              <a:t>: kényszerleszállási testhelyzet felvétele után felkészülni a kemény talajfogásra</a:t>
            </a:r>
          </a:p>
          <a:p>
            <a:pPr marL="0" indent="0">
              <a:buClr>
                <a:schemeClr val="tx1"/>
              </a:buClr>
              <a:buNone/>
              <a:defRPr/>
            </a:pPr>
            <a:endParaRPr lang="hu-HU" sz="2400" dirty="0" smtClean="0"/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hu-HU" sz="2400" dirty="0" smtClean="0"/>
              <a:t>Figyeljünk az ugrató parancsnok illetve a légi jármű vezető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hu-HU" sz="2400" dirty="0" smtClean="0"/>
              <a:t>utasítására!</a:t>
            </a:r>
            <a:endParaRPr lang="hu-HU" dirty="0"/>
          </a:p>
        </p:txBody>
      </p:sp>
      <p:sp>
        <p:nvSpPr>
          <p:cNvPr id="6" name="Cím 1"/>
          <p:cNvSpPr txBox="1">
            <a:spLocks/>
          </p:cNvSpPr>
          <p:nvPr/>
        </p:nvSpPr>
        <p:spPr>
          <a:xfrm>
            <a:off x="457200" y="260648"/>
            <a:ext cx="850741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hu-HU" sz="4000" u="sng" dirty="0" smtClean="0"/>
              <a:t>2. Repülőgépen előforduló vészhelyzetek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96106" y="1556792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Clr>
                <a:schemeClr val="accent3"/>
              </a:buClr>
              <a:buNone/>
              <a:defRPr/>
            </a:pPr>
            <a:r>
              <a:rPr lang="hu-HU" dirty="0" smtClean="0"/>
              <a:t>B</a:t>
            </a:r>
            <a:r>
              <a:rPr lang="hu-HU" dirty="0"/>
              <a:t>) Gépben kinyílt </a:t>
            </a:r>
            <a:r>
              <a:rPr lang="hu-HU" dirty="0" smtClean="0"/>
              <a:t>ernyő:</a:t>
            </a:r>
            <a:endParaRPr lang="hu-HU" dirty="0"/>
          </a:p>
          <a:p>
            <a:pPr marL="609600" indent="-609600" algn="just" eaLnBrk="1" fontAlgn="auto" hangingPunct="1">
              <a:spcAft>
                <a:spcPts val="0"/>
              </a:spcAft>
              <a:buClr>
                <a:schemeClr val="tx1"/>
              </a:buClr>
              <a:buFont typeface="Wingdings 2"/>
              <a:buChar char=""/>
              <a:defRPr/>
            </a:pPr>
            <a:r>
              <a:rPr lang="hu-HU" sz="2400" dirty="0" smtClean="0"/>
              <a:t>háttal nekinyomni az ernyőt a gép oldalának, megakadályozni, hogy az ernyő kikerüljön a gépen kívüli légáramba és szólni az ugratónak </a:t>
            </a:r>
          </a:p>
          <a:p>
            <a:pPr marL="609600" indent="-609600" algn="just" eaLnBrk="1" fontAlgn="auto" hangingPunct="1">
              <a:spcAft>
                <a:spcPts val="0"/>
              </a:spcAft>
              <a:buClr>
                <a:schemeClr val="tx1"/>
              </a:buClr>
              <a:buFont typeface="Wingdings 2"/>
              <a:buChar char=""/>
              <a:defRPr/>
            </a:pPr>
            <a:r>
              <a:rPr lang="hu-HU" sz="2400" dirty="0" smtClean="0"/>
              <a:t>nyitóernyőt kézben fogni </a:t>
            </a:r>
          </a:p>
          <a:p>
            <a:pPr marL="609600" indent="-609600" algn="just" eaLnBrk="1" fontAlgn="auto" hangingPunct="1">
              <a:spcAft>
                <a:spcPts val="0"/>
              </a:spcAft>
              <a:buClr>
                <a:schemeClr val="tx1"/>
              </a:buClr>
              <a:buFont typeface="Wingdings 2"/>
              <a:buChar char=""/>
              <a:defRPr/>
            </a:pPr>
            <a:r>
              <a:rPr lang="hu-HU" sz="2400" dirty="0" smtClean="0"/>
              <a:t>(biztosító készüléket kikapcsolni)</a:t>
            </a:r>
          </a:p>
          <a:p>
            <a:pPr marL="609600" indent="-609600" algn="just" eaLnBrk="1" fontAlgn="auto" hangingPunct="1">
              <a:spcAft>
                <a:spcPts val="0"/>
              </a:spcAft>
              <a:buClr>
                <a:schemeClr val="tx1"/>
              </a:buClr>
              <a:buFont typeface="Wingdings 2"/>
              <a:buChar char=""/>
              <a:defRPr/>
            </a:pPr>
            <a:r>
              <a:rPr lang="hu-HU" sz="2400" dirty="0" smtClean="0"/>
              <a:t>amennyiben a kinyílt ernyő kikerül a légáramba, gondolkodás nélkül követni!</a:t>
            </a:r>
          </a:p>
          <a:p>
            <a:pPr marL="609600" indent="-609600" algn="just" eaLnBrk="1" fontAlgn="auto" hangingPunct="1">
              <a:spcAft>
                <a:spcPts val="0"/>
              </a:spcAft>
              <a:buClr>
                <a:schemeClr val="tx1"/>
              </a:buClr>
              <a:buFont typeface="Wingdings 2"/>
              <a:buChar char=""/>
              <a:defRPr/>
            </a:pPr>
            <a:endParaRPr lang="hu-HU" sz="2400" dirty="0" smtClean="0"/>
          </a:p>
          <a:p>
            <a:pPr marL="274320" indent="-27432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hu-HU" sz="2800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hu-HU" dirty="0"/>
          </a:p>
        </p:txBody>
      </p:sp>
      <p:sp>
        <p:nvSpPr>
          <p:cNvPr id="4" name="Cím 1"/>
          <p:cNvSpPr txBox="1">
            <a:spLocks/>
          </p:cNvSpPr>
          <p:nvPr/>
        </p:nvSpPr>
        <p:spPr>
          <a:xfrm>
            <a:off x="457200" y="260648"/>
            <a:ext cx="850741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hu-HU" sz="4000" u="sng" dirty="0" smtClean="0"/>
              <a:t>2. Repülőgépen előforduló vészhelyzetek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403648"/>
            <a:ext cx="8229600" cy="4525963"/>
          </a:xfrm>
        </p:spPr>
        <p:txBody>
          <a:bodyPr>
            <a:normAutofit lnSpcReduction="10000"/>
          </a:bodyPr>
          <a:lstStyle/>
          <a:p>
            <a:pPr marL="609600" indent="-609600" algn="just">
              <a:lnSpc>
                <a:spcPct val="80000"/>
              </a:lnSpc>
              <a:spcAft>
                <a:spcPts val="1200"/>
              </a:spcAft>
              <a:buClr>
                <a:schemeClr val="accent3"/>
              </a:buClr>
              <a:buNone/>
              <a:defRPr/>
            </a:pPr>
            <a:r>
              <a:rPr lang="hu-HU" dirty="0" smtClean="0"/>
              <a:t>C</a:t>
            </a:r>
            <a:r>
              <a:rPr lang="hu-HU" dirty="0"/>
              <a:t>) Fönnakadás a repülőgépen</a:t>
            </a:r>
          </a:p>
          <a:p>
            <a:pPr algn="just">
              <a:lnSpc>
                <a:spcPct val="80000"/>
              </a:lnSpc>
              <a:spcAft>
                <a:spcPts val="1200"/>
              </a:spcAft>
              <a:buClr>
                <a:schemeClr val="tx1"/>
              </a:buClr>
              <a:defRPr/>
            </a:pPr>
            <a:r>
              <a:rPr lang="hu-HU" sz="2400" dirty="0" smtClean="0"/>
              <a:t>törekedni arra, hogy az ugrató parancsnokkal fel tudjuk venni a szemkontaktust </a:t>
            </a:r>
          </a:p>
          <a:p>
            <a:pPr algn="just">
              <a:lnSpc>
                <a:spcPct val="80000"/>
              </a:lnSpc>
              <a:spcAft>
                <a:spcPts val="1200"/>
              </a:spcAft>
              <a:buClr>
                <a:schemeClr val="tx1"/>
              </a:buClr>
              <a:defRPr/>
            </a:pPr>
            <a:r>
              <a:rPr lang="hu-HU" sz="2400" dirty="0" smtClean="0"/>
              <a:t>jelezni kell neki, ha cselekvő képesek vagyunk</a:t>
            </a:r>
          </a:p>
          <a:p>
            <a:pPr algn="just">
              <a:lnSpc>
                <a:spcPct val="80000"/>
              </a:lnSpc>
              <a:spcAft>
                <a:spcPts val="1200"/>
              </a:spcAft>
              <a:buClr>
                <a:schemeClr val="tx1"/>
              </a:buClr>
              <a:defRPr/>
            </a:pPr>
            <a:r>
              <a:rPr lang="hu-HU" sz="2400" dirty="0" smtClean="0"/>
              <a:t>fennakadás megszűntetése, levágás, leoldás és tartalékernyő nyitás</a:t>
            </a:r>
          </a:p>
          <a:p>
            <a:pPr algn="just">
              <a:lnSpc>
                <a:spcPct val="80000"/>
              </a:lnSpc>
              <a:spcAft>
                <a:spcPts val="1200"/>
              </a:spcAft>
              <a:buClr>
                <a:schemeClr val="tx1"/>
              </a:buClr>
              <a:defRPr/>
            </a:pPr>
            <a:r>
              <a:rPr lang="hu-HU" sz="2400" dirty="0" smtClean="0"/>
              <a:t>amennyiben az ugrató nem tud segíteni nekünk, vagy nem észlelte a fennakadást, akkor magunknak kell megoldani a helyzetet 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defRPr/>
            </a:pPr>
            <a:r>
              <a:rPr lang="hu-HU" sz="2400" dirty="0" smtClean="0"/>
              <a:t>a kupola nyílása után azt ellenőrizzük, majd tájékozódunk a </a:t>
            </a:r>
            <a:r>
              <a:rPr lang="hu-HU" sz="2400" dirty="0" err="1" smtClean="0"/>
              <a:t>földetérési</a:t>
            </a:r>
            <a:r>
              <a:rPr lang="hu-HU" sz="2400" dirty="0" smtClean="0"/>
              <a:t> lehetőségekről</a:t>
            </a:r>
          </a:p>
        </p:txBody>
      </p:sp>
      <p:sp>
        <p:nvSpPr>
          <p:cNvPr id="5" name="Cím 1"/>
          <p:cNvSpPr txBox="1">
            <a:spLocks/>
          </p:cNvSpPr>
          <p:nvPr/>
        </p:nvSpPr>
        <p:spPr>
          <a:xfrm>
            <a:off x="457200" y="260648"/>
            <a:ext cx="850741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hu-HU" sz="4000" u="sng" dirty="0" smtClean="0"/>
              <a:t>2. Repülőgépen előforduló vészhelyzetek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Gyors és Lassú vészhelyzetek megoldásának különbsége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Gyors vészhelyzetek</a:t>
            </a:r>
          </a:p>
          <a:p>
            <a:pPr lvl="1"/>
            <a:r>
              <a:rPr lang="hu-HU" dirty="0"/>
              <a:t>Időre dolgozunk, </a:t>
            </a:r>
            <a:r>
              <a:rPr lang="hu-HU" dirty="0" err="1"/>
              <a:t>max</a:t>
            </a:r>
            <a:r>
              <a:rPr lang="hu-HU" dirty="0"/>
              <a:t>. 5mp van a cselekvésre</a:t>
            </a:r>
          </a:p>
          <a:p>
            <a:pPr marL="457200" lvl="1" indent="0">
              <a:buNone/>
            </a:pPr>
            <a:endParaRPr lang="hu-HU" dirty="0" smtClean="0"/>
          </a:p>
          <a:p>
            <a:endParaRPr lang="hu-HU" dirty="0"/>
          </a:p>
          <a:p>
            <a:r>
              <a:rPr lang="hu-HU" dirty="0" smtClean="0"/>
              <a:t>Lassú vészhelyzetek</a:t>
            </a:r>
          </a:p>
          <a:p>
            <a:pPr lvl="1"/>
            <a:r>
              <a:rPr lang="hu-HU" dirty="0" smtClean="0"/>
              <a:t>Magasságra dolgozunk, 600m-ig próbálkozhatunk, majd leoldás és tartalékernyő nyitás</a:t>
            </a:r>
          </a:p>
          <a:p>
            <a:pPr marL="457200" lvl="1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90888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hu-HU" sz="4000" dirty="0" smtClean="0"/>
              <a:t>3. Nagy sebességű nyílási rendellenességek</a:t>
            </a:r>
          </a:p>
        </p:txBody>
      </p:sp>
      <p:sp>
        <p:nvSpPr>
          <p:cNvPr id="11267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 eaLnBrk="1" hangingPunct="1">
              <a:buFont typeface="+mj-lt"/>
              <a:buAutoNum type="arabicPeriod"/>
            </a:pPr>
            <a:r>
              <a:rPr lang="hu-HU" dirty="0" smtClean="0"/>
              <a:t>Teljes rendellenesség (nem találom, nem tudom meghúzni) –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hu-HU" dirty="0" smtClean="0"/>
              <a:t>Nehéz nyitás, nehéz kioldó kihúzás,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hu-HU" dirty="0" smtClean="0"/>
              <a:t>Nyitóernyő  vontatódás (1.Ragadás /?/ 2. tokzáródás),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hu-HU" dirty="0" smtClean="0"/>
              <a:t>Patkó,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hu-HU" dirty="0" smtClean="0"/>
              <a:t>Konténer záródás,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hu-HU" dirty="0" smtClean="0"/>
              <a:t>Kupolaszakadás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hu-HU" dirty="0" err="1" smtClean="0"/>
              <a:t>Slider</a:t>
            </a:r>
            <a:r>
              <a:rPr lang="hu-HU" dirty="0" smtClean="0"/>
              <a:t> (csúszó lap) fennakadás,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hu-HU" dirty="0" smtClean="0"/>
              <a:t>Lassú, </a:t>
            </a:r>
            <a:r>
              <a:rPr lang="hu-HU" dirty="0" err="1" smtClean="0"/>
              <a:t>muhogós</a:t>
            </a:r>
            <a:r>
              <a:rPr lang="hu-HU" dirty="0" smtClean="0"/>
              <a:t> feltöltődés</a:t>
            </a:r>
            <a:r>
              <a:rPr lang="hu-HU" dirty="0"/>
              <a:t> (</a:t>
            </a:r>
            <a:r>
              <a:rPr lang="hu-HU" dirty="0" err="1" smtClean="0"/>
              <a:t>slidert</a:t>
            </a:r>
            <a:r>
              <a:rPr lang="hu-HU" dirty="0" smtClean="0"/>
              <a:t> látod//nem látod?)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hu-HU" dirty="0" smtClean="0"/>
              <a:t>Heveder (felszakadó) szakadás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hu-HU" dirty="0" smtClean="0"/>
              <a:t>Kettős nyílás - </a:t>
            </a:r>
            <a:r>
              <a:rPr lang="hu-HU" dirty="0" err="1" smtClean="0"/>
              <a:t>muhogós</a:t>
            </a:r>
            <a:endParaRPr lang="hu-HU" dirty="0" smtClean="0"/>
          </a:p>
          <a:p>
            <a:pPr eaLnBrk="1" hangingPunct="1"/>
            <a:endParaRPr lang="hu-HU" dirty="0" smtClean="0"/>
          </a:p>
          <a:p>
            <a:pPr eaLnBrk="1" hangingPunct="1"/>
            <a:endParaRPr lang="hu-H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hu-HU" sz="4000" dirty="0" smtClean="0"/>
              <a:t>3. Nagy sebességű nyílási rendellenességek</a:t>
            </a:r>
          </a:p>
        </p:txBody>
      </p:sp>
      <p:sp>
        <p:nvSpPr>
          <p:cNvPr id="11267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buNone/>
            </a:pPr>
            <a:endParaRPr lang="hu-HU" dirty="0" smtClean="0"/>
          </a:p>
          <a:p>
            <a:pPr eaLnBrk="1" hangingPunct="1"/>
            <a:endParaRPr lang="hu-HU" dirty="0" smtClean="0"/>
          </a:p>
          <a:p>
            <a:pPr eaLnBrk="1" hangingPunct="1"/>
            <a:endParaRPr lang="hu-HU" dirty="0" smtClean="0"/>
          </a:p>
        </p:txBody>
      </p:sp>
      <p:sp>
        <p:nvSpPr>
          <p:cNvPr id="4" name="Tartalom helye 2"/>
          <p:cNvSpPr txBox="1">
            <a:spLocks/>
          </p:cNvSpPr>
          <p:nvPr/>
        </p:nvSpPr>
        <p:spPr>
          <a:xfrm>
            <a:off x="609600" y="17526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hu-HU" dirty="0" smtClean="0"/>
              <a:t>Nyitási magasság: min. 1000 méter</a:t>
            </a:r>
          </a:p>
          <a:p>
            <a:pPr fontAlgn="auto">
              <a:spcAft>
                <a:spcPts val="0"/>
              </a:spcAft>
            </a:pPr>
            <a:r>
              <a:rPr lang="hu-HU" dirty="0" smtClean="0"/>
              <a:t>Döntési magasság: 700 méter</a:t>
            </a:r>
          </a:p>
          <a:p>
            <a:pPr fontAlgn="auto">
              <a:spcAft>
                <a:spcPts val="0"/>
              </a:spcAft>
            </a:pPr>
            <a:r>
              <a:rPr lang="hu-HU" dirty="0" smtClean="0"/>
              <a:t>Végső cselekvés magassága: 600 méter</a:t>
            </a:r>
          </a:p>
          <a:p>
            <a:pPr fontAlgn="auto">
              <a:spcAft>
                <a:spcPts val="0"/>
              </a:spcAft>
            </a:pPr>
            <a:endParaRPr lang="hu-HU" dirty="0" smtClean="0"/>
          </a:p>
          <a:p>
            <a:pPr fontAlgn="auto">
              <a:spcAft>
                <a:spcPts val="0"/>
              </a:spcAft>
            </a:pP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238711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sz="4000" dirty="0"/>
              <a:t>4. Kis sebességű nyílási rendellenességek</a:t>
            </a:r>
            <a:endParaRPr lang="hu-HU" sz="4000" dirty="0" smtClean="0"/>
          </a:p>
        </p:txBody>
      </p:sp>
      <p:sp>
        <p:nvSpPr>
          <p:cNvPr id="13315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hu-HU" dirty="0" smtClean="0"/>
              <a:t>Szálátcsapódás (főernyőn, tartalékernyőn)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hu-HU" dirty="0"/>
              <a:t>Zsinór </a:t>
            </a:r>
            <a:r>
              <a:rPr lang="hu-HU" dirty="0" smtClean="0"/>
              <a:t>csavarodás </a:t>
            </a:r>
            <a:endParaRPr lang="hu-HU" dirty="0"/>
          </a:p>
          <a:p>
            <a:pPr marL="514350" indent="-514350" algn="just">
              <a:buFont typeface="+mj-lt"/>
              <a:buAutoNum type="arabicPeriod"/>
            </a:pPr>
            <a:r>
              <a:rPr lang="hu-HU" dirty="0" smtClean="0"/>
              <a:t>Zsinórcsomósodás</a:t>
            </a:r>
          </a:p>
          <a:p>
            <a:pPr marL="514350" indent="-514350" algn="just" eaLnBrk="1" hangingPunct="1">
              <a:buFont typeface="+mj-lt"/>
              <a:buAutoNum type="arabicPeriod"/>
            </a:pPr>
            <a:r>
              <a:rPr lang="hu-HU" dirty="0" smtClean="0"/>
              <a:t>Összeütközés, vagy kupola-formaugrás közbeni összeakadás</a:t>
            </a:r>
          </a:p>
          <a:p>
            <a:pPr marL="514350" indent="-514350" algn="just" eaLnBrk="1" hangingPunct="1">
              <a:buFont typeface="+mj-lt"/>
              <a:buAutoNum type="arabicPeriod"/>
            </a:pPr>
            <a:r>
              <a:rPr lang="hu-HU" dirty="0" smtClean="0"/>
              <a:t>Nyitóernyő becsapódás (előre)</a:t>
            </a:r>
          </a:p>
          <a:p>
            <a:pPr marL="514350" indent="-514350" algn="just" eaLnBrk="1" hangingPunct="1">
              <a:buFont typeface="+mj-lt"/>
              <a:buAutoNum type="arabicPeriod"/>
            </a:pPr>
            <a:r>
              <a:rPr lang="hu-HU" dirty="0" smtClean="0"/>
              <a:t>Végcella záródás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hu-HU" dirty="0"/>
              <a:t>Aszimmetrikus fékzsinór szakadás (gyors kupolák esetén nagy sebességű</a:t>
            </a:r>
            <a:r>
              <a:rPr lang="hu-HU" dirty="0" smtClean="0"/>
              <a:t>), oldhatatlan fék, egyik fék elakadt stb.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hu-HU" dirty="0" smtClean="0"/>
              <a:t>Kupolaszakadás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hu-HU" dirty="0" smtClean="0"/>
              <a:t>Zsinórszakadás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hu-HU" dirty="0" err="1" smtClean="0"/>
              <a:t>Slider</a:t>
            </a:r>
            <a:r>
              <a:rPr lang="hu-HU" dirty="0" smtClean="0"/>
              <a:t> megáll félút felett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hu-HU" dirty="0" smtClean="0"/>
              <a:t>Kettős nyílás - </a:t>
            </a:r>
            <a:r>
              <a:rPr lang="hu-HU" dirty="0" err="1" smtClean="0"/>
              <a:t>biplane</a:t>
            </a:r>
            <a:endParaRPr lang="hu-HU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hu-HU" dirty="0" smtClean="0"/>
              <a:t>Kettős nyílás - banán</a:t>
            </a:r>
            <a:endParaRPr lang="hu-HU" dirty="0"/>
          </a:p>
          <a:p>
            <a:pPr marL="514350" indent="-514350" algn="just" eaLnBrk="1" hangingPunct="1">
              <a:buFont typeface="+mj-lt"/>
              <a:buAutoNum type="arabicPeriod"/>
            </a:pPr>
            <a:endParaRPr lang="hu-H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000" dirty="0"/>
              <a:t>Kettős nyílás</a:t>
            </a:r>
            <a:endParaRPr lang="hu-HU" sz="4000" dirty="0" smtClean="0"/>
          </a:p>
        </p:txBody>
      </p:sp>
      <p:sp>
        <p:nvSpPr>
          <p:cNvPr id="12291" name="Tartalom helye 2"/>
          <p:cNvSpPr>
            <a:spLocks noGrp="1"/>
          </p:cNvSpPr>
          <p:nvPr>
            <p:ph idx="1"/>
          </p:nvPr>
        </p:nvSpPr>
        <p:spPr>
          <a:xfrm>
            <a:off x="395536" y="1628800"/>
            <a:ext cx="8435280" cy="4389437"/>
          </a:xfrm>
        </p:spPr>
        <p:txBody>
          <a:bodyPr>
            <a:normAutofit fontScale="92500"/>
          </a:bodyPr>
          <a:lstStyle/>
          <a:p>
            <a:pPr algn="just" eaLnBrk="1" hangingPunct="1"/>
            <a:r>
              <a:rPr lang="hu-HU" sz="3000" dirty="0" smtClean="0"/>
              <a:t>fő-, és </a:t>
            </a:r>
            <a:r>
              <a:rPr lang="hu-HU" sz="3000" dirty="0" err="1" smtClean="0"/>
              <a:t>tartalékejtőernyő</a:t>
            </a:r>
            <a:r>
              <a:rPr lang="hu-HU" sz="3000" dirty="0" smtClean="0"/>
              <a:t> egyidejűleg nyitva van</a:t>
            </a:r>
            <a:r>
              <a:rPr lang="hu-HU" sz="2200" dirty="0" smtClean="0"/>
              <a:t>	</a:t>
            </a:r>
          </a:p>
          <a:p>
            <a:pPr marL="0" indent="0" algn="just" eaLnBrk="1" hangingPunct="1">
              <a:buNone/>
            </a:pPr>
            <a:r>
              <a:rPr lang="hu-HU" sz="2200" dirty="0" smtClean="0"/>
              <a:t>							         </a:t>
            </a:r>
            <a:r>
              <a:rPr lang="hu-HU" sz="2600" dirty="0" smtClean="0"/>
              <a:t>LEOLDÁS</a:t>
            </a:r>
          </a:p>
          <a:p>
            <a:pPr lvl="1" algn="just">
              <a:lnSpc>
                <a:spcPct val="150000"/>
              </a:lnSpc>
            </a:pPr>
            <a:r>
              <a:rPr lang="hu-HU" sz="2600" dirty="0" smtClean="0"/>
              <a:t> Egymás mögött elhelyezkedő kupolák, (fedeles)       TILOS</a:t>
            </a:r>
          </a:p>
          <a:p>
            <a:pPr lvl="1" algn="just">
              <a:lnSpc>
                <a:spcPct val="150000"/>
              </a:lnSpc>
            </a:pPr>
            <a:r>
              <a:rPr lang="hu-HU" sz="2600" dirty="0" smtClean="0"/>
              <a:t> Egymás mellett elhelyezkedő kupolák, (banán)         LEHET</a:t>
            </a:r>
          </a:p>
          <a:p>
            <a:pPr lvl="1" algn="just">
              <a:lnSpc>
                <a:spcPct val="150000"/>
              </a:lnSpc>
            </a:pPr>
            <a:r>
              <a:rPr lang="hu-HU" sz="2600" dirty="0" smtClean="0"/>
              <a:t> Zuhanó kupolák (</a:t>
            </a:r>
            <a:r>
              <a:rPr lang="hu-HU" sz="2600" dirty="0" err="1" smtClean="0"/>
              <a:t>muhogós</a:t>
            </a:r>
            <a:r>
              <a:rPr lang="hu-HU" sz="2600" dirty="0" smtClean="0"/>
              <a:t>)			      KÖTELETZŐ</a:t>
            </a:r>
          </a:p>
          <a:p>
            <a:pPr lvl="2" algn="just" eaLnBrk="1" hangingPunct="1">
              <a:buFontTx/>
              <a:buChar char="-"/>
            </a:pPr>
            <a:endParaRPr lang="hu-HU" sz="2200" dirty="0" smtClean="0"/>
          </a:p>
          <a:p>
            <a:pPr lvl="2" eaLnBrk="1" hangingPunct="1">
              <a:buFontTx/>
              <a:buChar char="-"/>
            </a:pPr>
            <a:endParaRPr lang="hu-HU" sz="22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sz="3600" smtClean="0"/>
              <a:t>Leoldás végrehajtása:</a:t>
            </a:r>
          </a:p>
        </p:txBody>
      </p:sp>
      <p:sp>
        <p:nvSpPr>
          <p:cNvPr id="14339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hu-HU" dirty="0" smtClean="0"/>
              <a:t>Leoldó párnát megnéz,</a:t>
            </a:r>
          </a:p>
          <a:p>
            <a:pPr eaLnBrk="1" hangingPunct="1"/>
            <a:r>
              <a:rPr lang="hu-HU" dirty="0" smtClean="0"/>
              <a:t>Leoldó párnát mindkét kézzel megfog,</a:t>
            </a:r>
          </a:p>
          <a:p>
            <a:pPr eaLnBrk="1" hangingPunct="1"/>
            <a:r>
              <a:rPr lang="hu-HU" dirty="0" smtClean="0"/>
              <a:t>Tartalékernyő kioldót megnéz,</a:t>
            </a:r>
          </a:p>
          <a:p>
            <a:pPr eaLnBrk="1" hangingPunct="1"/>
            <a:r>
              <a:rPr lang="hu-HU" dirty="0" smtClean="0"/>
              <a:t>Leoldó párnát meghúz, kartávolságig kitol,</a:t>
            </a:r>
          </a:p>
          <a:p>
            <a:pPr eaLnBrk="1" hangingPunct="1"/>
            <a:r>
              <a:rPr lang="hu-HU" dirty="0" smtClean="0"/>
              <a:t>Tartalékernyő kioldót mindkét kézzel megfog,</a:t>
            </a:r>
          </a:p>
          <a:p>
            <a:pPr eaLnBrk="1" hangingPunct="1"/>
            <a:r>
              <a:rPr lang="hu-HU" dirty="0" smtClean="0"/>
              <a:t>Tartalékernyő kioldót meghúz, kartávolságig kitol.</a:t>
            </a:r>
          </a:p>
          <a:p>
            <a:pPr eaLnBrk="1" hangingPunct="1"/>
            <a:endParaRPr lang="hu-HU" dirty="0" smtClean="0"/>
          </a:p>
          <a:p>
            <a:pPr eaLnBrk="1" hangingPunct="1"/>
            <a:endParaRPr lang="hu-H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sz="4000" smtClean="0"/>
              <a:t>5. Ereszkedés közbeni vészhelyzetek</a:t>
            </a:r>
          </a:p>
        </p:txBody>
      </p:sp>
      <p:sp>
        <p:nvSpPr>
          <p:cNvPr id="1536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eaLnBrk="1" hangingPunct="1"/>
            <a:r>
              <a:rPr lang="hu-HU" dirty="0"/>
              <a:t>ö</a:t>
            </a:r>
            <a:r>
              <a:rPr lang="hu-HU" dirty="0" smtClean="0"/>
              <a:t>sszeütközés elkerülése:</a:t>
            </a:r>
          </a:p>
          <a:p>
            <a:pPr marL="914400" lvl="2" indent="0" algn="just">
              <a:buNone/>
            </a:pPr>
            <a:r>
              <a:rPr lang="hu-HU" dirty="0" smtClean="0"/>
              <a:t>- Ollózzunk a lábunkkal!</a:t>
            </a:r>
          </a:p>
          <a:p>
            <a:pPr algn="just" eaLnBrk="1" hangingPunct="1">
              <a:buFont typeface="Wingdings 2" pitchFamily="18" charset="2"/>
              <a:buNone/>
            </a:pPr>
            <a:r>
              <a:rPr lang="hu-HU" dirty="0" smtClean="0"/>
              <a:t>		- szemből érkezve jobbkéz-szabály: 		mindketten jobbra fordulunk,</a:t>
            </a:r>
          </a:p>
          <a:p>
            <a:pPr algn="just" eaLnBrk="1" hangingPunct="1">
              <a:buFont typeface="Wingdings 2" pitchFamily="18" charset="2"/>
              <a:buNone/>
            </a:pPr>
            <a:r>
              <a:rPr lang="hu-HU" dirty="0" smtClean="0"/>
              <a:t>		- 0 - 180° közötti szögben érkezve, az érkezés 	      irányától kifelé tartás,</a:t>
            </a:r>
          </a:p>
          <a:p>
            <a:pPr algn="just" eaLnBrk="1" hangingPunct="1"/>
            <a:r>
              <a:rPr lang="hu-HU" dirty="0"/>
              <a:t>k</a:t>
            </a:r>
            <a:r>
              <a:rPr lang="hu-HU" dirty="0" smtClean="0"/>
              <a:t>örkupolás ejtőernyővel fölé, légcellás ejtőernyővel 45°-ban a másik mögé ne kerüljünk, főleg földet érés közben ne!</a:t>
            </a:r>
          </a:p>
          <a:p>
            <a:pPr eaLnBrk="1" hangingPunct="1"/>
            <a:endParaRPr lang="hu-H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sz="4000" dirty="0" smtClean="0"/>
              <a:t>6. Váratlan meteorológiai körülmények</a:t>
            </a:r>
          </a:p>
        </p:txBody>
      </p:sp>
      <p:sp>
        <p:nvSpPr>
          <p:cNvPr id="16387" name="Tartalom helye 2"/>
          <p:cNvSpPr>
            <a:spLocks noGrp="1"/>
          </p:cNvSpPr>
          <p:nvPr>
            <p:ph idx="1"/>
          </p:nvPr>
        </p:nvSpPr>
        <p:spPr>
          <a:xfrm>
            <a:off x="899592" y="1412776"/>
            <a:ext cx="7488832" cy="4525963"/>
          </a:xfrm>
        </p:spPr>
        <p:txBody>
          <a:bodyPr>
            <a:normAutofit fontScale="55000" lnSpcReduction="20000"/>
          </a:bodyPr>
          <a:lstStyle/>
          <a:p>
            <a:pPr eaLnBrk="1" hangingPunct="1">
              <a:lnSpc>
                <a:spcPct val="150000"/>
              </a:lnSpc>
            </a:pPr>
            <a:r>
              <a:rPr lang="hu-HU" dirty="0" smtClean="0"/>
              <a:t>hirtelen szélbeerősödés – mindig széllel szemben szállunk le, ha kell tolatva (amennyiben a szél olyan erőssé válik, hogy hosszasan vontat minket, úgy megpróbáljuk a kupolát összeomlasztani, hogy az egyik oldali fékzsinórt túlhúzzuk, amennyiben ez sikertelen, a földön az RSL szalagot </a:t>
            </a:r>
            <a:r>
              <a:rPr lang="hu-HU" dirty="0" err="1" smtClean="0"/>
              <a:t>inaktiváljuk</a:t>
            </a:r>
            <a:r>
              <a:rPr lang="hu-HU" dirty="0" smtClean="0"/>
              <a:t> és a főernyőt leoldjuk, de egyik oldali </a:t>
            </a:r>
            <a:r>
              <a:rPr lang="hu-HU" dirty="0" err="1" smtClean="0"/>
              <a:t>hevederzetet</a:t>
            </a:r>
            <a:r>
              <a:rPr lang="hu-HU" dirty="0" smtClean="0"/>
              <a:t> megfogjuk, hogy az ernyőnket ne vigye el a szél)</a:t>
            </a:r>
          </a:p>
          <a:p>
            <a:pPr eaLnBrk="1" hangingPunct="1">
              <a:lnSpc>
                <a:spcPct val="150000"/>
              </a:lnSpc>
            </a:pPr>
            <a:r>
              <a:rPr lang="hu-HU" dirty="0"/>
              <a:t>t</a:t>
            </a:r>
            <a:r>
              <a:rPr lang="hu-HU" dirty="0" smtClean="0"/>
              <a:t>ermik felemel (csoport munka könnyen széteshet),</a:t>
            </a:r>
          </a:p>
          <a:p>
            <a:pPr eaLnBrk="1" hangingPunct="1">
              <a:lnSpc>
                <a:spcPct val="150000"/>
              </a:lnSpc>
            </a:pPr>
            <a:r>
              <a:rPr lang="hu-HU" dirty="0" smtClean="0"/>
              <a:t>turbulencián, szélnyíráson átrepülés – fél kékkel, az ernyő kiürülésének megakadályozására</a:t>
            </a:r>
          </a:p>
          <a:p>
            <a:pPr eaLnBrk="1" hangingPunct="1">
              <a:lnSpc>
                <a:spcPct val="150000"/>
              </a:lnSpc>
            </a:pPr>
            <a:r>
              <a:rPr lang="hu-HU" dirty="0" smtClean="0"/>
              <a:t>termik – teljes siklás</a:t>
            </a:r>
          </a:p>
          <a:p>
            <a:pPr eaLnBrk="1" hangingPunct="1"/>
            <a:endParaRPr lang="hu-HU" dirty="0" smtClean="0"/>
          </a:p>
          <a:p>
            <a:pPr eaLnBrk="1" hangingPunct="1">
              <a:buFont typeface="Wingdings 2" pitchFamily="18" charset="2"/>
              <a:buNone/>
            </a:pPr>
            <a:endParaRPr lang="hu-HU" dirty="0" smtClean="0"/>
          </a:p>
          <a:p>
            <a:pPr eaLnBrk="1" hangingPunct="1"/>
            <a:endParaRPr lang="hu-H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sz="4000" dirty="0" smtClean="0"/>
              <a:t>7. </a:t>
            </a:r>
            <a:r>
              <a:rPr lang="hu-HU" sz="4000" dirty="0" err="1" smtClean="0"/>
              <a:t>Földetérési</a:t>
            </a:r>
            <a:r>
              <a:rPr lang="hu-HU" sz="4000" dirty="0" smtClean="0"/>
              <a:t> vészhelyzetek</a:t>
            </a:r>
          </a:p>
        </p:txBody>
      </p:sp>
      <p:sp>
        <p:nvSpPr>
          <p:cNvPr id="17411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err="1" smtClean="0"/>
              <a:t>Földetérés</a:t>
            </a:r>
            <a:r>
              <a:rPr lang="hu-HU" dirty="0" smtClean="0"/>
              <a:t> reptéren kívül: nyílt tereptárgyaktól mentes, lehetőleg barna terület.</a:t>
            </a:r>
          </a:p>
          <a:p>
            <a:pPr eaLnBrk="1" hangingPunct="1"/>
            <a:r>
              <a:rPr lang="hu-HU" dirty="0" smtClean="0"/>
              <a:t>fára, bokorra, - fejre vigyázni, gallyaktól óvni – átlendülni másik ágra, ha nem lehetséges és magasan vagyunk, RSL szalagot </a:t>
            </a:r>
            <a:r>
              <a:rPr lang="hu-HU" dirty="0" err="1" smtClean="0"/>
              <a:t>inaktiváljuk</a:t>
            </a:r>
            <a:r>
              <a:rPr lang="hu-HU" dirty="0" smtClean="0"/>
              <a:t>. Fölé lebegtetünk, beereszkedünk függőlegesen. NEM OLDUNK LE!</a:t>
            </a:r>
            <a:endParaRPr lang="hu-HU" dirty="0"/>
          </a:p>
          <a:p>
            <a:pPr eaLnBrk="1" hangingPunct="1"/>
            <a:r>
              <a:rPr lang="hu-HU" dirty="0" smtClean="0"/>
              <a:t>épületre: sátortető / lapos tető</a:t>
            </a:r>
            <a:r>
              <a:rPr lang="hu-HU" dirty="0"/>
              <a:t> </a:t>
            </a:r>
            <a:r>
              <a:rPr lang="hu-HU" dirty="0" smtClean="0"/>
              <a:t>– összeomlás előtt ellökjük magunkat vagy kibújunk a hevederekből és megkapaszkodunk a tetőn (RSL </a:t>
            </a:r>
            <a:r>
              <a:rPr lang="hu-HU" dirty="0" err="1" smtClean="0"/>
              <a:t>kikpacs</a:t>
            </a:r>
            <a:r>
              <a:rPr lang="hu-HU" dirty="0" smtClean="0"/>
              <a:t>.)</a:t>
            </a:r>
          </a:p>
          <a:p>
            <a:pPr eaLnBrk="1" hangingPunct="1"/>
            <a:r>
              <a:rPr lang="hu-HU" dirty="0"/>
              <a:t>é</a:t>
            </a:r>
            <a:r>
              <a:rPr lang="hu-HU" dirty="0" smtClean="0"/>
              <a:t>pület oldalának</a:t>
            </a:r>
            <a:r>
              <a:rPr lang="hu-HU" dirty="0"/>
              <a:t> </a:t>
            </a:r>
            <a:r>
              <a:rPr lang="hu-HU" dirty="0" smtClean="0"/>
              <a:t>– összeomlás előtt ellökni magunkat</a:t>
            </a:r>
          </a:p>
          <a:p>
            <a:pPr eaLnBrk="1" hangingPunct="1"/>
            <a:r>
              <a:rPr lang="hu-HU" dirty="0" smtClean="0"/>
              <a:t>vízre – már 200 méteren kilazítjuk a hevedereket, majd a vízbeesés pillanatában kibújunk belőlük</a:t>
            </a:r>
          </a:p>
          <a:p>
            <a:pPr eaLnBrk="1" hangingPunct="1"/>
            <a:r>
              <a:rPr lang="hu-HU" dirty="0" smtClean="0"/>
              <a:t>villanyvezetékre – ha elkerülhetetlen talppal ellökjük magunkat, ne zárjuk rövidre</a:t>
            </a:r>
          </a:p>
          <a:p>
            <a:pPr eaLnBrk="1" hangingPunct="1"/>
            <a:r>
              <a:rPr lang="hu-HU" dirty="0"/>
              <a:t>k</a:t>
            </a:r>
            <a:r>
              <a:rPr lang="hu-HU" dirty="0" smtClean="0"/>
              <a:t>arók közé (szőlő) – lábakat mellkashoz, kézzel a fejet védve, lábak x-ben, feszesen nyújtva, inkább „tarolva”, mint ráereszkedve, vízszintes repüléssel</a:t>
            </a:r>
          </a:p>
          <a:p>
            <a:pPr eaLnBrk="1" hangingPunct="1"/>
            <a:endParaRPr lang="hu-H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sz="4000" dirty="0" smtClean="0"/>
              <a:t>8. Éjszakai ugrás vészhelyzetei</a:t>
            </a:r>
          </a:p>
        </p:txBody>
      </p:sp>
      <p:sp>
        <p:nvSpPr>
          <p:cNvPr id="18435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hu-HU" dirty="0"/>
              <a:t>z</a:t>
            </a:r>
            <a:r>
              <a:rPr lang="hu-HU" dirty="0" smtClean="0"/>
              <a:t>uhanás közbeni vészhelyzetek (összeütközés, lámpák-fényforrások elhelyezése  az ugró felszerelésén és testén),</a:t>
            </a:r>
          </a:p>
          <a:p>
            <a:pPr eaLnBrk="1" hangingPunct="1"/>
            <a:r>
              <a:rPr lang="hu-HU" dirty="0"/>
              <a:t>e</a:t>
            </a:r>
            <a:r>
              <a:rPr lang="hu-HU" dirty="0" smtClean="0"/>
              <a:t>reszkedés közbeni vészhelyzetek (összeütközés),</a:t>
            </a:r>
          </a:p>
          <a:p>
            <a:pPr algn="just" eaLnBrk="1" hangingPunct="1"/>
            <a:r>
              <a:rPr lang="hu-HU" dirty="0"/>
              <a:t>f</a:t>
            </a:r>
            <a:r>
              <a:rPr lang="hu-HU" dirty="0" smtClean="0"/>
              <a:t>öldet érési vészhelyzetek.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Vészhelyzeti </a:t>
            </a:r>
            <a:r>
              <a:rPr lang="hu-HU" dirty="0" smtClean="0"/>
              <a:t>videók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u="sng" dirty="0" smtClean="0">
                <a:hlinkClick r:id="rId2"/>
              </a:rPr>
              <a:t>https</a:t>
            </a:r>
            <a:r>
              <a:rPr lang="hu-HU" b="1" u="sng" dirty="0">
                <a:hlinkClick r:id="rId2"/>
              </a:rPr>
              <a:t>://youtu.be/Qv8pbyMGEMM</a:t>
            </a:r>
            <a:r>
              <a:rPr lang="hu-HU" dirty="0"/>
              <a:t> </a:t>
            </a:r>
            <a:endParaRPr lang="hu-HU" dirty="0" smtClean="0"/>
          </a:p>
          <a:p>
            <a:r>
              <a:rPr lang="hu-HU" b="1" u="sng" dirty="0" smtClean="0">
                <a:hlinkClick r:id="rId3"/>
              </a:rPr>
              <a:t>https</a:t>
            </a:r>
            <a:r>
              <a:rPr lang="hu-HU" b="1" u="sng" dirty="0">
                <a:hlinkClick r:id="rId3"/>
              </a:rPr>
              <a:t>://youtu.be/u6u8pEs2570</a:t>
            </a:r>
            <a:r>
              <a:rPr lang="hu-HU" dirty="0"/>
              <a:t> </a:t>
            </a:r>
            <a:endParaRPr lang="hu-HU" dirty="0" smtClean="0"/>
          </a:p>
          <a:p>
            <a:r>
              <a:rPr lang="hu-HU" b="1" u="sng" dirty="0" smtClean="0">
                <a:hlinkClick r:id="rId4"/>
              </a:rPr>
              <a:t>https</a:t>
            </a:r>
            <a:r>
              <a:rPr lang="hu-HU" b="1" u="sng" dirty="0">
                <a:hlinkClick r:id="rId4"/>
              </a:rPr>
              <a:t>://</a:t>
            </a:r>
            <a:r>
              <a:rPr lang="hu-HU" b="1" u="sng" dirty="0" smtClean="0">
                <a:hlinkClick r:id="rId4"/>
              </a:rPr>
              <a:t>youtu.be/j7DoJQgf9tE</a:t>
            </a:r>
            <a:endParaRPr lang="hu-HU" b="1" u="sng" dirty="0" smtClean="0"/>
          </a:p>
          <a:p>
            <a:r>
              <a:rPr lang="hu-HU" smtClean="0"/>
              <a:t> </a:t>
            </a:r>
            <a:r>
              <a:rPr lang="hu-HU" b="1" u="sng" dirty="0">
                <a:hlinkClick r:id="rId5"/>
              </a:rPr>
              <a:t>https://youtu.be/vRnL7LMoLio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71643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artalom helye 2"/>
          <p:cNvSpPr>
            <a:spLocks noGrp="1"/>
          </p:cNvSpPr>
          <p:nvPr>
            <p:ph idx="1"/>
          </p:nvPr>
        </p:nvSpPr>
        <p:spPr>
          <a:xfrm>
            <a:off x="1403648" y="1052736"/>
            <a:ext cx="6480720" cy="919598"/>
          </a:xfrm>
          <a:solidFill>
            <a:schemeClr val="tx1">
              <a:alpha val="18000"/>
            </a:schemeClr>
          </a:solidFill>
        </p:spPr>
        <p:txBody>
          <a:bodyPr>
            <a:normAutofit fontScale="92500"/>
          </a:bodyPr>
          <a:lstStyle/>
          <a:p>
            <a:pPr algn="ctr" eaLnBrk="1" hangingPunct="1">
              <a:buFont typeface="Wingdings 2" pitchFamily="18" charset="2"/>
              <a:buNone/>
            </a:pPr>
            <a:r>
              <a:rPr lang="hu-HU" sz="5400" dirty="0" smtClean="0">
                <a:solidFill>
                  <a:schemeClr val="bg1"/>
                </a:solidFill>
              </a:rPr>
              <a:t>Köszönöm a figyelmet!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</TotalTime>
  <Words>774</Words>
  <Application>Microsoft Office PowerPoint</Application>
  <PresentationFormat>Diavetítés a képernyőre (4:3 oldalarány)</PresentationFormat>
  <Paragraphs>121</Paragraphs>
  <Slides>19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0" baseType="lpstr">
      <vt:lpstr>Office-téma</vt:lpstr>
      <vt:lpstr>EJTŐERNYŐS VÉSZHELYZETEK</vt:lpstr>
      <vt:lpstr>A vészhelyzetek felosztása</vt:lpstr>
      <vt:lpstr>1. Légi jármű megközelítése</vt:lpstr>
      <vt:lpstr>1. Légi jármű megközelítése</vt:lpstr>
      <vt:lpstr>PowerPoint bemutató</vt:lpstr>
      <vt:lpstr>PowerPoint bemutató</vt:lpstr>
      <vt:lpstr>PowerPoint bemutató</vt:lpstr>
      <vt:lpstr>Gyors és Lassú vészhelyzetek megoldásának különbsége</vt:lpstr>
      <vt:lpstr>3. Nagy sebességű nyílási rendellenességek</vt:lpstr>
      <vt:lpstr>3. Nagy sebességű nyílási rendellenességek</vt:lpstr>
      <vt:lpstr>4. Kis sebességű nyílási rendellenességek</vt:lpstr>
      <vt:lpstr>Kettős nyílás</vt:lpstr>
      <vt:lpstr>Leoldás végrehajtása:</vt:lpstr>
      <vt:lpstr>5. Ereszkedés közbeni vészhelyzetek</vt:lpstr>
      <vt:lpstr>6. Váratlan meteorológiai körülmények</vt:lpstr>
      <vt:lpstr>7. Földetérési vészhelyzetek</vt:lpstr>
      <vt:lpstr>8. Éjszakai ugrás vészhelyzetei</vt:lpstr>
      <vt:lpstr>Vészhelyzeti videók</vt:lpstr>
      <vt:lpstr>PowerPoint bemutató</vt:lpstr>
    </vt:vector>
  </TitlesOfParts>
  <Company>saját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EJTŐERNYŐS VÉSZHELYZETEK</dc:title>
  <dc:creator>Gabesz</dc:creator>
  <cp:lastModifiedBy>Kata</cp:lastModifiedBy>
  <cp:revision>47</cp:revision>
  <dcterms:created xsi:type="dcterms:W3CDTF">2011-01-09T13:06:32Z</dcterms:created>
  <dcterms:modified xsi:type="dcterms:W3CDTF">2025-09-09T02:41:20Z</dcterms:modified>
</cp:coreProperties>
</file>