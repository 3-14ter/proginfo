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379" r:id="rId10"/>
    <p:sldId id="267" r:id="rId11"/>
    <p:sldId id="428" r:id="rId12"/>
    <p:sldId id="268" r:id="rId13"/>
    <p:sldId id="269" r:id="rId14"/>
    <p:sldId id="272" r:id="rId15"/>
    <p:sldId id="273" r:id="rId16"/>
    <p:sldId id="274" r:id="rId17"/>
    <p:sldId id="275" r:id="rId18"/>
    <p:sldId id="276" r:id="rId19"/>
    <p:sldId id="278" r:id="rId20"/>
    <p:sldId id="380" r:id="rId21"/>
    <p:sldId id="279" r:id="rId22"/>
    <p:sldId id="280" r:id="rId23"/>
    <p:sldId id="281" r:id="rId24"/>
    <p:sldId id="381" r:id="rId25"/>
    <p:sldId id="282" r:id="rId26"/>
    <p:sldId id="423" r:id="rId27"/>
    <p:sldId id="385" r:id="rId28"/>
    <p:sldId id="283" r:id="rId29"/>
    <p:sldId id="382" r:id="rId30"/>
    <p:sldId id="386" r:id="rId31"/>
    <p:sldId id="387" r:id="rId32"/>
    <p:sldId id="429" r:id="rId33"/>
    <p:sldId id="284" r:id="rId34"/>
    <p:sldId id="304" r:id="rId35"/>
    <p:sldId id="306" r:id="rId36"/>
    <p:sldId id="307" r:id="rId37"/>
    <p:sldId id="293" r:id="rId38"/>
    <p:sldId id="392" r:id="rId39"/>
    <p:sldId id="389" r:id="rId40"/>
    <p:sldId id="390" r:id="rId41"/>
    <p:sldId id="430" r:id="rId42"/>
    <p:sldId id="391" r:id="rId43"/>
    <p:sldId id="427" r:id="rId44"/>
  </p:sldIdLst>
  <p:sldSz cx="9144000" cy="6858000" type="screen4x3"/>
  <p:notesSz cx="6858000" cy="9144000"/>
  <p:defaultTextStyle>
    <a:defPPr>
      <a:defRPr lang="hu-H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5F5F5F"/>
    <a:srgbClr val="66FF66"/>
    <a:srgbClr val="33CC33"/>
    <a:srgbClr val="66FFFF"/>
    <a:srgbClr val="C0C0C0"/>
    <a:srgbClr val="FFFF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86" autoAdjust="0"/>
    <p:restoredTop sz="92599" autoAdjust="0"/>
  </p:normalViewPr>
  <p:slideViewPr>
    <p:cSldViewPr>
      <p:cViewPr>
        <p:scale>
          <a:sx n="70" d="100"/>
          <a:sy n="70" d="100"/>
        </p:scale>
        <p:origin x="-1982" y="-4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u-HU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hu-HU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u-HU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734CC06-F8CE-47BA-B788-BCC82C2888B1}" type="slidenum">
              <a:rPr lang="hu-HU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32459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iakép hely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Jegyzetek hely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 smtClean="0"/>
          </a:p>
        </p:txBody>
      </p:sp>
      <p:sp>
        <p:nvSpPr>
          <p:cNvPr id="29700" name="Dia számának hely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CAABB33-CD73-46AC-98D7-6715BE6E4DA4}" type="slidenum">
              <a:rPr lang="hu-HU" altLang="hu-HU" smtClean="0"/>
              <a:pPr/>
              <a:t>26</a:t>
            </a:fld>
            <a:endParaRPr lang="hu-HU" altLang="hu-H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iakép hely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Jegyzetek hely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 smtClean="0"/>
          </a:p>
        </p:txBody>
      </p:sp>
      <p:sp>
        <p:nvSpPr>
          <p:cNvPr id="29700" name="Dia számának hely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CAABB33-CD73-46AC-98D7-6715BE6E4DA4}" type="slidenum">
              <a:rPr lang="hu-HU" altLang="hu-HU" smtClean="0"/>
              <a:pPr/>
              <a:t>27</a:t>
            </a:fld>
            <a:endParaRPr lang="hu-HU" altLang="hu-HU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iakép hely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Jegyzetek hely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 smtClean="0"/>
          </a:p>
        </p:txBody>
      </p:sp>
      <p:sp>
        <p:nvSpPr>
          <p:cNvPr id="32772" name="Dia számának hely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7282CFF-4B64-40C7-A34B-7338789A93D9}" type="slidenum">
              <a:rPr lang="hu-HU" altLang="hu-HU" smtClean="0"/>
              <a:pPr/>
              <a:t>30</a:t>
            </a:fld>
            <a:endParaRPr lang="hu-HU" altLang="hu-HU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iakép hely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Jegyzetek hely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 smtClean="0"/>
          </a:p>
        </p:txBody>
      </p:sp>
      <p:sp>
        <p:nvSpPr>
          <p:cNvPr id="33796" name="Dia számának hely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23392C7-6B67-44B0-A1AB-DEDE67AA5E9A}" type="slidenum">
              <a:rPr lang="hu-HU" altLang="hu-HU" smtClean="0"/>
              <a:pPr/>
              <a:t>31</a:t>
            </a:fld>
            <a:endParaRPr lang="hu-HU" altLang="hu-HU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B8B64B-A617-4176-9BC5-D3202FD4BA90}" type="slidenum">
              <a:rPr lang="hu-HU"/>
              <a:pPr/>
              <a:t>34</a:t>
            </a:fld>
            <a:endParaRPr lang="hu-HU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hu-HU"/>
              <a:t>Szélnyírás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4C4FCD-21E4-44E7-9085-25AB49BC0350}" type="slidenum">
              <a:rPr lang="hu-HU"/>
              <a:pPr/>
              <a:t>35</a:t>
            </a:fld>
            <a:endParaRPr lang="hu-HU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hu-HU"/>
              <a:t>Szélnyírás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1907A4-F586-4535-A539-8836F816AD9B}" type="slidenum">
              <a:rPr lang="hu-HU"/>
              <a:pPr/>
              <a:t>36</a:t>
            </a:fld>
            <a:endParaRPr lang="hu-HU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hu-HU"/>
              <a:t>Szélnyírás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D0D294-873F-4B93-B374-17343FED091B}" type="slidenum">
              <a:rPr lang="hu-HU"/>
              <a:pPr/>
              <a:t>37</a:t>
            </a:fld>
            <a:endParaRPr lang="hu-HU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hu-HU"/>
              <a:t>Szélnyírás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Diakép hely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Jegyzetek hely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 smtClean="0"/>
          </a:p>
        </p:txBody>
      </p:sp>
      <p:sp>
        <p:nvSpPr>
          <p:cNvPr id="35844" name="Dia számának hely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3965EDE-13C2-42C1-9DDD-1B7BB5A87CD8}" type="slidenum">
              <a:rPr lang="hu-HU" altLang="hu-HU" smtClean="0"/>
              <a:pPr/>
              <a:t>39</a:t>
            </a:fld>
            <a:endParaRPr lang="hu-HU" altLang="hu-HU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Diakép hely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Jegyzetek hely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 smtClean="0"/>
          </a:p>
        </p:txBody>
      </p:sp>
      <p:sp>
        <p:nvSpPr>
          <p:cNvPr id="36868" name="Dia számának hely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3A64935-6B88-457F-891D-AD2BDE39D652}" type="slidenum">
              <a:rPr lang="hu-HU" altLang="hu-HU" smtClean="0"/>
              <a:pPr/>
              <a:t>40</a:t>
            </a:fld>
            <a:endParaRPr lang="hu-HU" altLang="hu-HU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Diakép hely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Jegyzetek hely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 smtClean="0"/>
          </a:p>
        </p:txBody>
      </p:sp>
      <p:sp>
        <p:nvSpPr>
          <p:cNvPr id="37892" name="Dia számának hely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51CC46D-8245-450C-B00F-F83487746830}" type="slidenum">
              <a:rPr lang="hu-HU" altLang="hu-HU" smtClean="0"/>
              <a:pPr/>
              <a:t>42</a:t>
            </a:fld>
            <a:endParaRPr lang="hu-HU" altLang="hu-H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DF25F7-6DB8-4816-BFDB-0706DB837C86}" type="slidenum">
              <a:rPr lang="hu-HU"/>
              <a:pPr/>
              <a:t>‹#›</a:t>
            </a:fld>
            <a:endParaRPr lang="hu-HU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406FE6-8B81-46E9-B5F5-B8B8C9B149AB}" type="slidenum">
              <a:rPr lang="hu-HU"/>
              <a:pPr/>
              <a:t>‹#›</a:t>
            </a:fld>
            <a:endParaRPr lang="hu-HU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6D4AC6-070C-4921-907F-B910B7AEF918}" type="slidenum">
              <a:rPr lang="hu-HU"/>
              <a:pPr/>
              <a:t>‹#›</a:t>
            </a:fld>
            <a:endParaRPr lang="hu-HU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31EEAD-9895-4CA7-A302-EBD0CEA3B68E}" type="slidenum">
              <a:rPr lang="hu-HU"/>
              <a:pPr/>
              <a:t>‹#›</a:t>
            </a:fld>
            <a:endParaRPr lang="hu-HU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BCFFB-276F-4ED7-BB26-4F0C7A192405}" type="slidenum">
              <a:rPr lang="hu-HU"/>
              <a:pPr/>
              <a:t>‹#›</a:t>
            </a:fld>
            <a:endParaRPr lang="hu-HU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18367D-4AA8-4E3B-8456-26379B60515D}" type="slidenum">
              <a:rPr lang="hu-HU"/>
              <a:pPr/>
              <a:t>‹#›</a:t>
            </a:fld>
            <a:endParaRPr lang="hu-HU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2FFA0B-D327-4320-A545-050E2909FBE3}" type="slidenum">
              <a:rPr lang="hu-HU"/>
              <a:pPr/>
              <a:t>‹#›</a:t>
            </a:fld>
            <a:endParaRPr lang="hu-HU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214C7-35E5-4CB5-BF55-ABD02C69DDB1}" type="slidenum">
              <a:rPr lang="hu-HU"/>
              <a:pPr/>
              <a:t>‹#›</a:t>
            </a:fld>
            <a:endParaRPr lang="hu-HU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1CF453-04E0-422C-949C-66B277C83B4D}" type="slidenum">
              <a:rPr lang="hu-HU"/>
              <a:pPr/>
              <a:t>‹#›</a:t>
            </a:fld>
            <a:endParaRPr lang="hu-HU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538F0-FB4E-4FDD-96F6-BF3B3143CCB3}" type="slidenum">
              <a:rPr lang="hu-HU"/>
              <a:pPr/>
              <a:t>‹#›</a:t>
            </a:fld>
            <a:endParaRPr lang="hu-HU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0C6E66-01A4-4263-9E3F-52BCB72ED091}" type="slidenum">
              <a:rPr lang="hu-HU"/>
              <a:pPr/>
              <a:t>‹#›</a:t>
            </a:fld>
            <a:endParaRPr lang="hu-HU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u-HU" smtClean="0"/>
              <a:t>Mintacím szerkesztése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hu-H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hu-H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3D9640-58B2-41D2-B1A8-A98D94656F2D}" type="slidenum">
              <a:rPr lang="hu-HU"/>
              <a:pPr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http://gata.uw.hu/doksik/meteorologiaialapismeretek_elemei/met6a.gif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http://gata.uw.hu/doksik/meteorologiaialapismeretek_elemei/met6b.gif" TargetMode="Externa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0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611560" y="4887549"/>
            <a:ext cx="6589613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hu-HU" sz="10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Brush Script MT" pitchFamily="66" charset="0"/>
              </a:rPr>
              <a:t>Meteorológia </a:t>
            </a:r>
            <a:r>
              <a:rPr lang="hu-HU" sz="7200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Adobe Arabic" pitchFamily="18" charset="-78"/>
              </a:rPr>
              <a:t>I</a:t>
            </a:r>
            <a:endParaRPr lang="hu-HU" sz="7200" i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cs typeface="Adobe Arabic" pitchFamily="18" charset="-78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0" y="6519446"/>
            <a:ext cx="9144000" cy="338554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hu-HU" sz="1600" dirty="0" smtClean="0">
                <a:solidFill>
                  <a:schemeClr val="bg1">
                    <a:lumMod val="95000"/>
                  </a:schemeClr>
                </a:solidFill>
              </a:rPr>
              <a:t>Ajánlott irodalom: 	               Sándor Valéria, </a:t>
            </a:r>
            <a:r>
              <a:rPr lang="hu-HU" sz="1600" dirty="0" err="1" smtClean="0">
                <a:solidFill>
                  <a:schemeClr val="bg1">
                    <a:lumMod val="95000"/>
                  </a:schemeClr>
                </a:solidFill>
              </a:rPr>
              <a:t>Wantuch</a:t>
            </a:r>
            <a:r>
              <a:rPr lang="hu-HU" sz="1600" dirty="0" smtClean="0">
                <a:solidFill>
                  <a:schemeClr val="bg1">
                    <a:lumMod val="95000"/>
                  </a:schemeClr>
                </a:solidFill>
              </a:rPr>
              <a:t> Ferenc: Repülésmeteorológia, OMSZ, 2005</a:t>
            </a:r>
            <a:endParaRPr lang="hu-HU" sz="1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 smtClean="0">
                <a:solidFill>
                  <a:schemeClr val="tx2"/>
                </a:solidFill>
                <a:latin typeface="Times New Roman" pitchFamily="18" charset="0"/>
              </a:rPr>
              <a:t>Bevezetés</a:t>
            </a:r>
            <a:endParaRPr lang="hu-HU" sz="4000" b="1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0" y="1196975"/>
            <a:ext cx="9144000" cy="5093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/>
            <a:r>
              <a:rPr lang="hu-HU" sz="2500" b="1" dirty="0">
                <a:latin typeface="Times New Roman" pitchFamily="18" charset="0"/>
              </a:rPr>
              <a:t>A meteorológia szó görög eredetű, </a:t>
            </a:r>
            <a:r>
              <a:rPr lang="hu-HU" sz="2500" b="1" i="1" dirty="0">
                <a:latin typeface="Times New Roman" pitchFamily="18" charset="0"/>
              </a:rPr>
              <a:t>a </a:t>
            </a:r>
            <a:r>
              <a:rPr lang="hu-HU" sz="2500" b="1" i="1" dirty="0" err="1">
                <a:latin typeface="Times New Roman" pitchFamily="18" charset="0"/>
              </a:rPr>
              <a:t>meteora</a:t>
            </a:r>
            <a:r>
              <a:rPr lang="hu-HU" sz="2500" b="1" i="1" dirty="0">
                <a:latin typeface="Times New Roman" pitchFamily="18" charset="0"/>
              </a:rPr>
              <a:t> és a </a:t>
            </a:r>
            <a:r>
              <a:rPr lang="hu-HU" sz="2500" b="1" i="1" dirty="0" err="1">
                <a:latin typeface="Times New Roman" pitchFamily="18" charset="0"/>
              </a:rPr>
              <a:t>logos</a:t>
            </a:r>
            <a:r>
              <a:rPr lang="hu-HU" sz="2500" b="1" dirty="0">
                <a:latin typeface="Times New Roman" pitchFamily="18" charset="0"/>
              </a:rPr>
              <a:t> </a:t>
            </a:r>
            <a:r>
              <a:rPr lang="hu-HU" sz="2500" b="1" dirty="0" smtClean="0">
                <a:latin typeface="Times New Roman" pitchFamily="18" charset="0"/>
              </a:rPr>
              <a:t>szavak</a:t>
            </a:r>
          </a:p>
          <a:p>
            <a:pPr marL="342900" indent="-342900"/>
            <a:r>
              <a:rPr lang="hu-HU" sz="2500" b="1" dirty="0" smtClean="0">
                <a:latin typeface="Times New Roman" pitchFamily="18" charset="0"/>
              </a:rPr>
              <a:t>összetételéből </a:t>
            </a:r>
            <a:r>
              <a:rPr lang="hu-HU" sz="2500" b="1" dirty="0">
                <a:latin typeface="Times New Roman" pitchFamily="18" charset="0"/>
              </a:rPr>
              <a:t>keletkezett, jelentése az ég és föld között </a:t>
            </a:r>
            <a:r>
              <a:rPr lang="hu-HU" sz="2500" b="1" dirty="0" smtClean="0">
                <a:latin typeface="Times New Roman" pitchFamily="18" charset="0"/>
              </a:rPr>
              <a:t>lejátszódó</a:t>
            </a:r>
          </a:p>
          <a:p>
            <a:pPr marL="342900" indent="-342900"/>
            <a:r>
              <a:rPr lang="hu-HU" sz="2500" b="1" dirty="0" smtClean="0">
                <a:latin typeface="Times New Roman" pitchFamily="18" charset="0"/>
              </a:rPr>
              <a:t>jelenségek </a:t>
            </a:r>
            <a:r>
              <a:rPr lang="hu-HU" sz="2500" b="1" dirty="0">
                <a:latin typeface="Times New Roman" pitchFamily="18" charset="0"/>
              </a:rPr>
              <a:t>tudománya.</a:t>
            </a:r>
          </a:p>
          <a:p>
            <a:pPr marL="342900" indent="-342900"/>
            <a:r>
              <a:rPr lang="hu-HU" sz="2500" b="1" dirty="0">
                <a:latin typeface="Times New Roman" pitchFamily="18" charset="0"/>
              </a:rPr>
              <a:t>Nem pusztán az időjárás előrejelzéssel foglalkozik, hiszen </a:t>
            </a:r>
            <a:r>
              <a:rPr lang="hu-HU" sz="2500" b="1" dirty="0" smtClean="0">
                <a:latin typeface="Times New Roman" pitchFamily="18" charset="0"/>
              </a:rPr>
              <a:t>a</a:t>
            </a:r>
          </a:p>
          <a:p>
            <a:pPr marL="342900" indent="-342900"/>
            <a:r>
              <a:rPr lang="hu-HU" sz="2500" b="1" dirty="0" smtClean="0">
                <a:latin typeface="Times New Roman" pitchFamily="18" charset="0"/>
              </a:rPr>
              <a:t>meteorológián </a:t>
            </a:r>
            <a:r>
              <a:rPr lang="hu-HU" sz="2500" b="1" dirty="0">
                <a:latin typeface="Times New Roman" pitchFamily="18" charset="0"/>
              </a:rPr>
              <a:t>belül több szakterület alakult ki, többek </a:t>
            </a:r>
            <a:r>
              <a:rPr lang="hu-HU" sz="2500" b="1" dirty="0" smtClean="0">
                <a:latin typeface="Times New Roman" pitchFamily="18" charset="0"/>
              </a:rPr>
              <a:t>között: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500" b="1" dirty="0" smtClean="0">
                <a:latin typeface="Times New Roman" pitchFamily="18" charset="0"/>
              </a:rPr>
              <a:t>éghajlattan </a:t>
            </a:r>
            <a:r>
              <a:rPr lang="hu-HU" sz="2500" b="1" dirty="0">
                <a:latin typeface="Times New Roman" pitchFamily="18" charset="0"/>
              </a:rPr>
              <a:t>(klimatológia), </a:t>
            </a:r>
            <a:endParaRPr lang="hu-HU" sz="2500" b="1" dirty="0" smtClean="0">
              <a:latin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500" b="1" i="1" dirty="0" smtClean="0">
                <a:latin typeface="Times New Roman" pitchFamily="18" charset="0"/>
              </a:rPr>
              <a:t>repülésmeteorológia</a:t>
            </a:r>
            <a:r>
              <a:rPr lang="hu-HU" sz="2500" b="1" dirty="0">
                <a:latin typeface="Times New Roman" pitchFamily="18" charset="0"/>
              </a:rPr>
              <a:t>, </a:t>
            </a:r>
            <a:endParaRPr lang="hu-HU" sz="2500" b="1" dirty="0" smtClean="0">
              <a:latin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500" b="1" dirty="0" smtClean="0">
                <a:latin typeface="Times New Roman" pitchFamily="18" charset="0"/>
              </a:rPr>
              <a:t>biometeorológia</a:t>
            </a:r>
            <a:r>
              <a:rPr lang="hu-HU" sz="2500" b="1" dirty="0">
                <a:latin typeface="Times New Roman" pitchFamily="18" charset="0"/>
              </a:rPr>
              <a:t>, </a:t>
            </a:r>
            <a:endParaRPr lang="hu-HU" sz="2500" b="1" dirty="0" smtClean="0">
              <a:latin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500" b="1" dirty="0" smtClean="0">
                <a:latin typeface="Times New Roman" pitchFamily="18" charset="0"/>
              </a:rPr>
              <a:t>agrometeorológia</a:t>
            </a:r>
            <a:r>
              <a:rPr lang="hu-HU" sz="2500" b="1" dirty="0">
                <a:latin typeface="Times New Roman" pitchFamily="18" charset="0"/>
              </a:rPr>
              <a:t>, </a:t>
            </a:r>
            <a:endParaRPr lang="hu-HU" sz="2500" b="1" dirty="0" smtClean="0">
              <a:latin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500" b="1" dirty="0" smtClean="0">
                <a:latin typeface="Times New Roman" pitchFamily="18" charset="0"/>
              </a:rPr>
              <a:t>időjárás előrejelzés</a:t>
            </a:r>
            <a:r>
              <a:rPr lang="hu-HU" sz="2500" b="1" dirty="0">
                <a:latin typeface="Times New Roman" pitchFamily="18" charset="0"/>
              </a:rPr>
              <a:t>, </a:t>
            </a:r>
            <a:endParaRPr lang="hu-HU" sz="2500" b="1" dirty="0" smtClean="0">
              <a:latin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500" b="1" dirty="0" smtClean="0">
                <a:latin typeface="Times New Roman" pitchFamily="18" charset="0"/>
              </a:rPr>
              <a:t>levegőkémia</a:t>
            </a:r>
            <a:r>
              <a:rPr lang="hu-HU" sz="2500" b="1" dirty="0">
                <a:latin typeface="Times New Roman" pitchFamily="18" charset="0"/>
              </a:rPr>
              <a:t>.</a:t>
            </a:r>
          </a:p>
          <a:p>
            <a:pPr marL="342900" indent="-342900"/>
            <a:endParaRPr lang="hu-HU" sz="2500" b="1" dirty="0">
              <a:latin typeface="Times New Roman" pitchFamily="18" charset="0"/>
            </a:endParaRPr>
          </a:p>
          <a:p>
            <a:pPr marL="342900" indent="-342900"/>
            <a:endParaRPr lang="hu-HU" sz="2500" b="1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0" y="1268413"/>
            <a:ext cx="9144000" cy="485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hu-HU" sz="2600" b="1" i="1">
                <a:latin typeface="Times New Roman" pitchFamily="18" charset="0"/>
              </a:rPr>
              <a:t>Az időjárás fogalmára</a:t>
            </a:r>
            <a:r>
              <a:rPr lang="hu-HU" sz="2600" b="1">
                <a:latin typeface="Times New Roman" pitchFamily="18" charset="0"/>
              </a:rPr>
              <a:t> természetesen számtalan meghatározás született már, ezek közül kettő: </a:t>
            </a:r>
          </a:p>
          <a:p>
            <a:endParaRPr lang="hu-HU" sz="2600" b="1">
              <a:latin typeface="Times New Roman" pitchFamily="18" charset="0"/>
            </a:endParaRPr>
          </a:p>
          <a:p>
            <a:r>
              <a:rPr lang="hu-HU" sz="2600" b="1">
                <a:latin typeface="Times New Roman" pitchFamily="18" charset="0"/>
              </a:rPr>
              <a:t>1; Az időjárás egy adott helyen, rövidebb időszak alatt a környezettel állandó kölcsönhatásban levő levegő egymáshoz kapcsolódó tulajdonságainak és folyamatainak rendszere. </a:t>
            </a:r>
          </a:p>
          <a:p>
            <a:endParaRPr lang="hu-HU" sz="2600" b="1">
              <a:latin typeface="Times New Roman" pitchFamily="18" charset="0"/>
            </a:endParaRPr>
          </a:p>
          <a:p>
            <a:r>
              <a:rPr lang="hu-HU" sz="2600" b="1">
                <a:latin typeface="Times New Roman" pitchFamily="18" charset="0"/>
              </a:rPr>
              <a:t>2; Valamely földrajzi ponton illetve belátható környezetében egyidejűleg észlelhető és mérhető bizonyos tényezők (felhőzet, csapadék, szél, hőmérséklet, légnyomás, látástávolság, stb.) összessége és időbeli változása. </a:t>
            </a:r>
            <a:br>
              <a:rPr lang="hu-HU" sz="2600" b="1">
                <a:latin typeface="Times New Roman" pitchFamily="18" charset="0"/>
              </a:rPr>
            </a:br>
            <a:endParaRPr lang="hu-HU" sz="2600" b="1">
              <a:latin typeface="Times New Roman" pitchFamily="18" charset="0"/>
            </a:endParaRP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 smtClean="0">
                <a:solidFill>
                  <a:schemeClr val="tx2"/>
                </a:solidFill>
                <a:latin typeface="Times New Roman" pitchFamily="18" charset="0"/>
              </a:rPr>
              <a:t>Bevezetés</a:t>
            </a:r>
            <a:endParaRPr lang="hu-HU" sz="4000" b="1" dirty="0">
              <a:solidFill>
                <a:schemeClr val="tx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250825" y="625525"/>
            <a:ext cx="8785671" cy="623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hu-HU" sz="2100" b="1" dirty="0">
                <a:latin typeface="Times New Roman" pitchFamily="18" charset="0"/>
              </a:rPr>
              <a:t>A Föld (nagyon röviden):</a:t>
            </a:r>
          </a:p>
          <a:p>
            <a:r>
              <a:rPr lang="hu-HU" sz="2100" b="1" dirty="0">
                <a:latin typeface="Times New Roman" pitchFamily="18" charset="0"/>
              </a:rPr>
              <a:t>	- sugara a középponttól a felszínig </a:t>
            </a:r>
            <a:r>
              <a:rPr lang="hu-HU" sz="2100" b="1" dirty="0" smtClean="0">
                <a:latin typeface="Times New Roman" pitchFamily="18" charset="0"/>
              </a:rPr>
              <a:t>átlagosan </a:t>
            </a:r>
            <a:r>
              <a:rPr lang="hu-HU" sz="2100" b="1" dirty="0">
                <a:latin typeface="Times New Roman" pitchFamily="18" charset="0"/>
              </a:rPr>
              <a:t>6370 km</a:t>
            </a:r>
          </a:p>
          <a:p>
            <a:r>
              <a:rPr lang="hu-HU" sz="2100" b="1" dirty="0">
                <a:latin typeface="Times New Roman" pitchFamily="18" charset="0"/>
              </a:rPr>
              <a:t>	- e fölött helyezkedik el az ehhez képest vékony légkör</a:t>
            </a:r>
          </a:p>
          <a:p>
            <a:endParaRPr lang="hu-HU" sz="2100" b="1" dirty="0">
              <a:latin typeface="Times New Roman" pitchFamily="18" charset="0"/>
            </a:endParaRPr>
          </a:p>
          <a:p>
            <a:r>
              <a:rPr lang="hu-HU" sz="2100" b="1" dirty="0">
                <a:latin typeface="Times New Roman" pitchFamily="18" charset="0"/>
              </a:rPr>
              <a:t>A légkör</a:t>
            </a:r>
            <a:r>
              <a:rPr lang="hu-HU" sz="2100" b="1" dirty="0" smtClean="0">
                <a:latin typeface="Times New Roman" pitchFamily="18" charset="0"/>
              </a:rPr>
              <a:t>:</a:t>
            </a:r>
          </a:p>
          <a:p>
            <a:r>
              <a:rPr lang="hu-HU" sz="2100" b="1" dirty="0">
                <a:latin typeface="Times New Roman" pitchFamily="18" charset="0"/>
              </a:rPr>
              <a:t>	</a:t>
            </a:r>
            <a:r>
              <a:rPr lang="hu-HU" sz="2100" b="1" dirty="0" smtClean="0">
                <a:latin typeface="Times New Roman" pitchFamily="18" charset="0"/>
              </a:rPr>
              <a:t>- „a Naprendszer bolygójának szilárd tömegéhez kapcsolódó 		gázburok” </a:t>
            </a:r>
            <a:r>
              <a:rPr lang="hu-HU" sz="2000" b="1" i="1" dirty="0" smtClean="0">
                <a:latin typeface="Times New Roman" pitchFamily="18" charset="0"/>
              </a:rPr>
              <a:t>(Makra László, SZTE)</a:t>
            </a:r>
            <a:endParaRPr lang="hu-HU" sz="2000" b="1" i="1" dirty="0">
              <a:latin typeface="Times New Roman" pitchFamily="18" charset="0"/>
            </a:endParaRPr>
          </a:p>
          <a:p>
            <a:r>
              <a:rPr lang="hu-HU" sz="2100" b="1" dirty="0">
                <a:latin typeface="Times New Roman" pitchFamily="18" charset="0"/>
              </a:rPr>
              <a:t>	- a légkör felfelé ritkulva megy át a bolygóközi térbe</a:t>
            </a:r>
          </a:p>
          <a:p>
            <a:r>
              <a:rPr lang="hu-HU" sz="2100" b="1" dirty="0">
                <a:latin typeface="Times New Roman" pitchFamily="18" charset="0"/>
              </a:rPr>
              <a:t>	- külső határát nehéz meghatározni, kb. 1000 km</a:t>
            </a:r>
          </a:p>
          <a:p>
            <a:r>
              <a:rPr lang="hu-HU" sz="2100" b="1" dirty="0">
                <a:latin typeface="Times New Roman" pitchFamily="18" charset="0"/>
              </a:rPr>
              <a:t>	- </a:t>
            </a:r>
            <a:r>
              <a:rPr lang="hu-HU" sz="2100" b="1" dirty="0" smtClean="0">
                <a:latin typeface="Times New Roman" pitchFamily="18" charset="0"/>
              </a:rPr>
              <a:t>50 %-a </a:t>
            </a:r>
            <a:r>
              <a:rPr lang="hu-HU" sz="2100" b="1" dirty="0">
                <a:latin typeface="Times New Roman" pitchFamily="18" charset="0"/>
              </a:rPr>
              <a:t>5 km alatt helyezkedik el</a:t>
            </a:r>
          </a:p>
          <a:p>
            <a:r>
              <a:rPr lang="hu-HU" sz="2100" b="1" dirty="0">
                <a:latin typeface="Times New Roman" pitchFamily="18" charset="0"/>
              </a:rPr>
              <a:t>	- 99 %-a 30 km alatt</a:t>
            </a:r>
          </a:p>
          <a:p>
            <a:r>
              <a:rPr lang="hu-HU" sz="2100" b="1" dirty="0">
                <a:latin typeface="Times New Roman" pitchFamily="18" charset="0"/>
              </a:rPr>
              <a:t>	- az össztömege a Föld tömegének csak mintegy 1 milliomod része</a:t>
            </a:r>
          </a:p>
          <a:p>
            <a:r>
              <a:rPr lang="hu-HU" sz="2100" b="1" dirty="0">
                <a:latin typeface="Times New Roman" pitchFamily="18" charset="0"/>
              </a:rPr>
              <a:t>	- </a:t>
            </a:r>
            <a:r>
              <a:rPr lang="hu-HU" sz="2100" b="1" dirty="0" smtClean="0">
                <a:latin typeface="Times New Roman" pitchFamily="18" charset="0"/>
              </a:rPr>
              <a:t>felépítése (térfogat %):</a:t>
            </a:r>
            <a:endParaRPr lang="hu-HU" sz="2100" b="1" dirty="0">
              <a:latin typeface="Times New Roman" pitchFamily="18" charset="0"/>
            </a:endParaRPr>
          </a:p>
          <a:p>
            <a:r>
              <a:rPr lang="hu-HU" sz="2100" b="1" dirty="0">
                <a:latin typeface="Times New Roman" pitchFamily="18" charset="0"/>
              </a:rPr>
              <a:t>		- 78 </a:t>
            </a:r>
            <a:r>
              <a:rPr lang="hu-HU" sz="2100" b="1" dirty="0" smtClean="0">
                <a:latin typeface="Times New Roman" pitchFamily="18" charset="0"/>
              </a:rPr>
              <a:t>% </a:t>
            </a:r>
            <a:r>
              <a:rPr lang="hu-HU" sz="2100" b="1" i="1" dirty="0">
                <a:latin typeface="Times New Roman" pitchFamily="18" charset="0"/>
              </a:rPr>
              <a:t>nitrogénből </a:t>
            </a:r>
          </a:p>
          <a:p>
            <a:r>
              <a:rPr lang="hu-HU" sz="2100" b="1" i="1" dirty="0">
                <a:latin typeface="Times New Roman" pitchFamily="18" charset="0"/>
              </a:rPr>
              <a:t>		- </a:t>
            </a:r>
            <a:r>
              <a:rPr lang="hu-HU" sz="2100" b="1" dirty="0">
                <a:latin typeface="Times New Roman" pitchFamily="18" charset="0"/>
              </a:rPr>
              <a:t>21 %</a:t>
            </a:r>
            <a:r>
              <a:rPr lang="hu-HU" sz="2100" b="1" i="1" dirty="0">
                <a:latin typeface="Times New Roman" pitchFamily="18" charset="0"/>
              </a:rPr>
              <a:t> oxigénből</a:t>
            </a:r>
          </a:p>
          <a:p>
            <a:r>
              <a:rPr lang="hu-HU" sz="2100" b="1" i="1" dirty="0">
                <a:latin typeface="Times New Roman" pitchFamily="18" charset="0"/>
              </a:rPr>
              <a:t>		- </a:t>
            </a:r>
            <a:r>
              <a:rPr lang="hu-HU" sz="2100" b="1" dirty="0">
                <a:latin typeface="Times New Roman" pitchFamily="18" charset="0"/>
              </a:rPr>
              <a:t>0.9% </a:t>
            </a:r>
            <a:r>
              <a:rPr lang="hu-HU" sz="2100" b="1" i="1" dirty="0">
                <a:latin typeface="Times New Roman" pitchFamily="18" charset="0"/>
              </a:rPr>
              <a:t>argonból</a:t>
            </a:r>
          </a:p>
          <a:p>
            <a:r>
              <a:rPr lang="hu-HU" sz="2100" b="1" i="1" dirty="0">
                <a:latin typeface="Times New Roman" pitchFamily="18" charset="0"/>
              </a:rPr>
              <a:t>		- </a:t>
            </a:r>
            <a:r>
              <a:rPr lang="hu-HU" sz="2100" b="1" dirty="0">
                <a:latin typeface="Times New Roman" pitchFamily="18" charset="0"/>
              </a:rPr>
              <a:t>0.1 % egyéb gázból áll (Ez a 0.1% egyéb </a:t>
            </a:r>
            <a:r>
              <a:rPr lang="hu-HU" sz="2100" b="1" i="1" dirty="0">
                <a:latin typeface="Times New Roman" pitchFamily="18" charset="0"/>
              </a:rPr>
              <a:t>nemesgázokat, 		vízgőzt, 	szén-dioxidot, ózon, kén-dioxidot, nitrogén-oxidokat, 		port,</a:t>
            </a:r>
            <a:r>
              <a:rPr lang="hu-HU" sz="2100" b="1" dirty="0">
                <a:latin typeface="Times New Roman" pitchFamily="18" charset="0"/>
              </a:rPr>
              <a:t> stb. </a:t>
            </a:r>
            <a:r>
              <a:rPr lang="hu-HU" sz="2100" b="1" dirty="0" smtClean="0">
                <a:latin typeface="Times New Roman" pitchFamily="18" charset="0"/>
              </a:rPr>
              <a:t>tartalmaz) </a:t>
            </a:r>
            <a:endParaRPr lang="hu-HU" sz="2100" b="1" dirty="0">
              <a:latin typeface="Times New Roman" pitchFamily="18" charset="0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latin typeface="Times New Roman" pitchFamily="18" charset="0"/>
              </a:rPr>
              <a:t>A légkör </a:t>
            </a:r>
            <a:r>
              <a:rPr lang="hu-HU" sz="4000" b="1" dirty="0" smtClean="0">
                <a:latin typeface="Times New Roman" pitchFamily="18" charset="0"/>
              </a:rPr>
              <a:t>összetétele</a:t>
            </a:r>
            <a:endParaRPr lang="hu-HU" sz="4000" b="1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latin typeface="Times New Roman" pitchFamily="18" charset="0"/>
              </a:rPr>
              <a:t>A légkör összetétele (egyéb gázok</a:t>
            </a:r>
            <a:r>
              <a:rPr lang="hu-HU" sz="4000" b="1" dirty="0" smtClean="0">
                <a:latin typeface="Times New Roman" pitchFamily="18" charset="0"/>
              </a:rPr>
              <a:t>)</a:t>
            </a:r>
            <a:endParaRPr lang="hu-HU" dirty="0"/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0" y="738188"/>
            <a:ext cx="9144000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hu-HU" sz="2100" b="1" i="1" dirty="0">
                <a:latin typeface="Times New Roman" pitchFamily="18" charset="0"/>
              </a:rPr>
              <a:t>Szén-dioxid:</a:t>
            </a:r>
          </a:p>
          <a:p>
            <a:r>
              <a:rPr lang="hu-HU" sz="2100" b="1" dirty="0">
                <a:latin typeface="Times New Roman" pitchFamily="18" charset="0"/>
              </a:rPr>
              <a:t>	- üvegházgáz </a:t>
            </a:r>
          </a:p>
          <a:p>
            <a:r>
              <a:rPr lang="hu-HU" sz="2100" b="1" dirty="0">
                <a:latin typeface="Times New Roman" pitchFamily="18" charset="0"/>
              </a:rPr>
              <a:t>	- a CO</a:t>
            </a:r>
            <a:r>
              <a:rPr lang="hu-HU" sz="2100" b="1" baseline="-25000" dirty="0">
                <a:latin typeface="Times New Roman" pitchFamily="18" charset="0"/>
              </a:rPr>
              <a:t>2</a:t>
            </a:r>
            <a:r>
              <a:rPr lang="hu-HU" sz="2100" b="1" dirty="0">
                <a:latin typeface="Times New Roman" pitchFamily="18" charset="0"/>
              </a:rPr>
              <a:t> mennyisége az ipari forradalom óta olyan jelentős mértékben 	megnövekedett, hogy megváltoztathatja a Föld éghajlatát. </a:t>
            </a:r>
            <a:endParaRPr lang="hu-HU" sz="2100" b="1" i="1" dirty="0">
              <a:latin typeface="Times New Roman" pitchFamily="18" charset="0"/>
            </a:endParaRPr>
          </a:p>
          <a:p>
            <a:endParaRPr lang="hu-HU" sz="2100" b="1" i="1" dirty="0">
              <a:latin typeface="Times New Roman" pitchFamily="18" charset="0"/>
            </a:endParaRPr>
          </a:p>
          <a:p>
            <a:r>
              <a:rPr lang="hu-HU" sz="2100" b="1" i="1" dirty="0">
                <a:latin typeface="Times New Roman" pitchFamily="18" charset="0"/>
              </a:rPr>
              <a:t>Ózon:</a:t>
            </a:r>
            <a:r>
              <a:rPr lang="hu-HU" sz="2100" b="1" dirty="0">
                <a:latin typeface="Times New Roman" pitchFamily="18" charset="0"/>
              </a:rPr>
              <a:t> </a:t>
            </a:r>
          </a:p>
          <a:p>
            <a:r>
              <a:rPr lang="hu-HU" sz="2100" b="1" dirty="0" smtClean="0">
                <a:latin typeface="Times New Roman" pitchFamily="18" charset="0"/>
              </a:rPr>
              <a:t>	- főként 25-30 km-es magasságban fordul elő (sztratoszféra)</a:t>
            </a:r>
          </a:p>
          <a:p>
            <a:r>
              <a:rPr lang="hu-HU" sz="2100" b="1" dirty="0" smtClean="0">
                <a:latin typeface="Times New Roman" pitchFamily="18" charset="0"/>
              </a:rPr>
              <a:t>	- elnyeli a káros ultraibolya sugárzást (UV-C)</a:t>
            </a:r>
          </a:p>
          <a:p>
            <a:r>
              <a:rPr lang="hu-HU" sz="2100" b="1" dirty="0" smtClean="0">
                <a:latin typeface="Times New Roman" pitchFamily="18" charset="0"/>
              </a:rPr>
              <a:t>	- nagyon elvékonyodott</a:t>
            </a:r>
          </a:p>
          <a:p>
            <a:r>
              <a:rPr lang="hu-HU" sz="2100" b="1" dirty="0">
                <a:latin typeface="Times New Roman" pitchFamily="18" charset="0"/>
              </a:rPr>
              <a:t>	- megtalálható a talaj közelében is, főként </a:t>
            </a:r>
            <a:r>
              <a:rPr lang="hu-HU" sz="2100" b="1" dirty="0" smtClean="0">
                <a:latin typeface="Times New Roman" pitchFamily="18" charset="0"/>
              </a:rPr>
              <a:t>nagyvárosokban (oxidáló v. 	Los-Angeles típusú szmog)</a:t>
            </a:r>
            <a:endParaRPr lang="hu-HU" sz="2100" b="1" dirty="0">
              <a:latin typeface="Times New Roman" pitchFamily="18" charset="0"/>
            </a:endParaRPr>
          </a:p>
          <a:p>
            <a:r>
              <a:rPr lang="hu-HU" sz="2100" b="1" dirty="0">
                <a:latin typeface="Times New Roman" pitchFamily="18" charset="0"/>
              </a:rPr>
              <a:t>	- a mérgező gáz</a:t>
            </a:r>
          </a:p>
          <a:p>
            <a:r>
              <a:rPr lang="hu-HU" sz="2100" b="1" dirty="0">
                <a:latin typeface="Times New Roman" pitchFamily="18" charset="0"/>
              </a:rPr>
              <a:t>	- a felszín közeli ózon mennyisége növekedést mutat, ami szintén 	kedvezőtlen </a:t>
            </a:r>
            <a:r>
              <a:rPr lang="hu-HU" sz="2100" b="1" dirty="0" smtClean="0">
                <a:latin typeface="Times New Roman" pitchFamily="18" charset="0"/>
              </a:rPr>
              <a:t>folyamat</a:t>
            </a:r>
            <a:endParaRPr lang="hu-HU" sz="2100" b="1" dirty="0">
              <a:latin typeface="Times New Roman" pitchFamily="18" charset="0"/>
            </a:endParaRPr>
          </a:p>
          <a:p>
            <a:r>
              <a:rPr lang="hu-HU" sz="2100" b="1" dirty="0">
                <a:latin typeface="Times New Roman" pitchFamily="18" charset="0"/>
              </a:rPr>
              <a:t>	- jellegzetes </a:t>
            </a:r>
            <a:r>
              <a:rPr lang="hu-HU" sz="2100" b="1" dirty="0" smtClean="0">
                <a:latin typeface="Times New Roman" pitchFamily="18" charset="0"/>
              </a:rPr>
              <a:t>klórhoz hasonló szúrós szaga van</a:t>
            </a:r>
            <a:r>
              <a:rPr lang="hu-HU" sz="2100" b="1" dirty="0">
                <a:latin typeface="Times New Roman" pitchFamily="18" charset="0"/>
              </a:rPr>
              <a:t>, </a:t>
            </a:r>
            <a:r>
              <a:rPr lang="hu-HU" sz="2100" b="1" dirty="0" smtClean="0">
                <a:latin typeface="Times New Roman" pitchFamily="18" charset="0"/>
              </a:rPr>
              <a:t>de koncentrációtól 	függően lehet széna, szegfű, kén-dioxid illata is, ilyet </a:t>
            </a:r>
            <a:r>
              <a:rPr lang="hu-HU" sz="2100" b="1" dirty="0">
                <a:latin typeface="Times New Roman" pitchFamily="18" charset="0"/>
              </a:rPr>
              <a:t>lehet érezni </a:t>
            </a:r>
            <a:r>
              <a:rPr lang="hu-HU" sz="2100" b="1" dirty="0" smtClean="0">
                <a:latin typeface="Times New Roman" pitchFamily="18" charset="0"/>
              </a:rPr>
              <a:t>	például </a:t>
            </a:r>
            <a:r>
              <a:rPr lang="hu-HU" sz="2100" b="1" dirty="0">
                <a:latin typeface="Times New Roman" pitchFamily="18" charset="0"/>
              </a:rPr>
              <a:t>zivatar után, </a:t>
            </a:r>
            <a:r>
              <a:rPr lang="hu-HU" sz="2100" b="1" dirty="0" smtClean="0">
                <a:latin typeface="Times New Roman" pitchFamily="18" charset="0"/>
              </a:rPr>
              <a:t>mert villámláskor </a:t>
            </a:r>
            <a:r>
              <a:rPr lang="hu-HU" sz="2100" b="1" dirty="0">
                <a:latin typeface="Times New Roman" pitchFamily="18" charset="0"/>
              </a:rPr>
              <a:t>is keletkezik ózon </a:t>
            </a:r>
            <a:endParaRPr lang="hu-HU" sz="2100" b="1" i="1" dirty="0">
              <a:latin typeface="Times New Roman" pitchFamily="18" charset="0"/>
            </a:endParaRPr>
          </a:p>
          <a:p>
            <a:endParaRPr lang="hu-HU" sz="2100" b="1" i="1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latin typeface="Times New Roman" pitchFamily="18" charset="0"/>
              </a:rPr>
              <a:t>A légkör összetétele (egyéb gázok</a:t>
            </a:r>
            <a:r>
              <a:rPr lang="hu-HU" sz="4000" b="1" dirty="0" smtClean="0">
                <a:latin typeface="Times New Roman" pitchFamily="18" charset="0"/>
              </a:rPr>
              <a:t>)</a:t>
            </a:r>
            <a:endParaRPr lang="hu-HU" dirty="0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0" y="749291"/>
            <a:ext cx="9144000" cy="5847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hu-HU" sz="2200" b="1" i="1" dirty="0">
                <a:latin typeface="Times New Roman" pitchFamily="18" charset="0"/>
              </a:rPr>
              <a:t>Vízgőz:</a:t>
            </a:r>
          </a:p>
          <a:p>
            <a:r>
              <a:rPr lang="hu-HU" sz="2200" b="1" i="1" dirty="0">
                <a:latin typeface="Times New Roman" pitchFamily="18" charset="0"/>
              </a:rPr>
              <a:t>	-</a:t>
            </a:r>
            <a:r>
              <a:rPr lang="hu-HU" sz="2200" b="1" dirty="0">
                <a:latin typeface="Times New Roman" pitchFamily="18" charset="0"/>
              </a:rPr>
              <a:t> főként a felhő-, csapadékképződés szempontjából fontos </a:t>
            </a:r>
          </a:p>
          <a:p>
            <a:r>
              <a:rPr lang="hu-HU" sz="2200" b="1" dirty="0">
                <a:latin typeface="Times New Roman" pitchFamily="18" charset="0"/>
              </a:rPr>
              <a:t>	- </a:t>
            </a:r>
            <a:r>
              <a:rPr lang="hu-HU" sz="2200" b="1" dirty="0" smtClean="0">
                <a:latin typeface="Times New Roman" pitchFamily="18" charset="0"/>
              </a:rPr>
              <a:t>üvegházgáz</a:t>
            </a:r>
            <a:endParaRPr lang="hu-HU" sz="2200" b="1" dirty="0">
              <a:latin typeface="Times New Roman" pitchFamily="18" charset="0"/>
            </a:endParaRPr>
          </a:p>
          <a:p>
            <a:r>
              <a:rPr lang="hu-HU" sz="2200" b="1" dirty="0">
                <a:latin typeface="Times New Roman" pitchFamily="18" charset="0"/>
              </a:rPr>
              <a:t>	- savas eső (az emberiség által termelt </a:t>
            </a:r>
            <a:r>
              <a:rPr lang="hu-HU" sz="2200" b="1" i="1" dirty="0">
                <a:latin typeface="Times New Roman" pitchFamily="18" charset="0"/>
              </a:rPr>
              <a:t>nitrogén-oxidok és a kén-	dioxid, </a:t>
            </a:r>
            <a:r>
              <a:rPr lang="hu-HU" sz="2200" b="1" i="1" dirty="0" err="1">
                <a:latin typeface="Times New Roman" pitchFamily="18" charset="0"/>
              </a:rPr>
              <a:t>kén-trioxidból</a:t>
            </a:r>
            <a:r>
              <a:rPr lang="hu-HU" sz="2200" b="1" i="1" dirty="0" smtClean="0">
                <a:latin typeface="Times New Roman" pitchFamily="18" charset="0"/>
              </a:rPr>
              <a:t>)</a:t>
            </a:r>
            <a:endParaRPr lang="hu-HU" sz="2200" b="1" dirty="0">
              <a:latin typeface="Times New Roman" pitchFamily="18" charset="0"/>
            </a:endParaRPr>
          </a:p>
          <a:p>
            <a:endParaRPr lang="hu-HU" sz="2200" b="1" dirty="0">
              <a:latin typeface="Times New Roman" pitchFamily="18" charset="0"/>
            </a:endParaRPr>
          </a:p>
          <a:p>
            <a:r>
              <a:rPr lang="hu-HU" sz="2200" b="1" i="1" dirty="0">
                <a:latin typeface="Times New Roman" pitchFamily="18" charset="0"/>
              </a:rPr>
              <a:t>Egyéb:</a:t>
            </a:r>
          </a:p>
          <a:p>
            <a:r>
              <a:rPr lang="hu-HU" sz="2200" b="1" dirty="0">
                <a:latin typeface="Times New Roman" pitchFamily="18" charset="0"/>
              </a:rPr>
              <a:t>	</a:t>
            </a:r>
            <a:r>
              <a:rPr lang="hu-HU" sz="2200" b="1" dirty="0" smtClean="0">
                <a:latin typeface="Times New Roman" pitchFamily="18" charset="0"/>
              </a:rPr>
              <a:t>- folyékony cseppek </a:t>
            </a:r>
          </a:p>
          <a:p>
            <a:r>
              <a:rPr lang="hu-HU" sz="2200" b="1" dirty="0">
                <a:latin typeface="Times New Roman" pitchFamily="18" charset="0"/>
              </a:rPr>
              <a:t>	</a:t>
            </a:r>
            <a:r>
              <a:rPr lang="hu-HU" sz="2200" b="1" dirty="0" smtClean="0">
                <a:latin typeface="Times New Roman" pitchFamily="18" charset="0"/>
              </a:rPr>
              <a:t>- szilárd </a:t>
            </a:r>
            <a:r>
              <a:rPr lang="hu-HU" sz="2200" b="1" dirty="0">
                <a:latin typeface="Times New Roman" pitchFamily="18" charset="0"/>
              </a:rPr>
              <a:t>részek </a:t>
            </a:r>
            <a:r>
              <a:rPr lang="hu-HU" sz="2200" b="1" dirty="0" smtClean="0">
                <a:latin typeface="Times New Roman" pitchFamily="18" charset="0"/>
              </a:rPr>
              <a:t>(kondenzációs magvak)</a:t>
            </a:r>
            <a:endParaRPr lang="hu-HU" sz="2200" b="1" dirty="0">
              <a:latin typeface="Times New Roman" pitchFamily="18" charset="0"/>
            </a:endParaRPr>
          </a:p>
          <a:p>
            <a:r>
              <a:rPr lang="hu-HU" sz="2200" b="1" dirty="0">
                <a:latin typeface="Times New Roman" pitchFamily="18" charset="0"/>
              </a:rPr>
              <a:t>	</a:t>
            </a:r>
            <a:endParaRPr lang="hu-HU" sz="2200" b="1" dirty="0" smtClean="0">
              <a:latin typeface="Times New Roman" pitchFamily="18" charset="0"/>
            </a:endParaRPr>
          </a:p>
          <a:p>
            <a:r>
              <a:rPr lang="hu-HU" sz="2200" b="1" dirty="0">
                <a:latin typeface="Times New Roman" pitchFamily="18" charset="0"/>
              </a:rPr>
              <a:t>M</a:t>
            </a:r>
            <a:r>
              <a:rPr lang="hu-HU" sz="2200" b="1" dirty="0" smtClean="0">
                <a:latin typeface="Times New Roman" pitchFamily="18" charset="0"/>
              </a:rPr>
              <a:t>indezek </a:t>
            </a:r>
            <a:r>
              <a:rPr lang="hu-HU" sz="2200" b="1" dirty="0">
                <a:latin typeface="Times New Roman" pitchFamily="18" charset="0"/>
              </a:rPr>
              <a:t>együttese, keveréke alkotja a minket körbevevő </a:t>
            </a:r>
            <a:r>
              <a:rPr lang="hu-HU" sz="2200" b="1" dirty="0" smtClean="0">
                <a:latin typeface="Times New Roman" pitchFamily="18" charset="0"/>
              </a:rPr>
              <a:t>levegőburkot.</a:t>
            </a:r>
            <a:endParaRPr lang="hu-HU" sz="2200" b="1" dirty="0">
              <a:latin typeface="Times New Roman" pitchFamily="18" charset="0"/>
            </a:endParaRPr>
          </a:p>
          <a:p>
            <a:endParaRPr lang="hu-HU" sz="2200" b="1" dirty="0"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hu-HU" sz="2200" b="1" dirty="0" smtClean="0">
                <a:latin typeface="Times New Roman" pitchFamily="18" charset="0"/>
              </a:rPr>
              <a:t> 90-100 </a:t>
            </a:r>
            <a:r>
              <a:rPr lang="hu-HU" sz="2200" b="1" dirty="0">
                <a:latin typeface="Times New Roman" pitchFamily="18" charset="0"/>
              </a:rPr>
              <a:t>km-es magasságig a fő alkotógázok százalékos aránya kb. állandó, </a:t>
            </a:r>
            <a:r>
              <a:rPr lang="hu-HU" sz="2200" b="1" i="1" dirty="0" err="1">
                <a:latin typeface="Times New Roman" pitchFamily="18" charset="0"/>
              </a:rPr>
              <a:t>homoszféra</a:t>
            </a:r>
            <a:r>
              <a:rPr lang="hu-HU" sz="2200" b="1" i="1" dirty="0">
                <a:latin typeface="Times New Roman" pitchFamily="18" charset="0"/>
              </a:rPr>
              <a:t> </a:t>
            </a:r>
          </a:p>
          <a:p>
            <a:pPr lvl="1">
              <a:buFontTx/>
              <a:buChar char="•"/>
            </a:pPr>
            <a:r>
              <a:rPr lang="hu-HU" sz="2200" b="1" dirty="0" smtClean="0">
                <a:latin typeface="Times New Roman" pitchFamily="18" charset="0"/>
              </a:rPr>
              <a:t> e </a:t>
            </a:r>
            <a:r>
              <a:rPr lang="hu-HU" sz="2200" b="1" dirty="0">
                <a:latin typeface="Times New Roman" pitchFamily="18" charset="0"/>
              </a:rPr>
              <a:t>magasság fölött a gázok részaránya már a magassággal változik, </a:t>
            </a:r>
            <a:r>
              <a:rPr lang="hu-HU" sz="2200" b="1" i="1" dirty="0" err="1">
                <a:latin typeface="Times New Roman" pitchFamily="18" charset="0"/>
              </a:rPr>
              <a:t>heteroszféra</a:t>
            </a:r>
            <a:r>
              <a:rPr lang="hu-HU" sz="2200" dirty="0">
                <a:latin typeface="Times New Roman" pitchFamily="18" charset="0"/>
              </a:rPr>
              <a:t> </a:t>
            </a:r>
          </a:p>
          <a:p>
            <a:endParaRPr lang="hu-HU" sz="2200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latin typeface="Times New Roman" pitchFamily="18" charset="0"/>
              </a:rPr>
              <a:t>A légkör </a:t>
            </a:r>
            <a:r>
              <a:rPr lang="hu-HU" sz="4000" b="1" dirty="0" smtClean="0">
                <a:latin typeface="Times New Roman" pitchFamily="18" charset="0"/>
              </a:rPr>
              <a:t>összetétele</a:t>
            </a:r>
            <a:endParaRPr lang="hu-HU" dirty="0"/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0" y="742288"/>
            <a:ext cx="9144000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hu-HU" sz="2200" b="1" dirty="0">
                <a:latin typeface="Times New Roman" pitchFamily="18" charset="0"/>
              </a:rPr>
              <a:t>A légkört több tartományra (gömbhéjak) oszthatjuk, melyek jellemzői eltérnek egymástól. A talajfelszínen a földi átlaghőmérséklet a szén-dioxid üvegházhatásának következtében 15 </a:t>
            </a:r>
            <a:r>
              <a:rPr lang="hu-HU" sz="2200" b="1" baseline="30000" dirty="0" err="1">
                <a:latin typeface="Times New Roman" pitchFamily="18" charset="0"/>
              </a:rPr>
              <a:t>o</a:t>
            </a:r>
            <a:r>
              <a:rPr lang="hu-HU" sz="2200" b="1" dirty="0" err="1">
                <a:latin typeface="Times New Roman" pitchFamily="18" charset="0"/>
              </a:rPr>
              <a:t>C</a:t>
            </a:r>
            <a:r>
              <a:rPr lang="hu-HU" sz="2200" b="1" dirty="0">
                <a:latin typeface="Times New Roman" pitchFamily="18" charset="0"/>
              </a:rPr>
              <a:t>. Ez mintegy 30 </a:t>
            </a:r>
            <a:r>
              <a:rPr lang="hu-HU" sz="2200" b="1" baseline="30000" dirty="0" err="1">
                <a:latin typeface="Times New Roman" pitchFamily="18" charset="0"/>
              </a:rPr>
              <a:t>o</a:t>
            </a:r>
            <a:r>
              <a:rPr lang="hu-HU" sz="2200" b="1" dirty="0" err="1">
                <a:latin typeface="Times New Roman" pitchFamily="18" charset="0"/>
              </a:rPr>
              <a:t>C-kal</a:t>
            </a:r>
            <a:r>
              <a:rPr lang="hu-HU" sz="2200" b="1" dirty="0">
                <a:latin typeface="Times New Roman" pitchFamily="18" charset="0"/>
              </a:rPr>
              <a:t> melegebb, mint a szén-dioxid, illetve vízgőz jelenléte nélkül lenne.</a:t>
            </a:r>
          </a:p>
          <a:p>
            <a:endParaRPr lang="hu-HU" sz="2200" b="1" i="1" dirty="0">
              <a:latin typeface="Times New Roman" pitchFamily="18" charset="0"/>
            </a:endParaRPr>
          </a:p>
          <a:p>
            <a:r>
              <a:rPr lang="hu-HU" sz="2200" b="1" i="1" dirty="0">
                <a:latin typeface="Times New Roman" pitchFamily="18" charset="0"/>
              </a:rPr>
              <a:t>Troposzféra:</a:t>
            </a:r>
          </a:p>
          <a:p>
            <a:r>
              <a:rPr lang="hu-HU" sz="2200" b="1" dirty="0">
                <a:latin typeface="Times New Roman" pitchFamily="18" charset="0"/>
              </a:rPr>
              <a:t>	- a légkör talajfelszínnel közvetlenül érintkező rétege</a:t>
            </a:r>
          </a:p>
          <a:p>
            <a:r>
              <a:rPr lang="hu-HU" sz="2200" b="1" dirty="0">
                <a:latin typeface="Times New Roman" pitchFamily="18" charset="0"/>
              </a:rPr>
              <a:t>	- vastagsága Magyarország fölött átlagban 11 km, télen 8-10 km, 	nyáron 12-14 km</a:t>
            </a:r>
          </a:p>
          <a:p>
            <a:r>
              <a:rPr lang="hu-HU" sz="2200" b="1" dirty="0">
                <a:latin typeface="Times New Roman" pitchFamily="18" charset="0"/>
              </a:rPr>
              <a:t>	- itt </a:t>
            </a:r>
            <a:r>
              <a:rPr lang="hu-HU" sz="2200" b="1" dirty="0" smtClean="0">
                <a:latin typeface="Times New Roman" pitchFamily="18" charset="0"/>
              </a:rPr>
              <a:t>játszódnak </a:t>
            </a:r>
            <a:r>
              <a:rPr lang="hu-HU" sz="2200" b="1" dirty="0">
                <a:latin typeface="Times New Roman" pitchFamily="18" charset="0"/>
              </a:rPr>
              <a:t>le az időjárási folyamatok többsége</a:t>
            </a:r>
          </a:p>
          <a:p>
            <a:r>
              <a:rPr lang="hu-HU" sz="2200" b="1" dirty="0">
                <a:latin typeface="Times New Roman" pitchFamily="18" charset="0"/>
              </a:rPr>
              <a:t>	- a rétegben jelentős függőleges </a:t>
            </a:r>
            <a:r>
              <a:rPr lang="hu-HU" sz="2200" b="1" dirty="0" smtClean="0">
                <a:latin typeface="Times New Roman" pitchFamily="18" charset="0"/>
              </a:rPr>
              <a:t>áramlások (termikek) </a:t>
            </a:r>
            <a:r>
              <a:rPr lang="hu-HU" sz="2200" b="1" dirty="0">
                <a:latin typeface="Times New Roman" pitchFamily="18" charset="0"/>
              </a:rPr>
              <a:t>is vannak</a:t>
            </a:r>
          </a:p>
          <a:p>
            <a:r>
              <a:rPr lang="hu-HU" sz="2200" b="1" dirty="0">
                <a:latin typeface="Times New Roman" pitchFamily="18" charset="0"/>
              </a:rPr>
              <a:t>	- itt keletkeznek a felhők </a:t>
            </a:r>
          </a:p>
          <a:p>
            <a:r>
              <a:rPr lang="hu-HU" sz="2200" b="1" dirty="0">
                <a:latin typeface="Times New Roman" pitchFamily="18" charset="0"/>
              </a:rPr>
              <a:t>	- itt található a vízgőz legnagyobb része</a:t>
            </a:r>
          </a:p>
          <a:p>
            <a:r>
              <a:rPr lang="hu-HU" sz="2200" b="1" dirty="0">
                <a:latin typeface="Times New Roman" pitchFamily="18" charset="0"/>
              </a:rPr>
              <a:t>	- a hőmérséklet a magassággal általában </a:t>
            </a:r>
            <a:r>
              <a:rPr lang="hu-HU" sz="2200" b="1" dirty="0" smtClean="0">
                <a:latin typeface="Times New Roman" pitchFamily="18" charset="0"/>
              </a:rPr>
              <a:t>csökken </a:t>
            </a:r>
            <a:br>
              <a:rPr lang="hu-HU" sz="2200" b="1" dirty="0" smtClean="0">
                <a:latin typeface="Times New Roman" pitchFamily="18" charset="0"/>
              </a:rPr>
            </a:br>
            <a:r>
              <a:rPr lang="hu-HU" sz="2200" b="1" dirty="0" smtClean="0">
                <a:latin typeface="Times New Roman" pitchFamily="18" charset="0"/>
              </a:rPr>
              <a:t>	(- 6,5 </a:t>
            </a:r>
            <a:r>
              <a:rPr lang="hu-HU" sz="2200" b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hu-H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hu-H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1000 m</a:t>
            </a:r>
            <a:r>
              <a:rPr lang="hu-HU" sz="2200" b="1" dirty="0" smtClean="0">
                <a:latin typeface="Times New Roman" pitchFamily="18" charset="0"/>
              </a:rPr>
              <a:t>), </a:t>
            </a:r>
            <a:r>
              <a:rPr lang="hu-HU" sz="2200" b="1" dirty="0">
                <a:latin typeface="Times New Roman" pitchFamily="18" charset="0"/>
              </a:rPr>
              <a:t>a tetején ez a </a:t>
            </a:r>
            <a:r>
              <a:rPr lang="hu-HU" sz="2200" b="1" dirty="0" smtClean="0">
                <a:latin typeface="Times New Roman" pitchFamily="18" charset="0"/>
              </a:rPr>
              <a:t>csökkenés </a:t>
            </a:r>
            <a:r>
              <a:rPr lang="hu-HU" sz="2200" b="1" dirty="0">
                <a:latin typeface="Times New Roman" pitchFamily="18" charset="0"/>
              </a:rPr>
              <a:t>megáll, a hőmérséklet </a:t>
            </a:r>
            <a:r>
              <a:rPr lang="hu-HU" sz="2200" b="1" dirty="0" smtClean="0">
                <a:latin typeface="Times New Roman" pitchFamily="18" charset="0"/>
              </a:rPr>
              <a:t>	értéke </a:t>
            </a:r>
            <a:r>
              <a:rPr lang="hu-HU" sz="2200" b="1" dirty="0">
                <a:latin typeface="Times New Roman" pitchFamily="18" charset="0"/>
              </a:rPr>
              <a:t>nem változik, kb. </a:t>
            </a:r>
            <a:r>
              <a:rPr lang="hu-HU" sz="2200" b="1" dirty="0" smtClean="0">
                <a:latin typeface="Times New Roman" pitchFamily="18" charset="0"/>
              </a:rPr>
              <a:t>- 56 </a:t>
            </a:r>
            <a:r>
              <a:rPr lang="hu-HU" sz="2200" b="1" baseline="30000" dirty="0" err="1">
                <a:latin typeface="Times New Roman" pitchFamily="18" charset="0"/>
              </a:rPr>
              <a:t>o</a:t>
            </a:r>
            <a:r>
              <a:rPr lang="hu-HU" b="1" dirty="0" err="1"/>
              <a:t>C</a:t>
            </a:r>
            <a:endParaRPr lang="hu-HU" sz="2200" b="1" dirty="0">
              <a:latin typeface="Times New Roman" pitchFamily="18" charset="0"/>
            </a:endParaRPr>
          </a:p>
          <a:p>
            <a:r>
              <a:rPr lang="hu-HU" sz="2200" b="1" i="1" dirty="0" err="1">
                <a:latin typeface="Times New Roman" pitchFamily="18" charset="0"/>
              </a:rPr>
              <a:t>Tropopauza</a:t>
            </a:r>
            <a:r>
              <a:rPr lang="hu-HU" sz="2200" b="1" i="1" dirty="0">
                <a:latin typeface="Times New Roman" pitchFamily="18" charset="0"/>
              </a:rPr>
              <a:t>:</a:t>
            </a:r>
          </a:p>
          <a:p>
            <a:r>
              <a:rPr lang="hu-HU" sz="2200" b="1" i="1" dirty="0">
                <a:latin typeface="Times New Roman" pitchFamily="18" charset="0"/>
              </a:rPr>
              <a:t>	-</a:t>
            </a:r>
            <a:r>
              <a:rPr lang="hu-HU" sz="2200" b="1" dirty="0">
                <a:latin typeface="Times New Roman" pitchFamily="18" charset="0"/>
              </a:rPr>
              <a:t> elválasztja a troposzférát a fölötte következő rétegtől 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188913" y="1328738"/>
            <a:ext cx="8955087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20000"/>
              </a:spcBef>
            </a:pPr>
            <a:r>
              <a:rPr lang="hu-HU" altLang="hu-HU" sz="2400" b="1" dirty="0" err="1">
                <a:latin typeface="Times New Roman" pitchFamily="18" charset="0"/>
              </a:rPr>
              <a:t>Jet</a:t>
            </a:r>
            <a:r>
              <a:rPr lang="hu-HU" altLang="hu-HU" sz="2400" b="1" dirty="0">
                <a:latin typeface="Times New Roman" pitchFamily="18" charset="0"/>
              </a:rPr>
              <a:t> </a:t>
            </a:r>
            <a:r>
              <a:rPr lang="hu-HU" altLang="hu-HU" sz="2400" b="1" dirty="0" err="1">
                <a:latin typeface="Times New Roman" pitchFamily="18" charset="0"/>
              </a:rPr>
              <a:t>Stream</a:t>
            </a:r>
            <a:r>
              <a:rPr lang="hu-HU" altLang="hu-HU" sz="2400" b="1" dirty="0">
                <a:latin typeface="Times New Roman" pitchFamily="18" charset="0"/>
              </a:rPr>
              <a:t> (futó áram) </a:t>
            </a:r>
          </a:p>
          <a:p>
            <a:pPr marL="800100" lvl="1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hu-HU" altLang="hu-HU" sz="2000" b="1" dirty="0" err="1">
                <a:latin typeface="Times New Roman" pitchFamily="18" charset="0"/>
              </a:rPr>
              <a:t>Tropopauza</a:t>
            </a:r>
            <a:r>
              <a:rPr lang="hu-HU" altLang="hu-HU" sz="2000" b="1" dirty="0">
                <a:latin typeface="Times New Roman" pitchFamily="18" charset="0"/>
              </a:rPr>
              <a:t> magasságában előforduló keskeny áram</a:t>
            </a:r>
          </a:p>
          <a:p>
            <a:pPr marL="800100" lvl="1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hu-HU" altLang="hu-HU" sz="2000" b="1" dirty="0">
                <a:latin typeface="Times New Roman" pitchFamily="18" charset="0"/>
              </a:rPr>
              <a:t>Az eltérő tulajdonságú légtömegek hozzák létre</a:t>
            </a:r>
          </a:p>
          <a:p>
            <a:pPr marL="800100" lvl="1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hu-HU" altLang="hu-HU" sz="2000" b="1" dirty="0">
                <a:latin typeface="Times New Roman" pitchFamily="18" charset="0"/>
              </a:rPr>
              <a:t>A Föld északi/déli féltekén hullámszerűen terjedő áramlat</a:t>
            </a:r>
          </a:p>
          <a:p>
            <a:pPr marL="800100" lvl="1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hu-HU" altLang="hu-HU" sz="2000" b="1" dirty="0">
                <a:latin typeface="Times New Roman" pitchFamily="18" charset="0"/>
              </a:rPr>
              <a:t>160-640 km/h sebességű áramlás (átlagosan 240-480 km/h) </a:t>
            </a:r>
          </a:p>
          <a:p>
            <a:pPr marL="800100" lvl="1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hu-HU" altLang="hu-HU" sz="2000" b="1" dirty="0">
                <a:latin typeface="Times New Roman" pitchFamily="18" charset="0"/>
              </a:rPr>
              <a:t>Kihasználása lerövidíti az utazási időt, csökkenti a fogyasztást</a:t>
            </a:r>
          </a:p>
          <a:p>
            <a:pPr marL="1257300" lvl="2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hu-HU" altLang="hu-HU" sz="2000" b="1" dirty="0">
              <a:latin typeface="Times New Roman" pitchFamily="18" charset="0"/>
            </a:endParaRPr>
          </a:p>
        </p:txBody>
      </p:sp>
      <p:pic>
        <p:nvPicPr>
          <p:cNvPr id="7175" name="Picture 7" descr="jet_strem2_wwwfasor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016" y="4205287"/>
            <a:ext cx="2087562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8" descr="jetstream3_wwwintellcast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338" y="4076700"/>
            <a:ext cx="3779837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8" name="Picture 10" descr="jetstream_wwwdkimagesc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076700"/>
            <a:ext cx="2233612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latin typeface="Times New Roman" pitchFamily="18" charset="0"/>
              </a:rPr>
              <a:t>A légkör </a:t>
            </a:r>
            <a:r>
              <a:rPr lang="hu-HU" sz="4000" b="1" dirty="0" smtClean="0">
                <a:latin typeface="Times New Roman" pitchFamily="18" charset="0"/>
              </a:rPr>
              <a:t>összetétele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1645434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latin typeface="Times New Roman" pitchFamily="18" charset="0"/>
              </a:rPr>
              <a:t>A légkör </a:t>
            </a:r>
            <a:r>
              <a:rPr lang="hu-HU" sz="4000" b="1" dirty="0" smtClean="0">
                <a:latin typeface="Times New Roman" pitchFamily="18" charset="0"/>
              </a:rPr>
              <a:t>összetétele</a:t>
            </a:r>
            <a:endParaRPr lang="hu-HU" dirty="0"/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0" y="765175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hu-HU"/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323912" y="836613"/>
            <a:ext cx="8518401" cy="601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hu-HU" sz="2200" b="1" i="1" dirty="0">
                <a:latin typeface="Times New Roman" pitchFamily="18" charset="0"/>
              </a:rPr>
              <a:t>Sztratoszféra:</a:t>
            </a:r>
          </a:p>
          <a:p>
            <a:r>
              <a:rPr lang="hu-HU" sz="2200" b="1" i="1" dirty="0">
                <a:latin typeface="Times New Roman" pitchFamily="18" charset="0"/>
              </a:rPr>
              <a:t>	-</a:t>
            </a:r>
            <a:r>
              <a:rPr lang="hu-HU" sz="2200" b="1" dirty="0">
                <a:latin typeface="Times New Roman" pitchFamily="18" charset="0"/>
              </a:rPr>
              <a:t> a troposzféra fölötti réteg</a:t>
            </a:r>
          </a:p>
          <a:p>
            <a:r>
              <a:rPr lang="hu-HU" sz="2200" b="1" dirty="0">
                <a:latin typeface="Times New Roman" pitchFamily="18" charset="0"/>
              </a:rPr>
              <a:t>	- kb. 50 km magasságig terjed</a:t>
            </a:r>
          </a:p>
          <a:p>
            <a:r>
              <a:rPr lang="hu-HU" sz="2200" b="1" dirty="0">
                <a:latin typeface="Times New Roman" pitchFamily="18" charset="0"/>
              </a:rPr>
              <a:t>	- a hőmérséklet a magassággal növekszik</a:t>
            </a:r>
          </a:p>
          <a:p>
            <a:r>
              <a:rPr lang="hu-HU" sz="2200" b="1" dirty="0">
                <a:latin typeface="Times New Roman" pitchFamily="18" charset="0"/>
              </a:rPr>
              <a:t>	- itt helyezkedik el az ózonréteg, ami </a:t>
            </a:r>
            <a:r>
              <a:rPr lang="hu-HU" sz="2200" b="1" dirty="0" smtClean="0">
                <a:latin typeface="Times New Roman" pitchFamily="18" charset="0"/>
              </a:rPr>
              <a:t>rendkívül </a:t>
            </a:r>
            <a:r>
              <a:rPr lang="hu-HU" sz="2200" b="1" dirty="0">
                <a:latin typeface="Times New Roman" pitchFamily="18" charset="0"/>
              </a:rPr>
              <a:t>vékony</a:t>
            </a:r>
          </a:p>
          <a:p>
            <a:r>
              <a:rPr lang="hu-HU" sz="2200" b="1" dirty="0">
                <a:latin typeface="Times New Roman" pitchFamily="18" charset="0"/>
              </a:rPr>
              <a:t>	- az itt felhalmozódott ózon a talajfelszíni légnyomáson </a:t>
            </a:r>
            <a:r>
              <a:rPr lang="hu-HU" sz="2200" b="1" dirty="0" smtClean="0">
                <a:latin typeface="Times New Roman" pitchFamily="18" charset="0"/>
              </a:rPr>
              <a:t>	csupán </a:t>
            </a:r>
            <a:r>
              <a:rPr lang="hu-HU" sz="2200" b="1" dirty="0">
                <a:latin typeface="Times New Roman" pitchFamily="18" charset="0"/>
              </a:rPr>
              <a:t>3 </a:t>
            </a:r>
            <a:r>
              <a:rPr lang="hu-HU" sz="2200" b="1" dirty="0" smtClean="0">
                <a:latin typeface="Times New Roman" pitchFamily="18" charset="0"/>
              </a:rPr>
              <a:t>mm </a:t>
            </a:r>
            <a:r>
              <a:rPr lang="hu-HU" sz="2200" b="1" dirty="0">
                <a:latin typeface="Times New Roman" pitchFamily="18" charset="0"/>
              </a:rPr>
              <a:t>vastag </a:t>
            </a:r>
            <a:r>
              <a:rPr lang="hu-HU" sz="2200" b="1" dirty="0" smtClean="0">
                <a:latin typeface="Times New Roman" pitchFamily="18" charset="0"/>
              </a:rPr>
              <a:t>lenne (=300 DU [</a:t>
            </a:r>
            <a:r>
              <a:rPr lang="hu-HU" sz="2200" b="1" dirty="0" err="1" smtClean="0">
                <a:latin typeface="Times New Roman" pitchFamily="18" charset="0"/>
              </a:rPr>
              <a:t>Dobson-</a:t>
            </a:r>
            <a:r>
              <a:rPr lang="hu-HU" sz="2200" b="1" dirty="0" err="1">
                <a:latin typeface="Times New Roman" pitchFamily="18" charset="0"/>
              </a:rPr>
              <a:t>u</a:t>
            </a:r>
            <a:r>
              <a:rPr lang="hu-HU" sz="2200" b="1" dirty="0" err="1" smtClean="0">
                <a:latin typeface="Times New Roman" pitchFamily="18" charset="0"/>
              </a:rPr>
              <a:t>nit</a:t>
            </a:r>
            <a:r>
              <a:rPr lang="hu-HU" sz="2200" b="1" dirty="0" smtClean="0">
                <a:latin typeface="Times New Roman" pitchFamily="18" charset="0"/>
              </a:rPr>
              <a:t>])</a:t>
            </a:r>
            <a:endParaRPr lang="hu-HU" sz="2200" b="1" dirty="0">
              <a:latin typeface="Times New Roman" pitchFamily="18" charset="0"/>
            </a:endParaRPr>
          </a:p>
          <a:p>
            <a:endParaRPr lang="hu-HU" sz="2200" b="1" dirty="0">
              <a:latin typeface="Times New Roman" pitchFamily="18" charset="0"/>
            </a:endParaRPr>
          </a:p>
          <a:p>
            <a:r>
              <a:rPr lang="hu-HU" sz="2200" b="1" dirty="0">
                <a:latin typeface="Times New Roman" pitchFamily="18" charset="0"/>
              </a:rPr>
              <a:t>A sztratoszféra tetején </a:t>
            </a:r>
            <a:r>
              <a:rPr lang="hu-HU" sz="2200" b="1" i="1" dirty="0">
                <a:latin typeface="Times New Roman" pitchFamily="18" charset="0"/>
              </a:rPr>
              <a:t>a </a:t>
            </a:r>
            <a:r>
              <a:rPr lang="hu-HU" sz="2200" b="1" i="1" dirty="0" err="1">
                <a:latin typeface="Times New Roman" pitchFamily="18" charset="0"/>
              </a:rPr>
              <a:t>sztratopauzánál</a:t>
            </a:r>
            <a:r>
              <a:rPr lang="hu-HU" sz="2200" b="1" i="1" dirty="0">
                <a:latin typeface="Times New Roman" pitchFamily="18" charset="0"/>
              </a:rPr>
              <a:t> </a:t>
            </a:r>
            <a:r>
              <a:rPr lang="hu-HU" sz="2200" b="1" i="1" dirty="0" err="1">
                <a:latin typeface="Times New Roman" pitchFamily="18" charset="0"/>
              </a:rPr>
              <a:t>a</a:t>
            </a:r>
            <a:r>
              <a:rPr lang="hu-HU" sz="2200" b="1" dirty="0">
                <a:latin typeface="Times New Roman" pitchFamily="18" charset="0"/>
              </a:rPr>
              <a:t> hőmérséklet kb. -2 </a:t>
            </a:r>
            <a:r>
              <a:rPr lang="hu-HU" sz="2200" b="1" baseline="30000" dirty="0" err="1">
                <a:latin typeface="Times New Roman" pitchFamily="18" charset="0"/>
              </a:rPr>
              <a:t>o</a:t>
            </a:r>
            <a:r>
              <a:rPr lang="hu-HU" sz="2200" b="1" dirty="0" err="1">
                <a:latin typeface="Times New Roman" pitchFamily="18" charset="0"/>
              </a:rPr>
              <a:t>C</a:t>
            </a:r>
            <a:r>
              <a:rPr lang="hu-HU" sz="2200" b="1" dirty="0">
                <a:latin typeface="Times New Roman" pitchFamily="18" charset="0"/>
              </a:rPr>
              <a:t>. </a:t>
            </a:r>
          </a:p>
          <a:p>
            <a:r>
              <a:rPr lang="hu-HU" sz="2200" b="1" dirty="0">
                <a:latin typeface="Times New Roman" pitchFamily="18" charset="0"/>
              </a:rPr>
              <a:t>A sztratoszféra fölött következő </a:t>
            </a:r>
            <a:r>
              <a:rPr lang="hu-HU" sz="2200" b="1" i="1" dirty="0">
                <a:latin typeface="Times New Roman" pitchFamily="18" charset="0"/>
              </a:rPr>
              <a:t>mezoszférában</a:t>
            </a:r>
            <a:r>
              <a:rPr lang="hu-HU" sz="2200" b="1" dirty="0">
                <a:latin typeface="Times New Roman" pitchFamily="18" charset="0"/>
              </a:rPr>
              <a:t> a hőmérséklet a </a:t>
            </a:r>
            <a:r>
              <a:rPr lang="hu-HU" sz="2200" b="1" dirty="0" smtClean="0">
                <a:latin typeface="Times New Roman" pitchFamily="18" charset="0"/>
              </a:rPr>
              <a:t>magassággal </a:t>
            </a:r>
            <a:r>
              <a:rPr lang="hu-HU" sz="2200" b="1" dirty="0">
                <a:latin typeface="Times New Roman" pitchFamily="18" charset="0"/>
              </a:rPr>
              <a:t>csökken. </a:t>
            </a:r>
          </a:p>
          <a:p>
            <a:r>
              <a:rPr lang="hu-HU" sz="2200" b="1" i="1" dirty="0">
                <a:latin typeface="Times New Roman" pitchFamily="18" charset="0"/>
              </a:rPr>
              <a:t>A </a:t>
            </a:r>
            <a:r>
              <a:rPr lang="hu-HU" sz="2200" b="1" i="1" dirty="0" err="1">
                <a:latin typeface="Times New Roman" pitchFamily="18" charset="0"/>
              </a:rPr>
              <a:t>mezopauza</a:t>
            </a:r>
            <a:r>
              <a:rPr lang="hu-HU" sz="2200" b="1" dirty="0">
                <a:latin typeface="Times New Roman" pitchFamily="18" charset="0"/>
              </a:rPr>
              <a:t> kb. 80 km-es magasságában a hőmérséklet -93 </a:t>
            </a:r>
            <a:r>
              <a:rPr lang="hu-HU" sz="2200" b="1" baseline="30000" dirty="0" err="1">
                <a:latin typeface="Times New Roman" pitchFamily="18" charset="0"/>
              </a:rPr>
              <a:t>o</a:t>
            </a:r>
            <a:r>
              <a:rPr lang="hu-HU" sz="2200" b="1" dirty="0" err="1">
                <a:latin typeface="Times New Roman" pitchFamily="18" charset="0"/>
              </a:rPr>
              <a:t>C</a:t>
            </a:r>
            <a:r>
              <a:rPr lang="hu-HU" sz="2200" b="1" dirty="0">
                <a:latin typeface="Times New Roman" pitchFamily="18" charset="0"/>
              </a:rPr>
              <a:t>. </a:t>
            </a:r>
          </a:p>
          <a:p>
            <a:r>
              <a:rPr lang="hu-HU" sz="2200" b="1" dirty="0">
                <a:latin typeface="Times New Roman" pitchFamily="18" charset="0"/>
              </a:rPr>
              <a:t>Az ezután következő </a:t>
            </a:r>
            <a:r>
              <a:rPr lang="hu-HU" sz="2200" b="1" i="1" dirty="0">
                <a:latin typeface="Times New Roman" pitchFamily="18" charset="0"/>
              </a:rPr>
              <a:t>termoszférában</a:t>
            </a:r>
            <a:r>
              <a:rPr lang="hu-HU" sz="2200" b="1" dirty="0">
                <a:latin typeface="Times New Roman" pitchFamily="18" charset="0"/>
              </a:rPr>
              <a:t> először növekszik, majd állandó a hőmérséklet. </a:t>
            </a:r>
          </a:p>
          <a:p>
            <a:r>
              <a:rPr lang="hu-HU" sz="2200" b="1" i="1" dirty="0">
                <a:latin typeface="Times New Roman" pitchFamily="18" charset="0"/>
              </a:rPr>
              <a:t>A </a:t>
            </a:r>
            <a:r>
              <a:rPr lang="hu-HU" sz="2200" b="1" i="1" dirty="0" err="1">
                <a:latin typeface="Times New Roman" pitchFamily="18" charset="0"/>
              </a:rPr>
              <a:t>termopauza</a:t>
            </a:r>
            <a:r>
              <a:rPr lang="hu-HU" sz="2200" b="1" dirty="0">
                <a:latin typeface="Times New Roman" pitchFamily="18" charset="0"/>
              </a:rPr>
              <a:t> 800 km-es magassága fölött található </a:t>
            </a:r>
            <a:r>
              <a:rPr lang="hu-HU" sz="2200" b="1" i="1" dirty="0">
                <a:latin typeface="Times New Roman" pitchFamily="18" charset="0"/>
              </a:rPr>
              <a:t>az </a:t>
            </a:r>
            <a:r>
              <a:rPr lang="hu-HU" sz="2200" b="1" i="1" dirty="0" err="1">
                <a:latin typeface="Times New Roman" pitchFamily="18" charset="0"/>
              </a:rPr>
              <a:t>exoszféra</a:t>
            </a:r>
            <a:r>
              <a:rPr lang="hu-HU" sz="2200" b="1" i="1" dirty="0">
                <a:latin typeface="Times New Roman" pitchFamily="18" charset="0"/>
              </a:rPr>
              <a:t>,</a:t>
            </a:r>
            <a:r>
              <a:rPr lang="hu-HU" sz="2200" b="1" dirty="0">
                <a:latin typeface="Times New Roman" pitchFamily="18" charset="0"/>
              </a:rPr>
              <a:t> ahol a légkör fokozatosan átmegy a bolygóközi térbe. </a:t>
            </a:r>
          </a:p>
          <a:p>
            <a:pPr>
              <a:spcBef>
                <a:spcPct val="50000"/>
              </a:spcBef>
            </a:pPr>
            <a:endParaRPr lang="hu-HU" sz="2200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5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 smtClean="0">
                <a:latin typeface="Times New Roman" pitchFamily="18" charset="0"/>
              </a:rPr>
              <a:t>Sztratoszféra ugrások</a:t>
            </a:r>
            <a:endParaRPr lang="hu-HU" dirty="0"/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0" y="765175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hu-HU"/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323912" y="836613"/>
            <a:ext cx="8518401" cy="5847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hu-HU" sz="2200" b="1" i="1" dirty="0" smtClean="0">
                <a:latin typeface="Times New Roman" pitchFamily="18" charset="0"/>
              </a:rPr>
              <a:t>Eugene </a:t>
            </a:r>
            <a:r>
              <a:rPr lang="hu-HU" sz="2200" b="1" i="1" dirty="0" err="1" smtClean="0">
                <a:latin typeface="Times New Roman" pitchFamily="18" charset="0"/>
              </a:rPr>
              <a:t>Andreev</a:t>
            </a:r>
            <a:r>
              <a:rPr lang="hu-HU" sz="2200" b="1" i="1" dirty="0" smtClean="0">
                <a:latin typeface="Times New Roman" pitchFamily="18" charset="0"/>
              </a:rPr>
              <a:t> (</a:t>
            </a:r>
            <a:r>
              <a:rPr lang="hu-HU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Yevgeni</a:t>
            </a:r>
            <a:r>
              <a:rPr lang="hu-HU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Nikolayevich</a:t>
            </a:r>
            <a:r>
              <a:rPr lang="hu-HU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2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Andreyev</a:t>
            </a:r>
            <a:r>
              <a:rPr lang="hu-HU" sz="2200" b="1" i="1" dirty="0" smtClean="0">
                <a:latin typeface="Times New Roman" pitchFamily="18" charset="0"/>
              </a:rPr>
              <a:t>)</a:t>
            </a:r>
          </a:p>
          <a:p>
            <a:r>
              <a:rPr lang="hu-HU" sz="2200" b="1" i="1" dirty="0">
                <a:latin typeface="Times New Roman" pitchFamily="18" charset="0"/>
              </a:rPr>
              <a:t> </a:t>
            </a:r>
            <a:r>
              <a:rPr lang="hu-HU" sz="2200" b="1" i="1" dirty="0" smtClean="0">
                <a:latin typeface="Times New Roman" pitchFamily="18" charset="0"/>
              </a:rPr>
              <a:t>    1962-ben 25 500 m-ről 1000 m-re</a:t>
            </a:r>
          </a:p>
          <a:p>
            <a:r>
              <a:rPr lang="hu-HU" sz="2200" b="1" i="1" dirty="0" smtClean="0">
                <a:latin typeface="Times New Roman" pitchFamily="18" charset="0"/>
              </a:rPr>
              <a:t>     leghosszabb </a:t>
            </a:r>
            <a:r>
              <a:rPr lang="hu-HU" sz="2200" b="1" i="1" dirty="0" err="1" smtClean="0">
                <a:latin typeface="Times New Roman" pitchFamily="18" charset="0"/>
              </a:rPr>
              <a:t>stabernyő</a:t>
            </a:r>
            <a:r>
              <a:rPr lang="hu-HU" sz="2200" b="1" i="1" dirty="0" smtClean="0">
                <a:latin typeface="Times New Roman" pitchFamily="18" charset="0"/>
              </a:rPr>
              <a:t> nélküli szabadesés világrekordja</a:t>
            </a:r>
          </a:p>
          <a:p>
            <a:r>
              <a:rPr lang="hu-HU" sz="2200" b="1" i="1" dirty="0" smtClean="0">
                <a:latin typeface="Times New Roman" pitchFamily="18" charset="0"/>
              </a:rPr>
              <a:t>     </a:t>
            </a:r>
            <a:endParaRPr lang="hu-HU" sz="2200" dirty="0">
              <a:latin typeface="Times New Roman" pitchFamily="18" charset="0"/>
            </a:endParaRPr>
          </a:p>
          <a:p>
            <a:pPr marL="342900" indent="-342900">
              <a:buFontTx/>
              <a:buChar char="-"/>
            </a:pPr>
            <a:r>
              <a:rPr lang="hu-HU" sz="2200" b="1" i="1" dirty="0" smtClean="0">
                <a:latin typeface="Times New Roman" pitchFamily="18" charset="0"/>
              </a:rPr>
              <a:t>Joseph Kittinger</a:t>
            </a:r>
          </a:p>
          <a:p>
            <a:r>
              <a:rPr lang="hu-HU" sz="2200" b="1" i="1" dirty="0">
                <a:latin typeface="Times New Roman" pitchFamily="18" charset="0"/>
              </a:rPr>
              <a:t> </a:t>
            </a:r>
            <a:r>
              <a:rPr lang="hu-HU" sz="2200" b="1" i="1" dirty="0" smtClean="0">
                <a:latin typeface="Times New Roman" pitchFamily="18" charset="0"/>
              </a:rPr>
              <a:t>    első próbálkozás 1959 23 300 m – majdnem </a:t>
            </a:r>
            <a:br>
              <a:rPr lang="hu-HU" sz="2200" b="1" i="1" dirty="0" smtClean="0">
                <a:latin typeface="Times New Roman" pitchFamily="18" charset="0"/>
              </a:rPr>
            </a:br>
            <a:r>
              <a:rPr lang="hu-HU" sz="2200" b="1" i="1" dirty="0" smtClean="0">
                <a:latin typeface="Times New Roman" pitchFamily="18" charset="0"/>
              </a:rPr>
              <a:t>     belehalt, de a tartalék ernyője megmentette</a:t>
            </a:r>
          </a:p>
          <a:p>
            <a:r>
              <a:rPr lang="hu-HU" sz="2200" b="1" i="1" dirty="0" smtClean="0">
                <a:latin typeface="Times New Roman" pitchFamily="18" charset="0"/>
              </a:rPr>
              <a:t>     1960 – 31 300 m, 4,5’ szabadesés 988 km/h</a:t>
            </a:r>
          </a:p>
          <a:p>
            <a:endParaRPr lang="hu-HU" sz="2200" b="1" i="1" dirty="0">
              <a:latin typeface="Times New Roman" pitchFamily="18" charset="0"/>
            </a:endParaRPr>
          </a:p>
          <a:p>
            <a:pPr marL="342900" indent="-342900">
              <a:buFontTx/>
              <a:buChar char="-"/>
            </a:pPr>
            <a:r>
              <a:rPr lang="hu-HU" sz="2200" b="1" i="1" dirty="0" smtClean="0">
                <a:latin typeface="Times New Roman" pitchFamily="18" charset="0"/>
              </a:rPr>
              <a:t>Felix Baumgartner</a:t>
            </a:r>
          </a:p>
          <a:p>
            <a:r>
              <a:rPr lang="hu-HU" sz="2200" b="1" i="1" dirty="0" smtClean="0">
                <a:latin typeface="Times New Roman" pitchFamily="18" charset="0"/>
              </a:rPr>
              <a:t>     2012 – 39 000 m, 1342 km/h, Mach 1,24</a:t>
            </a:r>
          </a:p>
          <a:p>
            <a:r>
              <a:rPr lang="hu-HU" sz="2200" b="1" i="1" dirty="0">
                <a:latin typeface="Times New Roman" pitchFamily="18" charset="0"/>
              </a:rPr>
              <a:t> </a:t>
            </a:r>
            <a:r>
              <a:rPr lang="hu-HU" sz="2200" b="1" i="1" dirty="0" smtClean="0">
                <a:latin typeface="Times New Roman" pitchFamily="18" charset="0"/>
              </a:rPr>
              <a:t>    leghosszabb </a:t>
            </a:r>
            <a:r>
              <a:rPr lang="hu-HU" sz="2200" b="1" i="1" dirty="0" err="1" smtClean="0">
                <a:latin typeface="Times New Roman" pitchFamily="18" charset="0"/>
              </a:rPr>
              <a:t>stabernyő</a:t>
            </a:r>
            <a:r>
              <a:rPr lang="hu-HU" sz="2200" b="1" i="1" dirty="0" smtClean="0">
                <a:latin typeface="Times New Roman" pitchFamily="18" charset="0"/>
              </a:rPr>
              <a:t> nélküli </a:t>
            </a:r>
            <a:r>
              <a:rPr lang="hu-HU" sz="2200" b="1" i="1" dirty="0">
                <a:latin typeface="Times New Roman" pitchFamily="18" charset="0"/>
              </a:rPr>
              <a:t>szabadesés</a:t>
            </a:r>
          </a:p>
          <a:p>
            <a:r>
              <a:rPr lang="hu-HU" sz="2200" b="1" i="1" dirty="0">
                <a:latin typeface="Times New Roman" pitchFamily="18" charset="0"/>
              </a:rPr>
              <a:t>     legnagyobb sebesség zuhanás közben</a:t>
            </a:r>
            <a:endParaRPr lang="hu-HU" sz="2200" b="1" i="1" dirty="0" smtClean="0">
              <a:latin typeface="Times New Roman" pitchFamily="18" charset="0"/>
            </a:endParaRPr>
          </a:p>
          <a:p>
            <a:r>
              <a:rPr lang="hu-HU" sz="2200" b="1" i="1" dirty="0">
                <a:latin typeface="Times New Roman" pitchFamily="18" charset="0"/>
              </a:rPr>
              <a:t> </a:t>
            </a:r>
            <a:r>
              <a:rPr lang="hu-HU" sz="2200" b="1" i="1" dirty="0" smtClean="0">
                <a:latin typeface="Times New Roman" pitchFamily="18" charset="0"/>
              </a:rPr>
              <a:t>    </a:t>
            </a:r>
          </a:p>
          <a:p>
            <a:pPr marL="342900" indent="-342900">
              <a:buFontTx/>
              <a:buChar char="-"/>
            </a:pPr>
            <a:r>
              <a:rPr lang="hu-HU" sz="2200" b="1" i="1" dirty="0" smtClean="0">
                <a:latin typeface="Times New Roman" pitchFamily="18" charset="0"/>
              </a:rPr>
              <a:t>Alan </a:t>
            </a:r>
            <a:r>
              <a:rPr lang="hu-HU" sz="2200" b="1" i="1" dirty="0" err="1" smtClean="0">
                <a:latin typeface="Times New Roman" pitchFamily="18" charset="0"/>
              </a:rPr>
              <a:t>Eustace</a:t>
            </a:r>
            <a:endParaRPr lang="hu-HU" sz="2200" b="1" i="1" dirty="0">
              <a:latin typeface="Times New Roman" pitchFamily="18" charset="0"/>
            </a:endParaRPr>
          </a:p>
          <a:p>
            <a:r>
              <a:rPr lang="hu-HU" sz="2200" b="1" i="1" dirty="0">
                <a:latin typeface="Times New Roman" pitchFamily="18" charset="0"/>
              </a:rPr>
              <a:t> </a:t>
            </a:r>
            <a:r>
              <a:rPr lang="hu-HU" sz="2200" b="1" i="1" dirty="0" smtClean="0">
                <a:latin typeface="Times New Roman" pitchFamily="18" charset="0"/>
              </a:rPr>
              <a:t>    2014 – 41 400 m </a:t>
            </a:r>
            <a:r>
              <a:rPr lang="hu-HU" sz="2200" b="1" i="1" dirty="0" err="1" smtClean="0">
                <a:latin typeface="Times New Roman" pitchFamily="18" charset="0"/>
              </a:rPr>
              <a:t>stabernyővel</a:t>
            </a:r>
            <a:endParaRPr lang="hu-HU" sz="2200" b="1" i="1" dirty="0" smtClean="0">
              <a:latin typeface="Times New Roman" pitchFamily="18" charset="0"/>
            </a:endParaRPr>
          </a:p>
          <a:p>
            <a:r>
              <a:rPr lang="hu-HU" sz="2200" b="1" i="1" dirty="0">
                <a:latin typeface="Times New Roman" pitchFamily="18" charset="0"/>
              </a:rPr>
              <a:t> </a:t>
            </a:r>
            <a:r>
              <a:rPr lang="hu-HU" sz="2200" b="1" i="1" dirty="0" smtClean="0">
                <a:latin typeface="Times New Roman" pitchFamily="18" charset="0"/>
              </a:rPr>
              <a:t>    legnagyobb magasságról történő ugrás</a:t>
            </a:r>
          </a:p>
        </p:txBody>
      </p:sp>
      <p:sp>
        <p:nvSpPr>
          <p:cNvPr id="3" name="AutoShape 2" descr="https://upload.wikimedia.org/wikipedia/ru/5/5a/%D0%90%D0%BD%D0%B4%D1%80%D0%B5%D0%B5%D0%B2,_%D0%95%D0%B2%D0%B3%D0%B5%D0%BD%D0%B8%D0%B9_%D0%9D%D0%B8%D0%BA%D0%BE%D0%BB%D0%B0%D0%B5%D0%B2%D0%B8%D1%87_(%D0%BF%D0%B0%D1%80%D0%B0%D1%88%D1%8E%D1%82%D0%B8%D1%81%D1%82)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1028" name="Picture 4" descr="https://upload.wikimedia.org/wikipedia/ru/5/5a/%D0%90%D0%BD%D0%B4%D1%80%D0%B5%D0%B5%D0%B2,_%D0%95%D0%B2%D0%B3%D0%B5%D0%BD%D0%B8%D0%B9_%D0%9D%D0%B8%D0%BA%D0%BE%D0%BB%D0%B0%D0%B5%D0%B2%D0%B8%D1%87_(%D0%BF%D0%B0%D1%80%D0%B0%D1%88%D1%8E%D1%82%D0%B8%D1%81%D1%82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738188"/>
            <a:ext cx="1424029" cy="197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282" y="2924944"/>
            <a:ext cx="2886075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 descr="Alan Eustace in 2008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99"/>
          <a:stretch/>
        </p:blipFill>
        <p:spPr bwMode="auto">
          <a:xfrm>
            <a:off x="6062282" y="5085184"/>
            <a:ext cx="1524000" cy="16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57114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chemeClr val="bg1"/>
                </a:solidFill>
                <a:latin typeface="Times New Roman" pitchFamily="18" charset="0"/>
              </a:rPr>
              <a:t>A </a:t>
            </a:r>
            <a:r>
              <a:rPr lang="hu-HU" sz="4000" b="1" dirty="0" smtClean="0">
                <a:solidFill>
                  <a:schemeClr val="bg1"/>
                </a:solidFill>
                <a:latin typeface="Times New Roman" pitchFamily="18" charset="0"/>
              </a:rPr>
              <a:t>napsugárzás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0" y="908050"/>
            <a:ext cx="91440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a Napból érkező elektromágneses sugárzás nagy </a:t>
            </a:r>
            <a:r>
              <a:rPr lang="hu-HU" sz="2500" b="1" dirty="0" err="1">
                <a:solidFill>
                  <a:schemeClr val="bg1"/>
                </a:solidFill>
                <a:latin typeface="Times New Roman" pitchFamily="18" charset="0"/>
              </a:rPr>
              <a:t>fontossággú</a:t>
            </a:r>
            <a:endParaRPr lang="hu-HU" sz="2500" b="1" dirty="0">
              <a:solidFill>
                <a:schemeClr val="bg1"/>
              </a:solidFill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"légkör motorja„</a:t>
            </a:r>
          </a:p>
          <a:p>
            <a:pPr>
              <a:buFontTx/>
              <a:buChar char="•"/>
            </a:pP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különböző hullámhosszú sugárzásból tevődik össze</a:t>
            </a:r>
          </a:p>
          <a:p>
            <a:pPr>
              <a:buFontTx/>
              <a:buChar char="•"/>
            </a:pP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a sugárzás erőssége a különböző </a:t>
            </a: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hullámhosszokon 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más és más</a:t>
            </a:r>
          </a:p>
          <a:p>
            <a:pPr>
              <a:buFontTx/>
              <a:buChar char="•"/>
            </a:pPr>
            <a:r>
              <a:rPr lang="hu-HU" sz="2500" b="1" i="1" dirty="0" smtClean="0">
                <a:solidFill>
                  <a:schemeClr val="bg1"/>
                </a:solidFill>
              </a:rPr>
              <a:t>Napállandó:</a:t>
            </a: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a légkör felső határán 1 </a:t>
            </a: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m</a:t>
            </a:r>
            <a:r>
              <a:rPr lang="hu-HU" sz="2500" b="1" baseline="30000" dirty="0" smtClean="0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-re 1360 W teljesítmény esik másodpercenként merőlegesen beeső sugarak esetén</a:t>
            </a:r>
            <a:endParaRPr lang="hu-HU" sz="2500" b="1" dirty="0">
              <a:solidFill>
                <a:schemeClr val="bg1"/>
              </a:solidFill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visszaverődik, elnyelődik, szóródik a felhőkön, gázmolekulákon, felszínen </a:t>
            </a:r>
          </a:p>
          <a:p>
            <a:pPr>
              <a:buFontTx/>
              <a:buChar char="•"/>
            </a:pP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a felszínen elnyelt sugárzás kevesebb, mint fele a légkör tetejére érkező sugárzásnak</a:t>
            </a:r>
          </a:p>
          <a:p>
            <a:pPr>
              <a:buFontTx/>
              <a:buChar char="•"/>
            </a:pP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az elnyelt sugárzástól a felszín felmelegszik</a:t>
            </a:r>
          </a:p>
          <a:p>
            <a:pPr>
              <a:buFontTx/>
              <a:buChar char="•"/>
            </a:pP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A levegő felmelegedése alulról történik, ami azt jelenti, hogy a felszín melegíti fel a fölötte elhelyezkedő levegőt</a:t>
            </a:r>
          </a:p>
          <a:p>
            <a:pPr>
              <a:buFontTx/>
              <a:buChar char="•"/>
            </a:pP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a levegő saját sugárzáselnyelő hatása miatti felmelegedése kicsi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68313" y="188913"/>
            <a:ext cx="8229600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chemeClr val="bg1"/>
                </a:solidFill>
                <a:latin typeface="Times New Roman" pitchFamily="18" charset="0"/>
              </a:rPr>
              <a:t>A </a:t>
            </a:r>
            <a:r>
              <a:rPr lang="hu-HU" sz="4000" b="1" dirty="0" smtClean="0">
                <a:solidFill>
                  <a:schemeClr val="bg1"/>
                </a:solidFill>
                <a:latin typeface="Times New Roman" pitchFamily="18" charset="0"/>
              </a:rPr>
              <a:t>napsugárzás</a:t>
            </a:r>
            <a:endParaRPr lang="hu-HU" dirty="0"/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0" y="1124744"/>
            <a:ext cx="9144000" cy="515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hu-HU" sz="2800" b="1" dirty="0" smtClean="0">
                <a:solidFill>
                  <a:schemeClr val="bg1"/>
                </a:solidFill>
                <a:latin typeface="Times New Roman" pitchFamily="18" charset="0"/>
              </a:rPr>
              <a:t>A </a:t>
            </a:r>
            <a:r>
              <a:rPr lang="hu-HU" sz="2800" b="1" dirty="0">
                <a:solidFill>
                  <a:schemeClr val="bg1"/>
                </a:solidFill>
                <a:latin typeface="Times New Roman" pitchFamily="18" charset="0"/>
              </a:rPr>
              <a:t>felmelegedés mértéke több tényezőtől </a:t>
            </a:r>
            <a:r>
              <a:rPr lang="hu-HU" sz="2800" b="1" dirty="0" smtClean="0">
                <a:solidFill>
                  <a:schemeClr val="bg1"/>
                </a:solidFill>
                <a:latin typeface="Times New Roman" pitchFamily="18" charset="0"/>
              </a:rPr>
              <a:t>függ:</a:t>
            </a:r>
            <a:endParaRPr lang="hu-HU" sz="2800" b="1" dirty="0">
              <a:solidFill>
                <a:schemeClr val="bg1"/>
              </a:solidFill>
              <a:latin typeface="Times New Roman" pitchFamily="18" charset="0"/>
            </a:endParaRPr>
          </a:p>
          <a:p>
            <a:endParaRPr lang="hu-HU" sz="3000" b="1" dirty="0">
              <a:solidFill>
                <a:schemeClr val="bg1"/>
              </a:solidFill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 a 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beeső sugárzás intenzitásától</a:t>
            </a:r>
          </a:p>
          <a:p>
            <a:pPr lvl="1">
              <a:buFontTx/>
              <a:buChar char="•"/>
            </a:pP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 a 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besugárzás időtartamától</a:t>
            </a:r>
          </a:p>
          <a:p>
            <a:pPr lvl="1">
              <a:buFontTx/>
              <a:buChar char="•"/>
            </a:pP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 a 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napsugárzás beesési szögétől</a:t>
            </a:r>
          </a:p>
          <a:p>
            <a:pPr lvl="1">
              <a:buFontTx/>
              <a:buChar char="•"/>
            </a:pP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 a 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felhőzet mennyiségétől</a:t>
            </a:r>
          </a:p>
          <a:p>
            <a:pPr lvl="1">
              <a:buFontTx/>
              <a:buChar char="•"/>
            </a:pP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 a 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légáramlás sebességétől</a:t>
            </a:r>
          </a:p>
          <a:p>
            <a:pPr lvl="1">
              <a:buFontTx/>
              <a:buChar char="•"/>
            </a:pP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 a 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domborzattól </a:t>
            </a: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lang="hu-HU" sz="2500" b="1" dirty="0" err="1" smtClean="0">
                <a:solidFill>
                  <a:schemeClr val="bg1"/>
                </a:solidFill>
                <a:latin typeface="Times New Roman" pitchFamily="18" charset="0"/>
              </a:rPr>
              <a:t>albedó</a:t>
            </a: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)</a:t>
            </a:r>
          </a:p>
          <a:p>
            <a:pPr lvl="1">
              <a:buFontTx/>
              <a:buChar char="•"/>
            </a:pPr>
            <a:endParaRPr lang="hu-HU" sz="2500" b="1" dirty="0">
              <a:solidFill>
                <a:schemeClr val="bg1"/>
              </a:solidFill>
              <a:latin typeface="Times New Roman" pitchFamily="18" charset="0"/>
            </a:endParaRPr>
          </a:p>
          <a:p>
            <a:pPr lvl="1"/>
            <a:r>
              <a:rPr lang="hu-H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 </a:t>
            </a:r>
            <a:r>
              <a:rPr lang="hu-HU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albedó</a:t>
            </a:r>
            <a:r>
              <a:rPr lang="hu-H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egy felületre érkező </a:t>
            </a:r>
            <a:r>
              <a:rPr lang="hu-HU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hu-HU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elektromágneses </a:t>
            </a:r>
            <a:r>
              <a:rPr lang="hu-H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sugarak </a:t>
            </a:r>
            <a:r>
              <a:rPr lang="hu-HU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hu-HU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visszaverődési </a:t>
            </a:r>
            <a:r>
              <a:rPr lang="hu-H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képességének </a:t>
            </a:r>
            <a:r>
              <a:rPr lang="hu-HU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hu-HU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mérőszáma.</a:t>
            </a:r>
            <a:endParaRPr lang="hu-HU" sz="25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pic>
        <p:nvPicPr>
          <p:cNvPr id="17415" name="Picture 7" descr="Vágólap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24128" y="2852936"/>
            <a:ext cx="3342696" cy="396044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chemeClr val="bg1"/>
                </a:solidFill>
                <a:latin typeface="Times New Roman" pitchFamily="18" charset="0"/>
              </a:rPr>
              <a:t>A </a:t>
            </a:r>
            <a:r>
              <a:rPr lang="hu-HU" sz="4000" b="1" dirty="0" smtClean="0">
                <a:solidFill>
                  <a:schemeClr val="bg1"/>
                </a:solidFill>
                <a:latin typeface="Times New Roman" pitchFamily="18" charset="0"/>
              </a:rPr>
              <a:t>napsugárzás</a:t>
            </a:r>
            <a:endParaRPr lang="hu-HU" dirty="0"/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0" y="908050"/>
            <a:ext cx="9144000" cy="432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A napsugárzás veszélyeket is hordoz, melyeket a repülőtéren való tartózkodás során igyekeznünk kell elkerülni. </a:t>
            </a:r>
          </a:p>
          <a:p>
            <a:endParaRPr lang="hu-HU" sz="2500" b="1" dirty="0" smtClean="0">
              <a:solidFill>
                <a:schemeClr val="bg1"/>
              </a:solidFill>
              <a:latin typeface="Times New Roman" pitchFamily="18" charset="0"/>
            </a:endParaRPr>
          </a:p>
          <a:p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Kerülni 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kell a </a:t>
            </a: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:</a:t>
            </a:r>
            <a:endParaRPr lang="hu-HU" sz="2500" b="1" dirty="0">
              <a:solidFill>
                <a:schemeClr val="bg1"/>
              </a:solidFill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hu-HU" sz="2500" b="1" i="1" dirty="0">
                <a:solidFill>
                  <a:schemeClr val="bg1"/>
                </a:solidFill>
                <a:latin typeface="Times New Roman" pitchFamily="18" charset="0"/>
              </a:rPr>
              <a:t>Leégést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 - fényvédő kenőcs, világos ruha viselésével, a magasság növekedésével, a tiszta levegőben még jobban leéghetünk, a hóról, jégről, vízfelszínről visszaverődő nagy mennyiségű napsugárzás is fokozhatja a leégést. </a:t>
            </a:r>
          </a:p>
          <a:p>
            <a:pPr>
              <a:buFontTx/>
              <a:buChar char="•"/>
            </a:pPr>
            <a:r>
              <a:rPr lang="hu-HU" sz="2500" b="1" i="1" dirty="0">
                <a:solidFill>
                  <a:schemeClr val="bg1"/>
                </a:solidFill>
                <a:latin typeface="Times New Roman" pitchFamily="18" charset="0"/>
              </a:rPr>
              <a:t>Napszúrást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 - fehér vászonsapka viselésével, a fejfedőnket be is vizezzük, akkor az a párolgás révén hűti a fejet. </a:t>
            </a:r>
          </a:p>
          <a:p>
            <a:pPr>
              <a:buFontTx/>
              <a:buChar char="•"/>
            </a:pPr>
            <a:r>
              <a:rPr lang="hu-HU" sz="2500" b="1" i="1" dirty="0">
                <a:solidFill>
                  <a:schemeClr val="bg1"/>
                </a:solidFill>
                <a:latin typeface="Times New Roman" pitchFamily="18" charset="0"/>
              </a:rPr>
              <a:t>Pillanatnyi vakság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 - védőszemüveggel </a:t>
            </a: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védekezhetünk</a:t>
            </a:r>
            <a:endParaRPr lang="hu-HU" sz="25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pic>
        <p:nvPicPr>
          <p:cNvPr id="20486" name="Picture 6" descr="rayba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5258608"/>
            <a:ext cx="2644775" cy="1364442"/>
          </a:xfrm>
          <a:prstGeom prst="rect">
            <a:avLst/>
          </a:prstGeom>
          <a:noFill/>
        </p:spPr>
      </p:pic>
      <p:pic>
        <p:nvPicPr>
          <p:cNvPr id="20487" name="Picture 7" descr="logora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02113" y="6165850"/>
            <a:ext cx="762000" cy="45720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chemeClr val="bg1"/>
                </a:solidFill>
                <a:latin typeface="Times New Roman" pitchFamily="18" charset="0"/>
              </a:rPr>
              <a:t>A légkör </a:t>
            </a:r>
            <a:r>
              <a:rPr lang="hu-HU" sz="4000" b="1" dirty="0" smtClean="0">
                <a:solidFill>
                  <a:schemeClr val="bg1"/>
                </a:solidFill>
                <a:latin typeface="Times New Roman" pitchFamily="18" charset="0"/>
              </a:rPr>
              <a:t>hőmérséklete</a:t>
            </a:r>
            <a:endParaRPr lang="hu-HU" dirty="0"/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323528" y="1484313"/>
            <a:ext cx="8496944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- a légkör alulról melegszik fel</a:t>
            </a:r>
          </a:p>
          <a:p>
            <a:pPr>
              <a:buFontTx/>
              <a:buChar char="-"/>
            </a:pP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 függőleges légáramlások</a:t>
            </a:r>
          </a:p>
          <a:p>
            <a:pPr>
              <a:buFontTx/>
              <a:buChar char="-"/>
            </a:pP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 a troposzférában a légkör alulról történő melegedése okozza a hőmérséklet magassággal történő csökkenését</a:t>
            </a:r>
          </a:p>
          <a:p>
            <a:pPr>
              <a:buFontTx/>
              <a:buChar char="-"/>
            </a:pP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1000 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méterenként </a:t>
            </a:r>
            <a:r>
              <a:rPr lang="hu-HU" sz="2500" b="1" dirty="0" smtClean="0">
                <a:solidFill>
                  <a:schemeClr val="bg1"/>
                </a:solidFill>
                <a:latin typeface="Times New Roman" pitchFamily="18" charset="0"/>
              </a:rPr>
              <a:t>6,5 </a:t>
            </a:r>
            <a:r>
              <a:rPr lang="hu-HU" sz="2500" b="1" baseline="30000" dirty="0" err="1">
                <a:solidFill>
                  <a:schemeClr val="bg1"/>
                </a:solidFill>
                <a:latin typeface="Times New Roman" pitchFamily="18" charset="0"/>
              </a:rPr>
              <a:t>o</a:t>
            </a:r>
            <a:r>
              <a:rPr lang="hu-HU" sz="2500" b="1" dirty="0" err="1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 (2 </a:t>
            </a:r>
            <a:r>
              <a:rPr lang="hu-HU" sz="2500" b="1" baseline="30000" dirty="0" err="1">
                <a:solidFill>
                  <a:schemeClr val="bg1"/>
                </a:solidFill>
                <a:latin typeface="Times New Roman" pitchFamily="18" charset="0"/>
              </a:rPr>
              <a:t>o</a:t>
            </a:r>
            <a:r>
              <a:rPr lang="hu-HU" sz="2500" b="1" dirty="0" err="1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 / 300 m), amitől jelentős eltérések is adódhatnak</a:t>
            </a:r>
          </a:p>
          <a:p>
            <a:pPr>
              <a:buFontTx/>
              <a:buChar char="-"/>
            </a:pPr>
            <a:r>
              <a:rPr lang="hu-HU" sz="2500" b="1" dirty="0">
                <a:solidFill>
                  <a:schemeClr val="bg1"/>
                </a:solidFill>
                <a:latin typeface="Times New Roman" pitchFamily="18" charset="0"/>
              </a:rPr>
              <a:t> a fagyhatár a földrajzi szélesség, az évszak és az időjárási helyzet függvénye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chemeClr val="bg1"/>
                </a:solidFill>
                <a:latin typeface="Times New Roman" pitchFamily="18" charset="0"/>
              </a:rPr>
              <a:t>A légkör </a:t>
            </a:r>
            <a:r>
              <a:rPr lang="hu-HU" sz="4000" b="1" dirty="0" smtClean="0">
                <a:solidFill>
                  <a:schemeClr val="bg1"/>
                </a:solidFill>
                <a:latin typeface="Times New Roman" pitchFamily="18" charset="0"/>
              </a:rPr>
              <a:t>hőmérséklete</a:t>
            </a:r>
            <a:endParaRPr lang="hu-HU" dirty="0"/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595491" y="1196752"/>
            <a:ext cx="8137525" cy="433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hu-HU" sz="2300" b="1" dirty="0" smtClean="0">
                <a:solidFill>
                  <a:schemeClr val="bg1"/>
                </a:solidFill>
                <a:latin typeface="Times New Roman" pitchFamily="18" charset="0"/>
              </a:rPr>
              <a:t>Inverzió, az a jelenség mikor a magasabban lévő levegő melegebb, míg a földfelszínhez közelebb lévő hidegebb.</a:t>
            </a:r>
            <a:endParaRPr lang="hu-HU" sz="2300" b="1" dirty="0">
              <a:solidFill>
                <a:schemeClr val="bg1"/>
              </a:solidFill>
              <a:latin typeface="Times New Roman" pitchFamily="18" charset="0"/>
            </a:endParaRPr>
          </a:p>
          <a:p>
            <a:r>
              <a:rPr lang="hu-HU" sz="2300" b="1" i="1" dirty="0">
                <a:solidFill>
                  <a:schemeClr val="bg1"/>
                </a:solidFill>
                <a:latin typeface="Times New Roman" pitchFamily="18" charset="0"/>
              </a:rPr>
              <a:t>	</a:t>
            </a:r>
            <a:r>
              <a:rPr lang="hu-HU" sz="2300" b="1" dirty="0">
                <a:solidFill>
                  <a:schemeClr val="bg1"/>
                </a:solidFill>
                <a:latin typeface="Times New Roman" pitchFamily="18" charset="0"/>
              </a:rPr>
              <a:t>F</a:t>
            </a:r>
            <a:r>
              <a:rPr lang="hu-HU" sz="2300" b="1" dirty="0" smtClean="0">
                <a:solidFill>
                  <a:schemeClr val="bg1"/>
                </a:solidFill>
                <a:latin typeface="Times New Roman" pitchFamily="18" charset="0"/>
              </a:rPr>
              <a:t>eltétele</a:t>
            </a:r>
            <a:r>
              <a:rPr lang="hu-HU" sz="2300" b="1" dirty="0">
                <a:solidFill>
                  <a:schemeClr val="bg1"/>
                </a:solidFill>
                <a:latin typeface="Times New Roman" pitchFamily="18" charset="0"/>
              </a:rPr>
              <a:t>:</a:t>
            </a:r>
          </a:p>
          <a:p>
            <a:r>
              <a:rPr lang="hu-HU" sz="2300" b="1" dirty="0">
                <a:solidFill>
                  <a:schemeClr val="bg1"/>
                </a:solidFill>
                <a:latin typeface="Times New Roman" pitchFamily="18" charset="0"/>
              </a:rPr>
              <a:t>		- a szélcsend </a:t>
            </a:r>
          </a:p>
          <a:p>
            <a:r>
              <a:rPr lang="hu-HU" sz="2300" b="1" dirty="0">
                <a:solidFill>
                  <a:schemeClr val="bg1"/>
                </a:solidFill>
                <a:latin typeface="Times New Roman" pitchFamily="18" charset="0"/>
              </a:rPr>
              <a:t>		- a derült, felhőtlen éjszaka</a:t>
            </a:r>
          </a:p>
          <a:p>
            <a:r>
              <a:rPr lang="hu-HU" sz="2300" b="1" dirty="0">
                <a:solidFill>
                  <a:schemeClr val="bg1"/>
                </a:solidFill>
                <a:latin typeface="Times New Roman" pitchFamily="18" charset="0"/>
              </a:rPr>
              <a:t>	- a földfelszínről a kisugárzás nagy, emiatt a felszín 	közelében nagy a lehűlés</a:t>
            </a:r>
          </a:p>
          <a:p>
            <a:r>
              <a:rPr lang="hu-HU" sz="2300" b="1" dirty="0">
                <a:solidFill>
                  <a:schemeClr val="bg1"/>
                </a:solidFill>
                <a:latin typeface="Times New Roman" pitchFamily="18" charset="0"/>
              </a:rPr>
              <a:t>	- ha napnyugtakor nincs szél és derült az ég akkor a 	magasabban fekvő területek melegebbek</a:t>
            </a:r>
          </a:p>
          <a:p>
            <a:r>
              <a:rPr lang="hu-HU" sz="2300" b="1" dirty="0">
                <a:solidFill>
                  <a:schemeClr val="bg1"/>
                </a:solidFill>
                <a:latin typeface="Times New Roman" pitchFamily="18" charset="0"/>
              </a:rPr>
              <a:t>	- az inverzió a nappali felmelegedés és megerősödő szél 	hatására a következő nap délelőttjén rendszerint 	feloszlik 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708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hu-HU"/>
          </a:p>
        </p:txBody>
      </p:sp>
      <p:pic>
        <p:nvPicPr>
          <p:cNvPr id="22537" name="Picture 9" descr="inverkep"/>
          <p:cNvPicPr>
            <a:picLocks noChangeAspect="1" noChangeArrowheads="1"/>
          </p:cNvPicPr>
          <p:nvPr/>
        </p:nvPicPr>
        <p:blipFill rotWithShape="1">
          <a:blip r:embed="rId3" cstate="print"/>
          <a:srcRect l="10100" t="57867" r="10500" b="12145"/>
          <a:stretch/>
        </p:blipFill>
        <p:spPr bwMode="auto">
          <a:xfrm>
            <a:off x="4086999" y="5155999"/>
            <a:ext cx="3538265" cy="1617493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latin typeface="Times New Roman" pitchFamily="18" charset="0"/>
              </a:rPr>
              <a:t>A </a:t>
            </a:r>
            <a:r>
              <a:rPr lang="hu-HU" sz="4000" b="1" dirty="0" smtClean="0">
                <a:latin typeface="Times New Roman" pitchFamily="18" charset="0"/>
              </a:rPr>
              <a:t>légnyomás</a:t>
            </a:r>
            <a:endParaRPr lang="hu-HU" dirty="0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0" y="765175"/>
            <a:ext cx="9144000" cy="5847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hu-HU" sz="2200" b="1" i="1" dirty="0">
                <a:latin typeface="Times New Roman" pitchFamily="18" charset="0"/>
              </a:rPr>
              <a:t>A légnyomás a</a:t>
            </a:r>
            <a:r>
              <a:rPr lang="hu-HU" sz="2200" b="1" dirty="0">
                <a:latin typeface="Times New Roman" pitchFamily="18" charset="0"/>
              </a:rPr>
              <a:t> gravitáció következménye, a felszínen mérhető légnyomás az adott légoszlopban az egymás fölötti gázmolekulák súlya. </a:t>
            </a:r>
          </a:p>
          <a:p>
            <a:endParaRPr lang="hu-HU" sz="2200" b="1" dirty="0">
              <a:latin typeface="Times New Roman" pitchFamily="18" charset="0"/>
            </a:endParaRPr>
          </a:p>
          <a:p>
            <a:r>
              <a:rPr lang="hu-HU" sz="2200" b="1" dirty="0" smtClean="0">
                <a:latin typeface="Times New Roman" pitchFamily="18" charset="0"/>
              </a:rPr>
              <a:t>Mérésére </a:t>
            </a:r>
            <a:r>
              <a:rPr lang="hu-HU" sz="2200" b="1" dirty="0">
                <a:latin typeface="Times New Roman" pitchFamily="18" charset="0"/>
              </a:rPr>
              <a:t>a barométert használunk aminek két nagy típusa van:</a:t>
            </a:r>
          </a:p>
          <a:p>
            <a:r>
              <a:rPr lang="hu-HU" sz="2200" b="1" dirty="0">
                <a:latin typeface="Times New Roman" pitchFamily="18" charset="0"/>
              </a:rPr>
              <a:t>	- a </a:t>
            </a:r>
            <a:r>
              <a:rPr lang="hu-HU" sz="2200" b="1" dirty="0" smtClean="0">
                <a:latin typeface="Times New Roman" pitchFamily="18" charset="0"/>
              </a:rPr>
              <a:t>higanyos: egy </a:t>
            </a:r>
            <a:r>
              <a:rPr lang="hu-HU" sz="2200" b="1" dirty="0">
                <a:latin typeface="Times New Roman" pitchFamily="18" charset="0"/>
              </a:rPr>
              <a:t>zárt </a:t>
            </a:r>
            <a:r>
              <a:rPr lang="hu-HU" sz="2200" b="1" dirty="0" smtClean="0">
                <a:latin typeface="Times New Roman" pitchFamily="18" charset="0"/>
              </a:rPr>
              <a:t>üvegcsőben a higanyoszlop </a:t>
            </a:r>
            <a:r>
              <a:rPr lang="hu-HU" sz="2200" b="1" dirty="0">
                <a:latin typeface="Times New Roman" pitchFamily="18" charset="0"/>
              </a:rPr>
              <a:t>súlya 	egyensúlyt tart a légnyomással. Innen ered a mértékegysége a 	higanymilliméter (Hgmm) </a:t>
            </a:r>
          </a:p>
          <a:p>
            <a:r>
              <a:rPr lang="hu-HU" sz="2200" b="1" dirty="0">
                <a:latin typeface="Times New Roman" pitchFamily="18" charset="0"/>
              </a:rPr>
              <a:t>	- a fémszelencés (</a:t>
            </a:r>
            <a:r>
              <a:rPr lang="hu-HU" sz="2200" b="1" dirty="0" smtClean="0">
                <a:latin typeface="Times New Roman" pitchFamily="18" charset="0"/>
              </a:rPr>
              <a:t>aneroid): </a:t>
            </a:r>
            <a:r>
              <a:rPr lang="hu-HU" sz="2200" b="1" dirty="0">
                <a:latin typeface="Times New Roman" pitchFamily="18" charset="0"/>
              </a:rPr>
              <a:t>egy légüres fémdoboz, ami a külső 	légnyomástól függően változtatja a kiterjedését, magasabb 	légnyomás esetén jobban behorpad, mint alacsonyabb 	légnyomásnál. Ezt az alakváltozást egy rugón és különböző 	áttételeken keresztül a szelencéhez kapcsolt mutató </a:t>
            </a:r>
            <a:r>
              <a:rPr lang="hu-HU" sz="2200" b="1" dirty="0" smtClean="0">
                <a:latin typeface="Times New Roman" pitchFamily="18" charset="0"/>
              </a:rPr>
              <a:t>mutatja.</a:t>
            </a:r>
            <a:endParaRPr lang="hu-HU" sz="2200" b="1" dirty="0">
              <a:latin typeface="Times New Roman" pitchFamily="18" charset="0"/>
            </a:endParaRPr>
          </a:p>
          <a:p>
            <a:endParaRPr lang="hu-HU" sz="2200" b="1" dirty="0">
              <a:latin typeface="Times New Roman" pitchFamily="18" charset="0"/>
            </a:endParaRPr>
          </a:p>
          <a:p>
            <a:pPr>
              <a:buFontTx/>
              <a:buChar char="-"/>
            </a:pPr>
            <a:r>
              <a:rPr lang="hu-HU" sz="2200" b="1" dirty="0">
                <a:latin typeface="Times New Roman" pitchFamily="18" charset="0"/>
              </a:rPr>
              <a:t>mértékegységei:</a:t>
            </a:r>
          </a:p>
          <a:p>
            <a:pPr lvl="1">
              <a:buFontTx/>
              <a:buChar char="-"/>
            </a:pPr>
            <a:r>
              <a:rPr lang="hu-HU" sz="2200" b="1" dirty="0">
                <a:latin typeface="Times New Roman" pitchFamily="18" charset="0"/>
              </a:rPr>
              <a:t> régen: millibar (</a:t>
            </a:r>
            <a:r>
              <a:rPr lang="hu-HU" sz="2200" b="1" dirty="0" err="1">
                <a:latin typeface="Times New Roman" pitchFamily="18" charset="0"/>
              </a:rPr>
              <a:t>mb</a:t>
            </a:r>
            <a:r>
              <a:rPr lang="hu-HU" sz="2200" b="1" dirty="0">
                <a:latin typeface="Times New Roman" pitchFamily="18" charset="0"/>
              </a:rPr>
              <a:t>) volt</a:t>
            </a:r>
          </a:p>
          <a:p>
            <a:pPr lvl="1">
              <a:buFontTx/>
              <a:buChar char="-"/>
            </a:pPr>
            <a:r>
              <a:rPr lang="hu-HU" sz="2200" b="1" dirty="0">
                <a:latin typeface="Times New Roman" pitchFamily="18" charset="0"/>
              </a:rPr>
              <a:t> ma: </a:t>
            </a:r>
            <a:r>
              <a:rPr lang="hu-HU" sz="2200" b="1" dirty="0" err="1">
                <a:latin typeface="Times New Roman" pitchFamily="18" charset="0"/>
              </a:rPr>
              <a:t>hectopascal</a:t>
            </a:r>
            <a:r>
              <a:rPr lang="hu-HU" sz="2200" b="1" dirty="0">
                <a:latin typeface="Times New Roman" pitchFamily="18" charset="0"/>
              </a:rPr>
              <a:t> (hPa)</a:t>
            </a:r>
          </a:p>
          <a:p>
            <a:pPr lvl="1">
              <a:buFontTx/>
              <a:buChar char="-"/>
            </a:pPr>
            <a:r>
              <a:rPr lang="hu-HU" sz="2200" b="1" dirty="0">
                <a:latin typeface="Times New Roman" pitchFamily="18" charset="0"/>
              </a:rPr>
              <a:t> 1 hPa = 1 </a:t>
            </a:r>
            <a:r>
              <a:rPr lang="hu-HU" sz="2200" b="1" dirty="0" err="1">
                <a:latin typeface="Times New Roman" pitchFamily="18" charset="0"/>
              </a:rPr>
              <a:t>mb</a:t>
            </a:r>
            <a:r>
              <a:rPr lang="hu-HU" sz="2200" b="1" dirty="0">
                <a:latin typeface="Times New Roman" pitchFamily="18" charset="0"/>
              </a:rPr>
              <a:t>, </a:t>
            </a:r>
            <a:r>
              <a:rPr lang="hu-HU" sz="2200" b="1" dirty="0" err="1">
                <a:latin typeface="Times New Roman" pitchFamily="18" charset="0"/>
              </a:rPr>
              <a:t>1</a:t>
            </a:r>
            <a:r>
              <a:rPr lang="hu-HU" sz="2200" b="1" dirty="0">
                <a:latin typeface="Times New Roman" pitchFamily="18" charset="0"/>
              </a:rPr>
              <a:t> hPa = </a:t>
            </a:r>
            <a:r>
              <a:rPr lang="hu-HU" sz="2200" b="1" dirty="0" smtClean="0">
                <a:latin typeface="Times New Roman" pitchFamily="18" charset="0"/>
              </a:rPr>
              <a:t>3/4 </a:t>
            </a:r>
            <a:r>
              <a:rPr lang="hu-HU" sz="2200" b="1" dirty="0">
                <a:latin typeface="Times New Roman" pitchFamily="18" charset="0"/>
              </a:rPr>
              <a:t>Hgmm. 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latin typeface="Times New Roman" pitchFamily="18" charset="0"/>
              </a:rPr>
              <a:t>A </a:t>
            </a:r>
            <a:r>
              <a:rPr lang="hu-HU" sz="4000" b="1" dirty="0" smtClean="0">
                <a:latin typeface="Times New Roman" pitchFamily="18" charset="0"/>
              </a:rPr>
              <a:t>légnyomás</a:t>
            </a:r>
            <a:endParaRPr lang="hu-HU" dirty="0"/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0" y="908050"/>
            <a:ext cx="9144000" cy="444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hu-HU" sz="2200" b="1">
              <a:latin typeface="Times New Roman" pitchFamily="18" charset="0"/>
            </a:endParaRPr>
          </a:p>
          <a:p>
            <a:r>
              <a:rPr lang="hu-HU" sz="2200" b="1">
                <a:latin typeface="Times New Roman" pitchFamily="18" charset="0"/>
              </a:rPr>
              <a:t>A légkörben felfelé haladva a légnyomás csökken, de ez a csökkenés nem egyenletes, mert egyrészt egyre vékonyabb légréteg van fölöttünk, másrészt a levegő is egyre ritkább. A légnyomás a tengerszinten átlagosan 1013 hPa, 5500 méteren ennek már csak körülbelül a fele (500 hPa), 11000 méteren pedig negyede (250 hPa).</a:t>
            </a:r>
          </a:p>
          <a:p>
            <a:endParaRPr lang="hu-HU" sz="2200" b="1">
              <a:latin typeface="Times New Roman" pitchFamily="18" charset="0"/>
            </a:endParaRPr>
          </a:p>
          <a:p>
            <a:r>
              <a:rPr lang="hu-HU" sz="2200" b="1" i="1">
                <a:latin typeface="Times New Roman" pitchFamily="18" charset="0"/>
              </a:rPr>
              <a:t>Akklimatizációnak</a:t>
            </a:r>
            <a:r>
              <a:rPr lang="hu-HU" sz="2200" b="1">
                <a:latin typeface="Times New Roman" pitchFamily="18" charset="0"/>
              </a:rPr>
              <a:t> -&gt; </a:t>
            </a:r>
            <a:r>
              <a:rPr lang="hu-HU" sz="2200" b="1" i="1">
                <a:latin typeface="Times New Roman" pitchFamily="18" charset="0"/>
              </a:rPr>
              <a:t>hegyi betegség</a:t>
            </a:r>
          </a:p>
          <a:p>
            <a:endParaRPr lang="hu-HU" sz="2200" b="1">
              <a:latin typeface="Times New Roman" pitchFamily="18" charset="0"/>
            </a:endParaRPr>
          </a:p>
          <a:p>
            <a:r>
              <a:rPr lang="hu-HU" sz="2200" b="1">
                <a:latin typeface="Times New Roman" pitchFamily="18" charset="0"/>
              </a:rPr>
              <a:t>A repülésben a magasságmérés is a légnyomásmérésen alapul, a repülőgépekben használt magasságmérők tulajdonképpen barométerek. Így a magasságmérővel követhetjük a légnyomás időbeli változását is, ami az időjárásváltozás előrejelzése szempontjából lényeges. 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36513" y="1125538"/>
            <a:ext cx="91440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-"/>
            </a:pPr>
            <a:r>
              <a:rPr lang="hu-HU" sz="2200" b="1" dirty="0">
                <a:latin typeface="Times New Roman" pitchFamily="18" charset="0"/>
              </a:rPr>
              <a:t> a légkör állandó mozgásban van</a:t>
            </a:r>
          </a:p>
          <a:p>
            <a:pPr>
              <a:buFontTx/>
              <a:buChar char="-"/>
            </a:pPr>
            <a:r>
              <a:rPr lang="hu-HU" sz="2200" b="1" dirty="0">
                <a:latin typeface="Times New Roman" pitchFamily="18" charset="0"/>
              </a:rPr>
              <a:t> ritka eset, </a:t>
            </a:r>
            <a:r>
              <a:rPr lang="hu-HU" sz="2200" b="1" dirty="0" smtClean="0">
                <a:latin typeface="Times New Roman" pitchFamily="18" charset="0"/>
              </a:rPr>
              <a:t> amikor </a:t>
            </a:r>
            <a:r>
              <a:rPr lang="hu-HU" sz="2200" b="1" dirty="0">
                <a:latin typeface="Times New Roman" pitchFamily="18" charset="0"/>
              </a:rPr>
              <a:t>nincsenek vízszintes és függőleges légáramlások</a:t>
            </a:r>
          </a:p>
          <a:p>
            <a:pPr>
              <a:buFontTx/>
              <a:buChar char="-"/>
            </a:pPr>
            <a:r>
              <a:rPr lang="hu-HU" sz="2200" b="1" dirty="0">
                <a:latin typeface="Times New Roman" pitchFamily="18" charset="0"/>
              </a:rPr>
              <a:t> a vízszintes légáramlást nevezzük </a:t>
            </a:r>
            <a:r>
              <a:rPr lang="hu-HU" sz="2200" b="1" i="1" dirty="0">
                <a:latin typeface="Times New Roman" pitchFamily="18" charset="0"/>
              </a:rPr>
              <a:t>szélnek</a:t>
            </a:r>
          </a:p>
          <a:p>
            <a:pPr>
              <a:buFontTx/>
              <a:buChar char="-"/>
            </a:pPr>
            <a:r>
              <a:rPr lang="hu-HU" sz="2200" b="1" dirty="0">
                <a:latin typeface="Times New Roman" pitchFamily="18" charset="0"/>
              </a:rPr>
              <a:t> a felszínen különböző áramlási és termikus okból </a:t>
            </a:r>
            <a:r>
              <a:rPr lang="hu-HU" sz="2200" b="1" dirty="0" smtClean="0">
                <a:latin typeface="Times New Roman" pitchFamily="18" charset="0"/>
              </a:rPr>
              <a:t>jelenlévő </a:t>
            </a:r>
            <a:r>
              <a:rPr lang="hu-HU" sz="2200" b="1" dirty="0">
                <a:latin typeface="Times New Roman" pitchFamily="18" charset="0"/>
              </a:rPr>
              <a:t>vízszintes irányú nyomáskülönbségek kiegyenlítődésre törekszenek, az így </a:t>
            </a:r>
            <a:r>
              <a:rPr lang="hu-HU" sz="2200" b="1" dirty="0" smtClean="0">
                <a:latin typeface="Times New Roman" pitchFamily="18" charset="0"/>
              </a:rPr>
              <a:t>meginduló tömegáramlás </a:t>
            </a:r>
            <a:r>
              <a:rPr lang="hu-HU" sz="2200" b="1" dirty="0">
                <a:latin typeface="Times New Roman" pitchFamily="18" charset="0"/>
              </a:rPr>
              <a:t>a szél</a:t>
            </a:r>
          </a:p>
          <a:p>
            <a:pPr>
              <a:buFontTx/>
              <a:buChar char="-"/>
            </a:pPr>
            <a:r>
              <a:rPr lang="hu-HU" sz="2200" b="1" dirty="0">
                <a:latin typeface="Times New Roman" pitchFamily="18" charset="0"/>
              </a:rPr>
              <a:t> a szél a magas nyomás felől az alacsony nyomású terület felé fúj, azonban a Föld forgásából származó eltérítő erő miatt ettől az iránytól az északi féltekén jobbra tér el</a:t>
            </a:r>
          </a:p>
          <a:p>
            <a:pPr>
              <a:buFontTx/>
              <a:buChar char="-"/>
            </a:pPr>
            <a:r>
              <a:rPr lang="hu-HU" sz="2200" b="1" dirty="0">
                <a:latin typeface="Times New Roman" pitchFamily="18" charset="0"/>
              </a:rPr>
              <a:t> a nyomáskülönbség és a szél erőssége egyenesen arányos, ez azt jelenti, hogy ha nagyobb a nyomáskülönbség, erősebb szél fúj</a:t>
            </a:r>
          </a:p>
          <a:p>
            <a:pPr>
              <a:buFontTx/>
              <a:buChar char="-"/>
            </a:pPr>
            <a:r>
              <a:rPr lang="hu-HU" sz="2200" b="1" dirty="0">
                <a:latin typeface="Times New Roman" pitchFamily="18" charset="0"/>
              </a:rPr>
              <a:t> 1805-ben </a:t>
            </a:r>
            <a:r>
              <a:rPr lang="hu-HU" sz="2200" b="1" i="1" dirty="0">
                <a:latin typeface="Times New Roman" pitchFamily="18" charset="0"/>
              </a:rPr>
              <a:t>Beaufort</a:t>
            </a:r>
            <a:r>
              <a:rPr lang="hu-HU" sz="2200" b="1" dirty="0">
                <a:latin typeface="Times New Roman" pitchFamily="18" charset="0"/>
              </a:rPr>
              <a:t> 12 kategóriából álló tapasztalati skálát állított fel a szélsebesség </a:t>
            </a:r>
            <a:r>
              <a:rPr lang="hu-HU" sz="2200" b="1" dirty="0" smtClean="0">
                <a:latin typeface="Times New Roman" pitchFamily="18" charset="0"/>
              </a:rPr>
              <a:t>meghatározására m/</a:t>
            </a:r>
            <a:r>
              <a:rPr lang="hu-HU" sz="2200" b="1" dirty="0" err="1" smtClean="0">
                <a:latin typeface="Times New Roman" pitchFamily="18" charset="0"/>
              </a:rPr>
              <a:t>s-ban</a:t>
            </a:r>
            <a:r>
              <a:rPr lang="hu-HU" sz="2200" b="1" dirty="0" smtClean="0">
                <a:latin typeface="Times New Roman" pitchFamily="18" charset="0"/>
              </a:rPr>
              <a:t> vagy </a:t>
            </a:r>
            <a:r>
              <a:rPr lang="hu-HU" sz="2200" b="1" dirty="0">
                <a:latin typeface="Times New Roman" pitchFamily="18" charset="0"/>
              </a:rPr>
              <a:t>km/h-ban mérjük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800087" y="0"/>
            <a:ext cx="5688631" cy="638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rgbClr val="C0C0C0"/>
                </a:solidFill>
                <a:latin typeface="Times New Roman" pitchFamily="18" charset="0"/>
              </a:rPr>
              <a:t>A légáramlások, a </a:t>
            </a:r>
            <a:r>
              <a:rPr lang="hu-HU" sz="4000" b="1" dirty="0" smtClean="0">
                <a:solidFill>
                  <a:srgbClr val="C0C0C0"/>
                </a:solidFill>
                <a:latin typeface="Times New Roman" pitchFamily="18" charset="0"/>
              </a:rPr>
              <a:t>szél</a:t>
            </a:r>
            <a:endParaRPr lang="hu-HU" dirty="0">
              <a:solidFill>
                <a:srgbClr val="C0C0C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rgbClr val="C0C0C0"/>
                </a:solidFill>
                <a:latin typeface="Times New Roman" pitchFamily="18" charset="0"/>
              </a:rPr>
              <a:t>A légáramlások, a </a:t>
            </a:r>
            <a:r>
              <a:rPr lang="hu-HU" sz="4000" b="1" dirty="0" smtClean="0">
                <a:solidFill>
                  <a:srgbClr val="C0C0C0"/>
                </a:solidFill>
                <a:latin typeface="Times New Roman" pitchFamily="18" charset="0"/>
              </a:rPr>
              <a:t>szél</a:t>
            </a:r>
            <a:endParaRPr lang="hu-HU" dirty="0">
              <a:solidFill>
                <a:srgbClr val="C0C0C0"/>
              </a:solidFill>
            </a:endParaRPr>
          </a:p>
        </p:txBody>
      </p:sp>
      <p:pic>
        <p:nvPicPr>
          <p:cNvPr id="27652" name="Picture 4" descr="beafou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738188"/>
            <a:ext cx="6913562" cy="5984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78114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2800087" y="0"/>
            <a:ext cx="5688631" cy="638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A légáramlások, a </a:t>
            </a:r>
            <a:r>
              <a:rPr lang="hu-HU" sz="4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szél</a:t>
            </a:r>
            <a:endParaRPr lang="hu-HU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79512" y="1484313"/>
            <a:ext cx="8712968" cy="449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38100" dist="25400"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hu-HU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a légáramlás sosem egyenletes, hanem lökéses</a:t>
            </a:r>
          </a:p>
          <a:p>
            <a:pPr>
              <a:buFontTx/>
              <a:buChar char="-"/>
            </a:pPr>
            <a:r>
              <a:rPr lang="hu-HU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a széllökés általában 20-40 %-kal haladja meg a szél átlagsebességét</a:t>
            </a:r>
          </a:p>
          <a:p>
            <a:pPr>
              <a:buFontTx/>
              <a:buChar char="-"/>
            </a:pPr>
            <a:r>
              <a:rPr lang="hu-HU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éjjel a szél gyengébb és kevésbé lökéses, nappal erősebb és egyúttal </a:t>
            </a:r>
            <a:r>
              <a:rPr lang="hu-HU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lökésesebb </a:t>
            </a:r>
            <a:endParaRPr lang="hu-HU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endParaRPr lang="hu-HU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endParaRPr lang="hu-HU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>
              <a:buFontTx/>
              <a:buChar char="-"/>
            </a:pPr>
            <a:r>
              <a:rPr lang="hu-HU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hu-HU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szélirány:</a:t>
            </a:r>
          </a:p>
          <a:p>
            <a:pPr lvl="1">
              <a:buFontTx/>
              <a:buChar char="-"/>
            </a:pPr>
            <a:r>
              <a:rPr lang="hu-HU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az az irányt értjük, </a:t>
            </a:r>
            <a:r>
              <a:rPr lang="hu-HU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ahonnan a </a:t>
            </a:r>
            <a:r>
              <a:rPr lang="hu-HU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szél fúj</a:t>
            </a:r>
          </a:p>
          <a:p>
            <a:pPr lvl="1">
              <a:buFontTx/>
              <a:buChar char="-"/>
            </a:pPr>
            <a:r>
              <a:rPr lang="hu-HU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az uralkodó szélirány: az a szélirány ahonnan a legnagyobb gyakorisággal fúj a szél egy adott földrajzi ponton</a:t>
            </a:r>
          </a:p>
          <a:p>
            <a:pPr lvl="1">
              <a:buFontTx/>
              <a:buChar char="-"/>
            </a:pPr>
            <a:r>
              <a:rPr lang="hu-HU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ez a mérsékelt földrajzi szélességeken, így hazánkban is csak 15-35 % relatív gyakoriságot jelent</a:t>
            </a:r>
          </a:p>
          <a:p>
            <a:pPr lvl="1">
              <a:buFontTx/>
              <a:buChar char="-"/>
            </a:pPr>
            <a:r>
              <a:rPr lang="hu-HU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a szél szárító és hűtőhatással rendelkezik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179512" y="1124744"/>
            <a:ext cx="8820472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hu-HU" sz="2300" b="1" dirty="0" smtClean="0">
                <a:latin typeface="Times New Roman" pitchFamily="18" charset="0"/>
              </a:rPr>
              <a:t>Szélnyomás: </a:t>
            </a:r>
          </a:p>
          <a:p>
            <a:r>
              <a:rPr lang="hu-HU" sz="23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 </a:t>
            </a:r>
            <a:r>
              <a:rPr lang="hu-HU" sz="23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szél által kifejtett </a:t>
            </a:r>
            <a:r>
              <a:rPr lang="hu-HU" sz="23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nyomóerő. </a:t>
            </a:r>
          </a:p>
          <a:p>
            <a:endParaRPr lang="hu-HU" sz="23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r>
              <a:rPr lang="hu-HU" sz="23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Függ: </a:t>
            </a:r>
          </a:p>
          <a:p>
            <a:r>
              <a:rPr lang="hu-HU" sz="23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- szélsebességtől </a:t>
            </a:r>
          </a:p>
          <a:p>
            <a:r>
              <a:rPr lang="hu-HU" sz="23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- szél </a:t>
            </a:r>
            <a:r>
              <a:rPr lang="hu-HU" sz="23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támadási </a:t>
            </a:r>
            <a:r>
              <a:rPr lang="hu-HU" sz="23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szögétől </a:t>
            </a:r>
          </a:p>
          <a:p>
            <a:endParaRPr lang="hu-HU" sz="23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r>
              <a:rPr lang="hu-HU" sz="23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 </a:t>
            </a:r>
            <a:r>
              <a:rPr lang="hu-HU" sz="23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szélnyomás a szélsebesség négyzetével arányosan nő, tehát kétszer erősebb szélnek négyszer akkora a szélnyomása. Az erős oldalszél, ellenszél gátolja a haladást, nehezíti a leszállást, a hátszél sem túl előnyös sem leszállásnál sem felszállásnál, de erős, főként lökéses szélben mindenképpen fokozott odafigyeléssel kell repülni ha már belekerültünk. Egy hirtelen erős széllökés kibillenthet minket a repülési irányunkból. 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800087" y="0"/>
            <a:ext cx="5688631" cy="638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rgbClr val="C0C0C0"/>
                </a:solidFill>
                <a:latin typeface="Times New Roman" pitchFamily="18" charset="0"/>
              </a:rPr>
              <a:t>A légáramlások, a </a:t>
            </a:r>
            <a:r>
              <a:rPr lang="hu-HU" sz="4000" b="1" dirty="0" smtClean="0">
                <a:solidFill>
                  <a:srgbClr val="C0C0C0"/>
                </a:solidFill>
                <a:latin typeface="Times New Roman" pitchFamily="18" charset="0"/>
              </a:rPr>
              <a:t>szél</a:t>
            </a:r>
            <a:endParaRPr lang="hu-HU" dirty="0">
              <a:solidFill>
                <a:srgbClr val="C0C0C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36513" y="1125538"/>
            <a:ext cx="9144000" cy="540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25400" dir="5400000" algn="ctr" rotWithShape="0">
              <a:schemeClr val="bg1">
                <a:lumMod val="95000"/>
                <a:alpha val="43000"/>
              </a:schemeClr>
            </a:outerShdw>
          </a:effectLst>
        </p:spPr>
        <p:txBody>
          <a:bodyPr>
            <a:spAutoFit/>
          </a:bodyPr>
          <a:lstStyle/>
          <a:p>
            <a:r>
              <a:rPr lang="hu-HU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A szél fajtái:</a:t>
            </a:r>
          </a:p>
          <a:p>
            <a:pPr>
              <a:buFontTx/>
              <a:buChar char="-"/>
            </a:pPr>
            <a:r>
              <a:rPr lang="hu-HU" sz="23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helyi szelek:</a:t>
            </a:r>
            <a:r>
              <a:rPr lang="hu-HU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egészen kis területeken is jelenhetnek meg </a:t>
            </a:r>
            <a:r>
              <a:rPr lang="hu-HU" sz="23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.</a:t>
            </a:r>
            <a:r>
              <a:rPr lang="hu-HU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Ezek a különböző felszínek különböző mértékben való felmelegedése révén alakulnak ki, amelynek oka végeredményben a különböző </a:t>
            </a:r>
            <a:r>
              <a:rPr lang="hu-HU" sz="23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napsugárzáselnyelő</a:t>
            </a:r>
            <a:r>
              <a:rPr lang="hu-HU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képességben rejlik. </a:t>
            </a:r>
          </a:p>
          <a:p>
            <a:pPr>
              <a:buFontTx/>
              <a:buChar char="-"/>
            </a:pPr>
            <a:endParaRPr lang="hu-HU" sz="23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r>
              <a:rPr lang="hu-HU" sz="23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- </a:t>
            </a:r>
            <a:r>
              <a:rPr lang="hu-HU" sz="2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tavi parti </a:t>
            </a:r>
            <a:r>
              <a:rPr lang="hu-HU" sz="23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szél:</a:t>
            </a:r>
            <a:r>
              <a:rPr lang="hu-HU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a tó-, tengerpartokon lép fel, napszakosan váltakozó irányú szél. Nappal a szárazföld gyorsan és intenzíven melegszik, így melegebb lesz, mint a tó, a tenger felszíne. Emiatt a levegő a felszín közelében a hidegebb, magasabb nyomású vízfelszín felől a melegebb, alacsony nyomású szárazföld felé áramlik </a:t>
            </a:r>
            <a:r>
              <a:rPr lang="hu-HU" sz="23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hu-HU" sz="2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tavi-, </a:t>
            </a:r>
            <a:r>
              <a:rPr lang="hu-HU" sz="23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tengeri</a:t>
            </a:r>
            <a:r>
              <a:rPr lang="hu-HU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hu-HU" sz="2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szél, </a:t>
            </a:r>
            <a:r>
              <a:rPr lang="hu-HU" sz="23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sea</a:t>
            </a:r>
            <a:r>
              <a:rPr lang="hu-HU" sz="2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/ </a:t>
            </a:r>
            <a:r>
              <a:rPr lang="hu-HU" sz="23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onshore</a:t>
            </a:r>
            <a:r>
              <a:rPr lang="hu-HU" sz="2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hu-HU" sz="23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breeze</a:t>
            </a:r>
            <a:r>
              <a:rPr lang="hu-HU" sz="2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).</a:t>
            </a:r>
            <a:r>
              <a:rPr lang="hu-HU" sz="2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hu-HU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A magasban természetesen záródik a kör, tehát a szárazföld felől áramlik a levegő a víz felé. Éjjel a helyzet fordított </a:t>
            </a:r>
            <a:r>
              <a:rPr lang="hu-HU" sz="23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hu-HU" sz="2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parti-, szárazföldi szél, </a:t>
            </a:r>
            <a:r>
              <a:rPr lang="hu-HU" sz="23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land</a:t>
            </a:r>
            <a:r>
              <a:rPr lang="hu-HU" sz="2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/ offshore </a:t>
            </a:r>
            <a:r>
              <a:rPr lang="hu-HU" sz="23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breeze</a:t>
            </a:r>
            <a:r>
              <a:rPr lang="hu-HU" sz="2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). Ez a </a:t>
            </a:r>
            <a:r>
              <a:rPr lang="hu-HU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hu-HU" sz="2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Balatonnál is megfigyelhető.</a:t>
            </a:r>
            <a:endParaRPr lang="hu-HU" sz="23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hu-HU"/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hu-HU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2800087" y="0"/>
            <a:ext cx="5688631" cy="638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rgbClr val="C0C0C0"/>
                </a:solidFill>
                <a:latin typeface="Times New Roman" pitchFamily="18" charset="0"/>
              </a:rPr>
              <a:t>A légáramlások, a </a:t>
            </a:r>
            <a:r>
              <a:rPr lang="hu-HU" sz="4000" b="1" dirty="0" smtClean="0">
                <a:solidFill>
                  <a:srgbClr val="C0C0C0"/>
                </a:solidFill>
                <a:latin typeface="Times New Roman" pitchFamily="18" charset="0"/>
              </a:rPr>
              <a:t>szél</a:t>
            </a:r>
            <a:endParaRPr lang="hu-HU" dirty="0">
              <a:solidFill>
                <a:srgbClr val="C0C0C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5" name="Picture 5" descr="http://gata.uw.hu/doksik/meteorologiaialapismeretek_elemei/met6a.gif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4729192" y="1643842"/>
            <a:ext cx="4211637" cy="3517900"/>
          </a:xfrm>
          <a:prstGeom prst="rect">
            <a:avLst/>
          </a:prstGeom>
          <a:noFill/>
        </p:spPr>
      </p:pic>
      <p:pic>
        <p:nvPicPr>
          <p:cNvPr id="30724" name="Picture 4" descr="http://gata.uw.hu/doksik/meteorologiaialapismeretek_elemei/met6b.gif"/>
          <p:cNvPicPr>
            <a:picLocks noChangeAspect="1" noChangeArrowheads="1"/>
          </p:cNvPicPr>
          <p:nvPr/>
        </p:nvPicPr>
        <p:blipFill>
          <a:blip r:embed="rId4" r:link="rId5" cstate="print"/>
          <a:srcRect/>
          <a:stretch>
            <a:fillRect/>
          </a:stretch>
        </p:blipFill>
        <p:spPr bwMode="auto">
          <a:xfrm>
            <a:off x="371475" y="1646130"/>
            <a:ext cx="4211638" cy="3516313"/>
          </a:xfrm>
          <a:prstGeom prst="rect">
            <a:avLst/>
          </a:prstGeom>
          <a:noFill/>
        </p:spPr>
      </p:pic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hu-HU"/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hu-HU"/>
          </a:p>
        </p:txBody>
      </p:sp>
      <p:sp>
        <p:nvSpPr>
          <p:cNvPr id="30740" name="Text Box 20"/>
          <p:cNvSpPr txBox="1">
            <a:spLocks noChangeArrowheads="1"/>
          </p:cNvSpPr>
          <p:nvPr/>
        </p:nvSpPr>
        <p:spPr bwMode="auto">
          <a:xfrm>
            <a:off x="6381784" y="5376767"/>
            <a:ext cx="17287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Nappal</a:t>
            </a:r>
          </a:p>
        </p:txBody>
      </p:sp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2205072" y="5448205"/>
            <a:ext cx="17287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hu-HU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Éjszaka</a:t>
            </a:r>
            <a:endParaRPr lang="hu-HU" dirty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2800087" y="0"/>
            <a:ext cx="5688631" cy="638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rgbClr val="C0C0C0"/>
                </a:solidFill>
                <a:latin typeface="Times New Roman" pitchFamily="18" charset="0"/>
              </a:rPr>
              <a:t>A légáramlások, a </a:t>
            </a:r>
            <a:r>
              <a:rPr lang="hu-HU" sz="4000" b="1" dirty="0" smtClean="0">
                <a:solidFill>
                  <a:srgbClr val="C0C0C0"/>
                </a:solidFill>
                <a:latin typeface="Times New Roman" pitchFamily="18" charset="0"/>
              </a:rPr>
              <a:t>szél</a:t>
            </a:r>
            <a:endParaRPr lang="hu-HU" dirty="0">
              <a:solidFill>
                <a:srgbClr val="C0C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9490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0" y="1484313"/>
            <a:ext cx="9144000" cy="289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hu-HU" sz="23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 hegyvidéki szél</a:t>
            </a:r>
            <a:r>
              <a:rPr lang="hu-HU" sz="23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szintén napszaktól függő irányú helyi szél. Nappal a hegyoldalakon a domborzat hatása miatt a levegő jobban felmelegszik, mint a völgyekben. Emiatt a levegő a völgyekből áramlik a hegycsúcsok irányába </a:t>
            </a:r>
            <a:r>
              <a:rPr lang="hu-HU" sz="23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(völgyi</a:t>
            </a:r>
            <a:r>
              <a:rPr lang="hu-HU" sz="23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hu-HU" sz="23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szél),</a:t>
            </a:r>
            <a:r>
              <a:rPr lang="hu-HU" sz="23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éjjel viszont a hegycsúcsokon lehűlő hideg levegő "lecsurog" a völgyekbe </a:t>
            </a:r>
            <a:r>
              <a:rPr lang="hu-HU" sz="23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(hegyi szél).</a:t>
            </a:r>
            <a:r>
              <a:rPr lang="hu-HU" sz="23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</a:p>
          <a:p>
            <a:r>
              <a:rPr lang="hu-HU" sz="23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Ezek a helyi szelek természetesen csak akkor figyelhetők meg, ha egyébként nagyobb térségű légköri folyamat nem zavarja meg a kialakulásukat (pl. frontátvonulás). </a:t>
            </a: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0" y="2828925"/>
            <a:ext cx="457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hu-HU"/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0" y="2828925"/>
            <a:ext cx="457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hu-HU"/>
          </a:p>
        </p:txBody>
      </p:sp>
      <p:pic>
        <p:nvPicPr>
          <p:cNvPr id="31765" name="Picture 21" descr="hegyisz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4297026"/>
            <a:ext cx="8675688" cy="2501900"/>
          </a:xfrm>
          <a:prstGeom prst="rect">
            <a:avLst/>
          </a:prstGeom>
          <a:noFill/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800087" y="0"/>
            <a:ext cx="5688631" cy="638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rgbClr val="C0C0C0"/>
                </a:solidFill>
                <a:latin typeface="Times New Roman" pitchFamily="18" charset="0"/>
              </a:rPr>
              <a:t>A légáramlások, a </a:t>
            </a:r>
            <a:r>
              <a:rPr lang="hu-HU" sz="4000" b="1" dirty="0" smtClean="0">
                <a:solidFill>
                  <a:srgbClr val="C0C0C0"/>
                </a:solidFill>
                <a:latin typeface="Times New Roman" pitchFamily="18" charset="0"/>
              </a:rPr>
              <a:t>szél</a:t>
            </a:r>
            <a:endParaRPr lang="hu-HU" dirty="0">
              <a:solidFill>
                <a:srgbClr val="C0C0C0"/>
              </a:solidFill>
            </a:endParaRPr>
          </a:p>
        </p:txBody>
      </p:sp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6112405" y="6452766"/>
            <a:ext cx="172878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Nappal</a:t>
            </a:r>
          </a:p>
        </p:txBody>
      </p:sp>
      <p:sp>
        <p:nvSpPr>
          <p:cNvPr id="9" name="Text Box 21"/>
          <p:cNvSpPr txBox="1">
            <a:spLocks noChangeArrowheads="1"/>
          </p:cNvSpPr>
          <p:nvPr/>
        </p:nvSpPr>
        <p:spPr bwMode="auto">
          <a:xfrm>
            <a:off x="1922439" y="6452766"/>
            <a:ext cx="172878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hu-HU" sz="1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Éjszaka</a:t>
            </a:r>
            <a:endParaRPr lang="hu-HU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0"/>
            <a:ext cx="8424936" cy="1773238"/>
          </a:xfrm>
        </p:spPr>
        <p:txBody>
          <a:bodyPr/>
          <a:lstStyle/>
          <a:p>
            <a:pPr eaLnBrk="1" hangingPunct="1"/>
            <a:r>
              <a:rPr lang="hu-HU" altLang="hu-HU" sz="4000" b="1" dirty="0" smtClean="0">
                <a:solidFill>
                  <a:schemeClr val="bg1"/>
                </a:solidFill>
              </a:rPr>
              <a:t>A szél hatása az ejtőernyőre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556792"/>
            <a:ext cx="8229600" cy="45259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hu-HU" altLang="hu-HU" sz="2400" dirty="0" smtClean="0"/>
              <a:t>Szél meghatározására alkalmas eszközök: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hu-HU" altLang="hu-HU" sz="2400" dirty="0" smtClean="0"/>
              <a:t>-   növényzet (fák lombkoronája, Beaufort)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hu-HU" altLang="hu-HU" sz="2400" dirty="0" smtClean="0"/>
              <a:t>füst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hu-HU" altLang="hu-HU" sz="2400" dirty="0" smtClean="0"/>
              <a:t>szélzászló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hu-HU" altLang="hu-HU" sz="2400" dirty="0"/>
              <a:t>c</a:t>
            </a:r>
            <a:r>
              <a:rPr lang="hu-HU" altLang="hu-HU" sz="2400" dirty="0" smtClean="0"/>
              <a:t>élszalag</a:t>
            </a:r>
            <a:endParaRPr lang="hu-HU" altLang="hu-HU" sz="2400" dirty="0" smtClean="0"/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hu-HU" altLang="hu-HU" sz="2400" dirty="0" smtClean="0"/>
              <a:t>szélzsák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endParaRPr lang="hu-HU" altLang="hu-HU" sz="24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hu-HU" altLang="hu-HU" sz="2400" dirty="0" smtClean="0"/>
              <a:t>A szél erőssége befolyásolja a repült iskolakör rövidfalának hosszát. Nagyobb szél erősség esetén kisebb oldaltávolságot tartunk a céltól.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hu-HU" altLang="hu-HU" sz="24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hu-HU" altLang="hu-HU" sz="2400" dirty="0" smtClean="0"/>
              <a:t>7 m/</a:t>
            </a:r>
            <a:r>
              <a:rPr lang="hu-HU" altLang="hu-HU" sz="2400" dirty="0" err="1" smtClean="0"/>
              <a:t>s-nál</a:t>
            </a:r>
            <a:r>
              <a:rPr lang="hu-HU" altLang="hu-HU" sz="2400" dirty="0" smtClean="0"/>
              <a:t> erősebb szélben nem ugrunk!!!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endParaRPr lang="hu-HU" altLang="hu-HU" sz="2400" dirty="0" smtClean="0"/>
          </a:p>
          <a:p>
            <a:pPr eaLnBrk="1" hangingPunct="1">
              <a:lnSpc>
                <a:spcPct val="90000"/>
              </a:lnSpc>
              <a:buFontTx/>
              <a:buChar char="-"/>
            </a:pPr>
            <a:endParaRPr lang="hu-HU" altLang="hu-HU" sz="2400" dirty="0" smtClean="0"/>
          </a:p>
        </p:txBody>
      </p:sp>
    </p:spTree>
    <p:extLst>
      <p:ext uri="{BB962C8B-B14F-4D97-AF65-F5344CB8AC3E}">
        <p14:creationId xmlns:p14="http://schemas.microsoft.com/office/powerpoint/2010/main" val="27816709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0"/>
            <a:ext cx="8424936" cy="1773238"/>
          </a:xfrm>
        </p:spPr>
        <p:txBody>
          <a:bodyPr/>
          <a:lstStyle/>
          <a:p>
            <a:pPr eaLnBrk="1" hangingPunct="1"/>
            <a:r>
              <a:rPr lang="hu-HU" altLang="hu-HU" sz="4000" b="1" dirty="0" smtClean="0">
                <a:solidFill>
                  <a:schemeClr val="bg1"/>
                </a:solidFill>
              </a:rPr>
              <a:t>A szél az ejtőernyőzés szempontjából kettős megítélésű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2060575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u-HU" altLang="hu-HU" sz="2400" dirty="0" smtClean="0"/>
              <a:t>Egyrészt szükséges, mert a csökkenti a földet érési sebességet.</a:t>
            </a:r>
          </a:p>
          <a:p>
            <a:pPr eaLnBrk="1" hangingPunct="1">
              <a:lnSpc>
                <a:spcPct val="90000"/>
              </a:lnSpc>
            </a:pPr>
            <a:r>
              <a:rPr lang="hu-HU" altLang="hu-HU" sz="2400" dirty="0" smtClean="0"/>
              <a:t>Másrészt rossz, mert ha a szélsebesség nagyobb, mint az ejtőernyő előrehaladási sebessége, akkor tolatást eredményez.</a:t>
            </a:r>
          </a:p>
          <a:p>
            <a:pPr eaLnBrk="1" hangingPunct="1">
              <a:lnSpc>
                <a:spcPct val="90000"/>
              </a:lnSpc>
            </a:pPr>
            <a:r>
              <a:rPr lang="hu-HU" altLang="hu-HU" sz="2400" dirty="0" smtClean="0"/>
              <a:t>A szél sebessége nagyon fontos befolyásoló tényező a feladat-végrehajtásunkban, ezért fontos a figyelemmel kísérése, mérése. Az ugró területen mindig lenni kell szélsebesség mérésre alkalmas műszernek.</a:t>
            </a:r>
          </a:p>
        </p:txBody>
      </p:sp>
    </p:spTree>
    <p:extLst>
      <p:ext uri="{BB962C8B-B14F-4D97-AF65-F5344CB8AC3E}">
        <p14:creationId xmlns:p14="http://schemas.microsoft.com/office/powerpoint/2010/main" val="40859007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latin typeface="Times New Roman" pitchFamily="18" charset="0"/>
              </a:rPr>
              <a:t>A </a:t>
            </a:r>
            <a:r>
              <a:rPr lang="hu-HU" sz="4000" b="1" dirty="0" smtClean="0">
                <a:latin typeface="Times New Roman" pitchFamily="18" charset="0"/>
              </a:rPr>
              <a:t>termik</a:t>
            </a:r>
            <a:endParaRPr lang="hu-HU" dirty="0"/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36513" y="1125538"/>
            <a:ext cx="914400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hu-HU" sz="2200" b="1">
              <a:solidFill>
                <a:srgbClr val="99CC00"/>
              </a:solidFill>
              <a:latin typeface="Times New Roman" pitchFamily="18" charset="0"/>
            </a:endParaRP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215516" y="620713"/>
            <a:ext cx="8712968" cy="364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Függőleges légáramlások kialakulása:</a:t>
            </a:r>
          </a:p>
          <a:p>
            <a:pPr>
              <a:spcBef>
                <a:spcPct val="50000"/>
              </a:spcBef>
            </a:pP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- valamilyen akadállyal való találkozás miatti kényszerpályán 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való áramlással </a:t>
            </a: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(pl. hegység emelőhatása) </a:t>
            </a:r>
          </a:p>
          <a:p>
            <a:pPr>
              <a:spcBef>
                <a:spcPct val="50000"/>
              </a:spcBef>
            </a:pP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- a felmelegedés következtében előálló hőmérséklet- és 	sűrűségkülönbség miatt, ilyenkor a 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levegő </a:t>
            </a: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szabadon emelkedik 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a magasba </a:t>
            </a: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(termik) </a:t>
            </a:r>
          </a:p>
          <a:p>
            <a:pPr>
              <a:spcBef>
                <a:spcPct val="50000"/>
              </a:spcBef>
            </a:pP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 termik lexikális megfogalmazása:</a:t>
            </a:r>
          </a:p>
          <a:p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 termik egy, a környező levegőhöz képest melegebb és ezért emelkedő légtömeg, amely az atmoszféra alacsonyabb rétegeiben keletkezik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</a:t>
            </a:r>
            <a:endParaRPr lang="hu-HU" sz="22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" name="Téglalap 1"/>
          <p:cNvSpPr/>
          <p:nvPr/>
        </p:nvSpPr>
        <p:spPr>
          <a:xfrm>
            <a:off x="215516" y="5445224"/>
            <a:ext cx="8712968" cy="1323439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hu-HU" sz="2000" i="1" dirty="0">
                <a:latin typeface="Times New Roman" pitchFamily="18" charset="0"/>
              </a:rPr>
              <a:t>A termikek kialakulásában több </a:t>
            </a:r>
            <a:r>
              <a:rPr lang="hu-HU" sz="2000" i="1" dirty="0" smtClean="0">
                <a:latin typeface="Times New Roman" pitchFamily="18" charset="0"/>
              </a:rPr>
              <a:t>tényező </a:t>
            </a:r>
            <a:r>
              <a:rPr lang="hu-HU" sz="2000" i="1" dirty="0">
                <a:latin typeface="Times New Roman" pitchFamily="18" charset="0"/>
              </a:rPr>
              <a:t>játszik szerepet. Az egyik tényező a napsugárzás, a másik fontos eleme a talajminőség. A talaj nedvességtartalma is fontos szerepet játszik. Végül, a légkör stabilitása is meghatározó: minél labilisabb a levegő, annál erősebbek a termikek.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latin typeface="Times New Roman" pitchFamily="18" charset="0"/>
              </a:rPr>
              <a:t>A </a:t>
            </a:r>
            <a:r>
              <a:rPr lang="hu-HU" sz="4000" b="1" dirty="0" smtClean="0">
                <a:latin typeface="Times New Roman" pitchFamily="18" charset="0"/>
              </a:rPr>
              <a:t>termik fajtái</a:t>
            </a:r>
            <a:endParaRPr lang="hu-HU" dirty="0"/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36513" y="1125538"/>
            <a:ext cx="914400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hu-HU" sz="2200" b="1">
              <a:solidFill>
                <a:srgbClr val="99CC00"/>
              </a:solidFill>
              <a:latin typeface="Times New Roman" pitchFamily="18" charset="0"/>
            </a:endParaRP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17702" y="733326"/>
            <a:ext cx="9144000" cy="5847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hu-HU" sz="2200" b="1" dirty="0" smtClean="0">
                <a:latin typeface="Times New Roman" pitchFamily="18" charset="0"/>
              </a:rPr>
              <a:t>Kémény termik: </a:t>
            </a:r>
            <a:r>
              <a:rPr lang="hu-HU" sz="2200" dirty="0" err="1" smtClean="0">
                <a:latin typeface="Times New Roman" pitchFamily="18" charset="0"/>
              </a:rPr>
              <a:t>kontinuusan</a:t>
            </a:r>
            <a:r>
              <a:rPr lang="hu-HU" sz="2200" dirty="0" smtClean="0">
                <a:latin typeface="Times New Roman" pitchFamily="18" charset="0"/>
              </a:rPr>
              <a:t> feláramló levegő hatására alakul ki. Az légcellás ejtőernyőt jelentősen megemelheti, megállíthatja a süllyedést vagy növelheti a süllyedési sebességet. Irányítástechnikai teendő: fékek felengedésével, teljes siklásban lehető leggyorsabban keresztül haladni a termiken. Körkupolás ernyő esetén (ritkán a légcellás ernyőnél is) szükség lehet az elülső felszakadó hevederek lehúzására, ezáltal a belépő élek betörésére, hogy nagyobb sebességgel tudjunk áthaladni a termiken. 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hu-HU" sz="2200" b="1" dirty="0" smtClean="0">
                <a:latin typeface="Times New Roman" pitchFamily="18" charset="0"/>
              </a:rPr>
              <a:t>Buborék termék:</a:t>
            </a:r>
            <a:r>
              <a:rPr lang="hu-HU" sz="2200" dirty="0" smtClean="0">
                <a:latin typeface="Times New Roman" pitchFamily="18" charset="0"/>
              </a:rPr>
              <a:t> nem folyamatosan feláramló levegő hozza létre. Az ejtőernyőnket hirtelen megemelheti, </a:t>
            </a:r>
            <a:r>
              <a:rPr lang="hu-HU" sz="2200" dirty="0">
                <a:latin typeface="Times New Roman" pitchFamily="18" charset="0"/>
              </a:rPr>
              <a:t>megállíthatja a süllyedést vagy növelheti a süllyedési sebességet. </a:t>
            </a:r>
            <a:r>
              <a:rPr lang="hu-HU" sz="2200" dirty="0" smtClean="0">
                <a:latin typeface="Times New Roman" pitchFamily="18" charset="0"/>
              </a:rPr>
              <a:t>Ugyancsak igyekszünk mihamarabb keresztül haladni rajta (fékek fel, teljes siklás).</a:t>
            </a:r>
          </a:p>
          <a:p>
            <a:pPr>
              <a:spcBef>
                <a:spcPct val="50000"/>
              </a:spcBef>
            </a:pPr>
            <a:r>
              <a:rPr lang="hu-HU" sz="2200" dirty="0" smtClean="0">
                <a:latin typeface="Times New Roman" pitchFamily="18" charset="0"/>
              </a:rPr>
              <a:t>Összességében a magaslati termikek az ejtőernyősökre nem jelentenek komoly veszélyt, viszont a siklóernyő (gyalogernyő) sportot űzőkre igen. Szélsőséges esetben a egy kémény termikbe történő berepülés azt eredményezheti, hogy az siklóernyős nem lesz képes a termikből kikerülni csak főernyőjének leoldása esetén.</a:t>
            </a:r>
            <a:endParaRPr lang="hu-HU" sz="22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0938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547564" y="3596778"/>
            <a:ext cx="198437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lang="hu-HU" sz="2000">
              <a:effectLst>
                <a:outerShdw blurRad="38100" dist="38100" dir="2700000" algn="tl">
                  <a:srgbClr val="FFFFFF"/>
                </a:outerShdw>
              </a:effectLst>
              <a:cs typeface="Times New Roman" pitchFamily="18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960314" y="3976191"/>
            <a:ext cx="174783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lang="hu-HU" sz="2000">
              <a:effectLst>
                <a:outerShdw blurRad="38100" dist="38100" dir="2700000" algn="tl">
                  <a:srgbClr val="FFFFFF"/>
                </a:outerShdw>
              </a:effectLst>
              <a:cs typeface="Times New Roman" pitchFamily="18" charset="0"/>
            </a:endParaRPr>
          </a:p>
        </p:txBody>
      </p:sp>
      <p:sp>
        <p:nvSpPr>
          <p:cNvPr id="13316" name="Freeform 4"/>
          <p:cNvSpPr>
            <a:spLocks/>
          </p:cNvSpPr>
          <p:nvPr/>
        </p:nvSpPr>
        <p:spPr bwMode="auto">
          <a:xfrm>
            <a:off x="1260227" y="4654053"/>
            <a:ext cx="2555875" cy="1379538"/>
          </a:xfrm>
          <a:custGeom>
            <a:avLst/>
            <a:gdLst>
              <a:gd name="T0" fmla="*/ 0 w 1610"/>
              <a:gd name="T1" fmla="*/ 2147483647 h 869"/>
              <a:gd name="T2" fmla="*/ 2147483647 w 1610"/>
              <a:gd name="T3" fmla="*/ 2147483647 h 869"/>
              <a:gd name="T4" fmla="*/ 2147483647 w 1610"/>
              <a:gd name="T5" fmla="*/ 2147483647 h 869"/>
              <a:gd name="T6" fmla="*/ 2147483647 w 1610"/>
              <a:gd name="T7" fmla="*/ 2147483647 h 869"/>
              <a:gd name="T8" fmla="*/ 2147483647 w 1610"/>
              <a:gd name="T9" fmla="*/ 2147483647 h 869"/>
              <a:gd name="T10" fmla="*/ 2147483647 w 1610"/>
              <a:gd name="T11" fmla="*/ 2147483647 h 869"/>
              <a:gd name="T12" fmla="*/ 2147483647 w 1610"/>
              <a:gd name="T13" fmla="*/ 2147483647 h 8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10"/>
              <a:gd name="T22" fmla="*/ 0 h 869"/>
              <a:gd name="T23" fmla="*/ 1610 w 1610"/>
              <a:gd name="T24" fmla="*/ 869 h 8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10" h="869">
                <a:moveTo>
                  <a:pt x="0" y="831"/>
                </a:moveTo>
                <a:cubicBezTo>
                  <a:pt x="86" y="668"/>
                  <a:pt x="173" y="506"/>
                  <a:pt x="317" y="377"/>
                </a:cubicBezTo>
                <a:cubicBezTo>
                  <a:pt x="461" y="248"/>
                  <a:pt x="665" y="0"/>
                  <a:pt x="862" y="60"/>
                </a:cubicBezTo>
                <a:cubicBezTo>
                  <a:pt x="1059" y="120"/>
                  <a:pt x="1384" y="611"/>
                  <a:pt x="1497" y="740"/>
                </a:cubicBezTo>
                <a:cubicBezTo>
                  <a:pt x="1610" y="869"/>
                  <a:pt x="1535" y="824"/>
                  <a:pt x="1542" y="831"/>
                </a:cubicBezTo>
                <a:cubicBezTo>
                  <a:pt x="1549" y="838"/>
                  <a:pt x="1542" y="785"/>
                  <a:pt x="1542" y="785"/>
                </a:cubicBezTo>
                <a:cubicBezTo>
                  <a:pt x="1542" y="785"/>
                  <a:pt x="1542" y="808"/>
                  <a:pt x="1542" y="831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13317" name="Freeform 5"/>
          <p:cNvSpPr>
            <a:spLocks/>
          </p:cNvSpPr>
          <p:nvPr/>
        </p:nvSpPr>
        <p:spPr bwMode="auto">
          <a:xfrm>
            <a:off x="-397124" y="3812678"/>
            <a:ext cx="3814763" cy="3360738"/>
          </a:xfrm>
          <a:custGeom>
            <a:avLst/>
            <a:gdLst>
              <a:gd name="T0" fmla="*/ 2147483647 w 2403"/>
              <a:gd name="T1" fmla="*/ 2147483647 h 2117"/>
              <a:gd name="T2" fmla="*/ 2147483647 w 2403"/>
              <a:gd name="T3" fmla="*/ 2147483647 h 2117"/>
              <a:gd name="T4" fmla="*/ 2147483647 w 2403"/>
              <a:gd name="T5" fmla="*/ 2147483647 h 2117"/>
              <a:gd name="T6" fmla="*/ 0 w 2403"/>
              <a:gd name="T7" fmla="*/ 2147483647 h 2117"/>
              <a:gd name="T8" fmla="*/ 0 60000 65536"/>
              <a:gd name="T9" fmla="*/ 0 60000 65536"/>
              <a:gd name="T10" fmla="*/ 0 60000 65536"/>
              <a:gd name="T11" fmla="*/ 0 60000 65536"/>
              <a:gd name="T12" fmla="*/ 0 w 2403"/>
              <a:gd name="T13" fmla="*/ 0 h 2117"/>
              <a:gd name="T14" fmla="*/ 2403 w 2403"/>
              <a:gd name="T15" fmla="*/ 2117 h 21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03" h="2117">
                <a:moveTo>
                  <a:pt x="1633" y="847"/>
                </a:moveTo>
                <a:cubicBezTo>
                  <a:pt x="1731" y="900"/>
                  <a:pt x="1830" y="953"/>
                  <a:pt x="1905" y="847"/>
                </a:cubicBezTo>
                <a:cubicBezTo>
                  <a:pt x="1980" y="741"/>
                  <a:pt x="2403" y="0"/>
                  <a:pt x="2086" y="212"/>
                </a:cubicBezTo>
                <a:cubicBezTo>
                  <a:pt x="1769" y="424"/>
                  <a:pt x="348" y="1799"/>
                  <a:pt x="0" y="2117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13318" name="Freeform 6"/>
          <p:cNvSpPr>
            <a:spLocks/>
          </p:cNvSpPr>
          <p:nvPr/>
        </p:nvSpPr>
        <p:spPr bwMode="auto">
          <a:xfrm>
            <a:off x="1187202" y="4520703"/>
            <a:ext cx="2700337" cy="1668463"/>
          </a:xfrm>
          <a:custGeom>
            <a:avLst/>
            <a:gdLst>
              <a:gd name="T0" fmla="*/ 0 w 1701"/>
              <a:gd name="T1" fmla="*/ 2147483647 h 1051"/>
              <a:gd name="T2" fmla="*/ 2147483647 w 1701"/>
              <a:gd name="T3" fmla="*/ 2147483647 h 1051"/>
              <a:gd name="T4" fmla="*/ 2147483647 w 1701"/>
              <a:gd name="T5" fmla="*/ 2147483647 h 1051"/>
              <a:gd name="T6" fmla="*/ 2147483647 w 1701"/>
              <a:gd name="T7" fmla="*/ 2147483647 h 1051"/>
              <a:gd name="T8" fmla="*/ 2147483647 w 1701"/>
              <a:gd name="T9" fmla="*/ 2147483647 h 1051"/>
              <a:gd name="T10" fmla="*/ 2147483647 w 1701"/>
              <a:gd name="T11" fmla="*/ 2147483647 h 1051"/>
              <a:gd name="T12" fmla="*/ 2147483647 w 1701"/>
              <a:gd name="T13" fmla="*/ 2147483647 h 1051"/>
              <a:gd name="T14" fmla="*/ 2147483647 w 1701"/>
              <a:gd name="T15" fmla="*/ 2147483647 h 105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701"/>
              <a:gd name="T25" fmla="*/ 0 h 1051"/>
              <a:gd name="T26" fmla="*/ 1701 w 1701"/>
              <a:gd name="T27" fmla="*/ 1051 h 105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701" h="1051">
                <a:moveTo>
                  <a:pt x="0" y="869"/>
                </a:moveTo>
                <a:cubicBezTo>
                  <a:pt x="11" y="914"/>
                  <a:pt x="23" y="960"/>
                  <a:pt x="91" y="869"/>
                </a:cubicBezTo>
                <a:cubicBezTo>
                  <a:pt x="159" y="778"/>
                  <a:pt x="265" y="454"/>
                  <a:pt x="409" y="325"/>
                </a:cubicBezTo>
                <a:cubicBezTo>
                  <a:pt x="553" y="196"/>
                  <a:pt x="757" y="0"/>
                  <a:pt x="953" y="98"/>
                </a:cubicBezTo>
                <a:cubicBezTo>
                  <a:pt x="1149" y="196"/>
                  <a:pt x="1475" y="779"/>
                  <a:pt x="1588" y="915"/>
                </a:cubicBezTo>
                <a:cubicBezTo>
                  <a:pt x="1701" y="1051"/>
                  <a:pt x="1640" y="915"/>
                  <a:pt x="1633" y="915"/>
                </a:cubicBezTo>
                <a:cubicBezTo>
                  <a:pt x="1626" y="915"/>
                  <a:pt x="1550" y="923"/>
                  <a:pt x="1543" y="915"/>
                </a:cubicBezTo>
                <a:cubicBezTo>
                  <a:pt x="1536" y="907"/>
                  <a:pt x="1562" y="888"/>
                  <a:pt x="1588" y="869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13319" name="Oval 7"/>
          <p:cNvSpPr>
            <a:spLocks noChangeArrowheads="1"/>
          </p:cNvSpPr>
          <p:nvPr/>
        </p:nvSpPr>
        <p:spPr bwMode="auto">
          <a:xfrm>
            <a:off x="1547564" y="5252541"/>
            <a:ext cx="914400" cy="914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hu-HU" altLang="hu-HU" sz="4400">
              <a:solidFill>
                <a:schemeClr val="tx2"/>
              </a:solidFill>
            </a:endParaRP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4119314" y="1528266"/>
            <a:ext cx="184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lang="hu-HU" sz="2000">
              <a:effectLst>
                <a:outerShdw blurRad="38100" dist="38100" dir="2700000" algn="tl">
                  <a:srgbClr val="FFFFFF"/>
                </a:outerShdw>
              </a:effectLst>
              <a:cs typeface="Times New Roman" pitchFamily="18" charset="0"/>
            </a:endParaRP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539502" y="599578"/>
            <a:ext cx="7343775" cy="30839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hu-HU" sz="2800" b="1" dirty="0">
                <a:cs typeface="Times New Roman" pitchFamily="18" charset="0"/>
              </a:rPr>
              <a:t>Buborék </a:t>
            </a:r>
            <a:r>
              <a:rPr lang="hu-HU" sz="2800" b="1" dirty="0" smtClean="0">
                <a:cs typeface="Times New Roman" pitchFamily="18" charset="0"/>
              </a:rPr>
              <a:t>termik</a:t>
            </a:r>
            <a:r>
              <a:rPr lang="hu-HU" sz="2800" b="1" i="1" dirty="0" smtClean="0">
                <a:cs typeface="Times New Roman" pitchFamily="18" charset="0"/>
              </a:rPr>
              <a:t> </a:t>
            </a:r>
            <a:endParaRPr lang="hu-HU" sz="2800" b="1" i="1" dirty="0">
              <a:cs typeface="Times New Roman" pitchFamily="18" charset="0"/>
            </a:endParaRPr>
          </a:p>
          <a:p>
            <a:pPr marL="342900" indent="-3429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endParaRPr lang="hu-HU" sz="2400" b="1" i="1" dirty="0">
              <a:cs typeface="Times New Roman" pitchFamily="18" charset="0"/>
            </a:endParaRPr>
          </a:p>
          <a:p>
            <a:pPr marL="342900" indent="-342900" algn="just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hu-HU" sz="2000" b="1" i="1" dirty="0">
                <a:cs typeface="Times New Roman" pitchFamily="18" charset="0"/>
              </a:rPr>
              <a:t>	 </a:t>
            </a:r>
            <a:r>
              <a:rPr lang="hu-HU" sz="2000" dirty="0">
                <a:cs typeface="Times New Roman" pitchFamily="18" charset="0"/>
              </a:rPr>
              <a:t>A levegő csak egy bizonyos mennyisége emelkedik a magasba emelkedés közben folyamatos örvénylés támad az emelkedő levegő határán. (ilyen az atombomba gombája) Az örvénygyűrű közepén a levegő nagy sebességgel felemelkedik, majd a tetején átmegy horizontális mozgásba, a gyűrű külső oldalán le és alul a középpont felé beáramlik.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lang="hu-HU" sz="2000" dirty="0">
              <a:cs typeface="Times New Roman" pitchFamily="18" charset="0"/>
            </a:endParaRPr>
          </a:p>
        </p:txBody>
      </p:sp>
      <p:sp>
        <p:nvSpPr>
          <p:cNvPr id="13322" name="Freeform 10"/>
          <p:cNvSpPr>
            <a:spLocks/>
          </p:cNvSpPr>
          <p:nvPr/>
        </p:nvSpPr>
        <p:spPr bwMode="auto">
          <a:xfrm>
            <a:off x="1476127" y="4533403"/>
            <a:ext cx="2879725" cy="1716088"/>
          </a:xfrm>
          <a:custGeom>
            <a:avLst/>
            <a:gdLst>
              <a:gd name="T0" fmla="*/ 0 w 1610"/>
              <a:gd name="T1" fmla="*/ 2147483647 h 869"/>
              <a:gd name="T2" fmla="*/ 2147483647 w 1610"/>
              <a:gd name="T3" fmla="*/ 2147483647 h 869"/>
              <a:gd name="T4" fmla="*/ 2147483647 w 1610"/>
              <a:gd name="T5" fmla="*/ 2147483647 h 869"/>
              <a:gd name="T6" fmla="*/ 2147483647 w 1610"/>
              <a:gd name="T7" fmla="*/ 2147483647 h 869"/>
              <a:gd name="T8" fmla="*/ 2147483647 w 1610"/>
              <a:gd name="T9" fmla="*/ 2147483647 h 869"/>
              <a:gd name="T10" fmla="*/ 2147483647 w 1610"/>
              <a:gd name="T11" fmla="*/ 2147483647 h 869"/>
              <a:gd name="T12" fmla="*/ 2147483647 w 1610"/>
              <a:gd name="T13" fmla="*/ 2147483647 h 8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10"/>
              <a:gd name="T22" fmla="*/ 0 h 869"/>
              <a:gd name="T23" fmla="*/ 1610 w 1610"/>
              <a:gd name="T24" fmla="*/ 869 h 8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10" h="869">
                <a:moveTo>
                  <a:pt x="0" y="831"/>
                </a:moveTo>
                <a:cubicBezTo>
                  <a:pt x="86" y="668"/>
                  <a:pt x="173" y="506"/>
                  <a:pt x="317" y="377"/>
                </a:cubicBezTo>
                <a:cubicBezTo>
                  <a:pt x="461" y="248"/>
                  <a:pt x="665" y="0"/>
                  <a:pt x="862" y="60"/>
                </a:cubicBezTo>
                <a:cubicBezTo>
                  <a:pt x="1059" y="120"/>
                  <a:pt x="1384" y="611"/>
                  <a:pt x="1497" y="740"/>
                </a:cubicBezTo>
                <a:cubicBezTo>
                  <a:pt x="1610" y="869"/>
                  <a:pt x="1535" y="824"/>
                  <a:pt x="1542" y="831"/>
                </a:cubicBezTo>
                <a:cubicBezTo>
                  <a:pt x="1549" y="838"/>
                  <a:pt x="1542" y="785"/>
                  <a:pt x="1542" y="785"/>
                </a:cubicBezTo>
                <a:cubicBezTo>
                  <a:pt x="1542" y="785"/>
                  <a:pt x="1542" y="808"/>
                  <a:pt x="1542" y="831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13323" name="AutoShape 11"/>
          <p:cNvSpPr>
            <a:spLocks noChangeArrowheads="1"/>
          </p:cNvSpPr>
          <p:nvPr/>
        </p:nvSpPr>
        <p:spPr bwMode="auto">
          <a:xfrm rot="6757005">
            <a:off x="7488783" y="3848397"/>
            <a:ext cx="360362" cy="4318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-1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F39B0D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grpSp>
        <p:nvGrpSpPr>
          <p:cNvPr id="13324" name="Group 12"/>
          <p:cNvGrpSpPr>
            <a:grpSpLocks/>
          </p:cNvGrpSpPr>
          <p:nvPr/>
        </p:nvGrpSpPr>
        <p:grpSpPr bwMode="auto">
          <a:xfrm>
            <a:off x="899864" y="4892178"/>
            <a:ext cx="3384550" cy="1655763"/>
            <a:chOff x="340" y="2387"/>
            <a:chExt cx="2132" cy="1043"/>
          </a:xfrm>
        </p:grpSpPr>
        <p:sp>
          <p:nvSpPr>
            <p:cNvPr id="13337" name="Oval 13"/>
            <p:cNvSpPr>
              <a:spLocks noChangeArrowheads="1"/>
            </p:cNvSpPr>
            <p:nvPr/>
          </p:nvSpPr>
          <p:spPr bwMode="auto">
            <a:xfrm>
              <a:off x="567" y="2387"/>
              <a:ext cx="1633" cy="1043"/>
            </a:xfrm>
            <a:prstGeom prst="ellipse">
              <a:avLst/>
            </a:prstGeom>
            <a:noFill/>
            <a:ln w="76200" cmpd="tri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endParaRPr lang="hu-HU" altLang="hu-HU" sz="4400">
                <a:solidFill>
                  <a:schemeClr val="tx2"/>
                </a:solidFill>
              </a:endParaRPr>
            </a:p>
          </p:txBody>
        </p:sp>
        <p:sp>
          <p:nvSpPr>
            <p:cNvPr id="13338" name="AutoShape 14"/>
            <p:cNvSpPr>
              <a:spLocks noChangeArrowheads="1"/>
            </p:cNvSpPr>
            <p:nvPr/>
          </p:nvSpPr>
          <p:spPr bwMode="auto">
            <a:xfrm rot="10800000" flipH="1">
              <a:off x="340" y="3067"/>
              <a:ext cx="227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40 w 21600"/>
                <a:gd name="T19" fmla="*/ 3176 h 21600"/>
                <a:gd name="T20" fmla="*/ 18460 w 21600"/>
                <a:gd name="T21" fmla="*/ 18424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39B0D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3339" name="Line 15"/>
            <p:cNvSpPr>
              <a:spLocks noChangeShapeType="1"/>
            </p:cNvSpPr>
            <p:nvPr/>
          </p:nvSpPr>
          <p:spPr bwMode="auto">
            <a:xfrm>
              <a:off x="340" y="3430"/>
              <a:ext cx="2132" cy="0"/>
            </a:xfrm>
            <a:prstGeom prst="line">
              <a:avLst/>
            </a:prstGeom>
            <a:noFill/>
            <a:ln w="76200">
              <a:solidFill>
                <a:srgbClr val="F39B0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3340" name="AutoShape 16"/>
            <p:cNvSpPr>
              <a:spLocks noChangeArrowheads="1"/>
            </p:cNvSpPr>
            <p:nvPr/>
          </p:nvSpPr>
          <p:spPr bwMode="auto">
            <a:xfrm rot="-10545879">
              <a:off x="2154" y="3113"/>
              <a:ext cx="227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40 w 21600"/>
                <a:gd name="T19" fmla="*/ 3176 h 21600"/>
                <a:gd name="T20" fmla="*/ 18460 w 21600"/>
                <a:gd name="T21" fmla="*/ 18424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39B0D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3341" name="AutoShape 17"/>
            <p:cNvSpPr>
              <a:spLocks noChangeArrowheads="1"/>
            </p:cNvSpPr>
            <p:nvPr/>
          </p:nvSpPr>
          <p:spPr bwMode="auto">
            <a:xfrm rot="-5755173">
              <a:off x="1487" y="3008"/>
              <a:ext cx="347" cy="28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50 w 21600"/>
                <a:gd name="T13" fmla="*/ 2900 h 21600"/>
                <a:gd name="T14" fmla="*/ 18239 w 21600"/>
                <a:gd name="T15" fmla="*/ 923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rgbClr val="F39B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3342" name="AutoShape 18"/>
            <p:cNvSpPr>
              <a:spLocks noChangeArrowheads="1"/>
            </p:cNvSpPr>
            <p:nvPr/>
          </p:nvSpPr>
          <p:spPr bwMode="auto">
            <a:xfrm rot="5755173" flipH="1">
              <a:off x="868" y="2994"/>
              <a:ext cx="319" cy="28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59 w 21600"/>
                <a:gd name="T13" fmla="*/ 2900 h 21600"/>
                <a:gd name="T14" fmla="*/ 18214 w 21600"/>
                <a:gd name="T15" fmla="*/ 923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rgbClr val="F39B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3343" name="AutoShape 19"/>
            <p:cNvSpPr>
              <a:spLocks noChangeArrowheads="1"/>
            </p:cNvSpPr>
            <p:nvPr/>
          </p:nvSpPr>
          <p:spPr bwMode="auto">
            <a:xfrm rot="-5400000">
              <a:off x="1047" y="2678"/>
              <a:ext cx="615" cy="306"/>
            </a:xfrm>
            <a:prstGeom prst="notchedRightArrow">
              <a:avLst>
                <a:gd name="adj1" fmla="val 50000"/>
                <a:gd name="adj2" fmla="val 50245"/>
              </a:avLst>
            </a:prstGeom>
            <a:solidFill>
              <a:srgbClr val="F39B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endParaRPr lang="hu-HU" altLang="hu-HU" sz="4400">
                <a:solidFill>
                  <a:schemeClr val="tx2"/>
                </a:solidFill>
              </a:endParaRPr>
            </a:p>
          </p:txBody>
        </p:sp>
      </p:grpSp>
      <p:grpSp>
        <p:nvGrpSpPr>
          <p:cNvPr id="13325" name="Group 20"/>
          <p:cNvGrpSpPr>
            <a:grpSpLocks/>
          </p:cNvGrpSpPr>
          <p:nvPr/>
        </p:nvGrpSpPr>
        <p:grpSpPr bwMode="auto">
          <a:xfrm>
            <a:off x="5148014" y="3236416"/>
            <a:ext cx="3600450" cy="3397250"/>
            <a:chOff x="3061" y="1389"/>
            <a:chExt cx="2268" cy="2140"/>
          </a:xfrm>
        </p:grpSpPr>
        <p:sp>
          <p:nvSpPr>
            <p:cNvPr id="13326" name="Line 21"/>
            <p:cNvSpPr>
              <a:spLocks noChangeShapeType="1"/>
            </p:cNvSpPr>
            <p:nvPr/>
          </p:nvSpPr>
          <p:spPr bwMode="auto">
            <a:xfrm>
              <a:off x="3061" y="3475"/>
              <a:ext cx="2268" cy="0"/>
            </a:xfrm>
            <a:prstGeom prst="line">
              <a:avLst/>
            </a:prstGeom>
            <a:noFill/>
            <a:ln w="76200">
              <a:solidFill>
                <a:srgbClr val="F39B0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3327" name="Oval 22"/>
            <p:cNvSpPr>
              <a:spLocks noChangeArrowheads="1"/>
            </p:cNvSpPr>
            <p:nvPr/>
          </p:nvSpPr>
          <p:spPr bwMode="auto">
            <a:xfrm>
              <a:off x="3334" y="1389"/>
              <a:ext cx="1633" cy="1043"/>
            </a:xfrm>
            <a:prstGeom prst="ellipse">
              <a:avLst/>
            </a:prstGeom>
            <a:noFill/>
            <a:ln w="76200" cmpd="tri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endParaRPr lang="hu-HU" altLang="hu-HU" sz="4400">
                <a:solidFill>
                  <a:schemeClr val="tx2"/>
                </a:solidFill>
              </a:endParaRPr>
            </a:p>
          </p:txBody>
        </p:sp>
        <p:sp>
          <p:nvSpPr>
            <p:cNvPr id="13328" name="Freeform 23"/>
            <p:cNvSpPr>
              <a:spLocks/>
            </p:cNvSpPr>
            <p:nvPr/>
          </p:nvSpPr>
          <p:spPr bwMode="auto">
            <a:xfrm>
              <a:off x="3243" y="2387"/>
              <a:ext cx="680" cy="1119"/>
            </a:xfrm>
            <a:custGeom>
              <a:avLst/>
              <a:gdLst>
                <a:gd name="T0" fmla="*/ 0 w 506"/>
                <a:gd name="T1" fmla="*/ 998 h 1119"/>
                <a:gd name="T2" fmla="*/ 1786 w 506"/>
                <a:gd name="T3" fmla="*/ 998 h 1119"/>
                <a:gd name="T4" fmla="*/ 2189 w 506"/>
                <a:gd name="T5" fmla="*/ 272 h 1119"/>
                <a:gd name="T6" fmla="*/ 1592 w 506"/>
                <a:gd name="T7" fmla="*/ 0 h 11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06"/>
                <a:gd name="T13" fmla="*/ 0 h 1119"/>
                <a:gd name="T14" fmla="*/ 506 w 506"/>
                <a:gd name="T15" fmla="*/ 1119 h 11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06" h="1119">
                  <a:moveTo>
                    <a:pt x="0" y="998"/>
                  </a:moveTo>
                  <a:cubicBezTo>
                    <a:pt x="162" y="1058"/>
                    <a:pt x="325" y="1119"/>
                    <a:pt x="408" y="998"/>
                  </a:cubicBezTo>
                  <a:cubicBezTo>
                    <a:pt x="491" y="877"/>
                    <a:pt x="506" y="438"/>
                    <a:pt x="499" y="272"/>
                  </a:cubicBezTo>
                  <a:cubicBezTo>
                    <a:pt x="492" y="106"/>
                    <a:pt x="386" y="45"/>
                    <a:pt x="363" y="0"/>
                  </a:cubicBezTo>
                </a:path>
              </a:pathLst>
            </a:custGeom>
            <a:noFill/>
            <a:ln w="5715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3329" name="Freeform 24"/>
            <p:cNvSpPr>
              <a:spLocks/>
            </p:cNvSpPr>
            <p:nvPr/>
          </p:nvSpPr>
          <p:spPr bwMode="auto">
            <a:xfrm>
              <a:off x="4513" y="2296"/>
              <a:ext cx="726" cy="1233"/>
            </a:xfrm>
            <a:custGeom>
              <a:avLst/>
              <a:gdLst>
                <a:gd name="T0" fmla="*/ 2051 w 560"/>
                <a:gd name="T1" fmla="*/ 1089 h 1233"/>
                <a:gd name="T2" fmla="*/ 888 w 560"/>
                <a:gd name="T3" fmla="*/ 1089 h 1233"/>
                <a:gd name="T4" fmla="*/ 53 w 560"/>
                <a:gd name="T5" fmla="*/ 227 h 1233"/>
                <a:gd name="T6" fmla="*/ 554 w 560"/>
                <a:gd name="T7" fmla="*/ 0 h 12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1233"/>
                <a:gd name="T14" fmla="*/ 560 w 560"/>
                <a:gd name="T15" fmla="*/ 1233 h 12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1233">
                  <a:moveTo>
                    <a:pt x="560" y="1089"/>
                  </a:moveTo>
                  <a:cubicBezTo>
                    <a:pt x="446" y="1161"/>
                    <a:pt x="333" y="1233"/>
                    <a:pt x="242" y="1089"/>
                  </a:cubicBezTo>
                  <a:cubicBezTo>
                    <a:pt x="151" y="945"/>
                    <a:pt x="30" y="408"/>
                    <a:pt x="15" y="227"/>
                  </a:cubicBezTo>
                  <a:cubicBezTo>
                    <a:pt x="0" y="46"/>
                    <a:pt x="128" y="38"/>
                    <a:pt x="151" y="0"/>
                  </a:cubicBezTo>
                </a:path>
              </a:pathLst>
            </a:custGeom>
            <a:noFill/>
            <a:ln w="5715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3330" name="AutoShape 25"/>
            <p:cNvSpPr>
              <a:spLocks noChangeArrowheads="1"/>
            </p:cNvSpPr>
            <p:nvPr/>
          </p:nvSpPr>
          <p:spPr bwMode="auto">
            <a:xfrm rot="2637129">
              <a:off x="4694" y="1706"/>
              <a:ext cx="227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40 w 21600"/>
                <a:gd name="T19" fmla="*/ 3176 h 21600"/>
                <a:gd name="T20" fmla="*/ 18460 w 21600"/>
                <a:gd name="T21" fmla="*/ 18424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39B0D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3331" name="AutoShape 26"/>
            <p:cNvSpPr>
              <a:spLocks noChangeArrowheads="1"/>
            </p:cNvSpPr>
            <p:nvPr/>
          </p:nvSpPr>
          <p:spPr bwMode="auto">
            <a:xfrm rot="-2870446">
              <a:off x="4332" y="1480"/>
              <a:ext cx="227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40 w 21600"/>
                <a:gd name="T19" fmla="*/ 3176 h 21600"/>
                <a:gd name="T20" fmla="*/ 18460 w 21600"/>
                <a:gd name="T21" fmla="*/ 18424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39B0D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3332" name="AutoShape 27"/>
            <p:cNvSpPr>
              <a:spLocks noChangeArrowheads="1"/>
            </p:cNvSpPr>
            <p:nvPr/>
          </p:nvSpPr>
          <p:spPr bwMode="auto">
            <a:xfrm rot="2653667" flipH="1">
              <a:off x="3696" y="1480"/>
              <a:ext cx="227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40 w 21600"/>
                <a:gd name="T19" fmla="*/ 3176 h 21600"/>
                <a:gd name="T20" fmla="*/ 18460 w 21600"/>
                <a:gd name="T21" fmla="*/ 18424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39B0D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3333" name="AutoShape 28"/>
            <p:cNvSpPr>
              <a:spLocks noChangeArrowheads="1"/>
            </p:cNvSpPr>
            <p:nvPr/>
          </p:nvSpPr>
          <p:spPr bwMode="auto">
            <a:xfrm rot="19120999" flipH="1">
              <a:off x="3424" y="1706"/>
              <a:ext cx="227" cy="3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40 w 21600"/>
                <a:gd name="T19" fmla="*/ 3162 h 21600"/>
                <a:gd name="T20" fmla="*/ 18460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39B0D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3334" name="AutoShape 29"/>
            <p:cNvSpPr>
              <a:spLocks noChangeArrowheads="1"/>
            </p:cNvSpPr>
            <p:nvPr/>
          </p:nvSpPr>
          <p:spPr bwMode="auto">
            <a:xfrm rot="15808828" flipH="1">
              <a:off x="3628" y="2093"/>
              <a:ext cx="227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40 w 21600"/>
                <a:gd name="T19" fmla="*/ 3176 h 21600"/>
                <a:gd name="T20" fmla="*/ 18460 w 21600"/>
                <a:gd name="T21" fmla="*/ 18424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39B0D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3335" name="AutoShape 30"/>
            <p:cNvSpPr>
              <a:spLocks noChangeArrowheads="1"/>
            </p:cNvSpPr>
            <p:nvPr/>
          </p:nvSpPr>
          <p:spPr bwMode="auto">
            <a:xfrm rot="-5400000">
              <a:off x="3904" y="2859"/>
              <a:ext cx="615" cy="306"/>
            </a:xfrm>
            <a:prstGeom prst="notchedRightArrow">
              <a:avLst>
                <a:gd name="adj1" fmla="val 50000"/>
                <a:gd name="adj2" fmla="val 50245"/>
              </a:avLst>
            </a:prstGeom>
            <a:solidFill>
              <a:srgbClr val="F39B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endParaRPr lang="hu-HU" altLang="hu-HU" sz="4400">
                <a:solidFill>
                  <a:schemeClr val="tx2"/>
                </a:solidFill>
              </a:endParaRPr>
            </a:p>
          </p:txBody>
        </p:sp>
        <p:sp>
          <p:nvSpPr>
            <p:cNvPr id="13336" name="AutoShape 31"/>
            <p:cNvSpPr>
              <a:spLocks noChangeArrowheads="1"/>
            </p:cNvSpPr>
            <p:nvPr/>
          </p:nvSpPr>
          <p:spPr bwMode="auto">
            <a:xfrm rot="-5400000">
              <a:off x="3859" y="1952"/>
              <a:ext cx="615" cy="306"/>
            </a:xfrm>
            <a:prstGeom prst="notchedRightArrow">
              <a:avLst>
                <a:gd name="adj1" fmla="val 50000"/>
                <a:gd name="adj2" fmla="val 50245"/>
              </a:avLst>
            </a:prstGeom>
            <a:solidFill>
              <a:srgbClr val="F39B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endParaRPr lang="hu-HU" altLang="hu-HU" sz="440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01036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2700040" y="3787031"/>
            <a:ext cx="3529012" cy="2954337"/>
            <a:chOff x="1247" y="2205"/>
            <a:chExt cx="2223" cy="1861"/>
          </a:xfrm>
        </p:grpSpPr>
        <p:sp>
          <p:nvSpPr>
            <p:cNvPr id="14341" name="AutoShape 3"/>
            <p:cNvSpPr>
              <a:spLocks noChangeArrowheads="1"/>
            </p:cNvSpPr>
            <p:nvPr/>
          </p:nvSpPr>
          <p:spPr bwMode="auto">
            <a:xfrm>
              <a:off x="2699" y="3612"/>
              <a:ext cx="90" cy="409"/>
            </a:xfrm>
            <a:prstGeom prst="upArrow">
              <a:avLst>
                <a:gd name="adj1" fmla="val 50000"/>
                <a:gd name="adj2" fmla="val 113611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endParaRPr lang="hu-HU" altLang="hu-HU" sz="4400">
                <a:solidFill>
                  <a:schemeClr val="tx2"/>
                </a:solidFill>
              </a:endParaRPr>
            </a:p>
          </p:txBody>
        </p:sp>
        <p:sp>
          <p:nvSpPr>
            <p:cNvPr id="14342" name="Line 4"/>
            <p:cNvSpPr>
              <a:spLocks noChangeShapeType="1"/>
            </p:cNvSpPr>
            <p:nvPr/>
          </p:nvSpPr>
          <p:spPr bwMode="auto">
            <a:xfrm>
              <a:off x="1479" y="4065"/>
              <a:ext cx="1806" cy="1"/>
            </a:xfrm>
            <a:prstGeom prst="line">
              <a:avLst/>
            </a:prstGeom>
            <a:noFill/>
            <a:ln w="76200">
              <a:solidFill>
                <a:srgbClr val="F39B0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8437" name="Oval 5"/>
            <p:cNvSpPr>
              <a:spLocks noChangeArrowheads="1"/>
            </p:cNvSpPr>
            <p:nvPr/>
          </p:nvSpPr>
          <p:spPr bwMode="auto">
            <a:xfrm>
              <a:off x="2200" y="2251"/>
              <a:ext cx="408" cy="1451"/>
            </a:xfrm>
            <a:prstGeom prst="ellipse">
              <a:avLst/>
            </a:prstGeom>
            <a:noFill/>
            <a:ln w="38100" cmpd="dbl" algn="ctr">
              <a:solidFill>
                <a:srgbClr val="F39B0D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endParaRPr lang="hu-HU" sz="2000">
                <a:solidFill>
                  <a:srgbClr val="F39B0D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18438" name="AutoShape 6"/>
            <p:cNvSpPr>
              <a:spLocks noChangeArrowheads="1"/>
            </p:cNvSpPr>
            <p:nvPr/>
          </p:nvSpPr>
          <p:spPr bwMode="auto">
            <a:xfrm>
              <a:off x="2018" y="3566"/>
              <a:ext cx="90" cy="454"/>
            </a:xfrm>
            <a:prstGeom prst="upArrow">
              <a:avLst>
                <a:gd name="adj1" fmla="val 50000"/>
                <a:gd name="adj2" fmla="val 126111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  <a:defRPr/>
              </a:pPr>
              <a:endParaRPr lang="hu-HU" sz="2000">
                <a:solidFill>
                  <a:srgbClr val="F39B0D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14345" name="AutoShape 7"/>
            <p:cNvSpPr>
              <a:spLocks noChangeArrowheads="1"/>
            </p:cNvSpPr>
            <p:nvPr/>
          </p:nvSpPr>
          <p:spPr bwMode="auto">
            <a:xfrm>
              <a:off x="2833" y="2205"/>
              <a:ext cx="637" cy="5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17694720 60000 65536"/>
                <a:gd name="T11" fmla="*/ 5898240 60000 65536"/>
                <a:gd name="T12" fmla="*/ 5898240 60000 65536"/>
                <a:gd name="T13" fmla="*/ 5898240 60000 65536"/>
                <a:gd name="T14" fmla="*/ 0 60000 65536"/>
                <a:gd name="T15" fmla="*/ 0 w 21600"/>
                <a:gd name="T16" fmla="*/ 8323 h 21600"/>
                <a:gd name="T17" fmla="*/ 6104 w 21600"/>
                <a:gd name="T18" fmla="*/ 21600 h 21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600" h="21600">
                  <a:moveTo>
                    <a:pt x="15662" y="14285"/>
                  </a:moveTo>
                  <a:lnTo>
                    <a:pt x="21600" y="8310"/>
                  </a:lnTo>
                  <a:lnTo>
                    <a:pt x="18630" y="8310"/>
                  </a:lnTo>
                  <a:cubicBezTo>
                    <a:pt x="18630" y="3721"/>
                    <a:pt x="14430" y="0"/>
                    <a:pt x="9250" y="0"/>
                  </a:cubicBezTo>
                  <a:cubicBezTo>
                    <a:pt x="4141" y="0"/>
                    <a:pt x="0" y="3799"/>
                    <a:pt x="0" y="8485"/>
                  </a:cubicBezTo>
                  <a:lnTo>
                    <a:pt x="0" y="21600"/>
                  </a:lnTo>
                  <a:lnTo>
                    <a:pt x="6110" y="21600"/>
                  </a:lnTo>
                  <a:lnTo>
                    <a:pt x="6110" y="8310"/>
                  </a:lnTo>
                  <a:cubicBezTo>
                    <a:pt x="6110" y="6947"/>
                    <a:pt x="7362" y="5842"/>
                    <a:pt x="8907" y="5842"/>
                  </a:cubicBezTo>
                  <a:lnTo>
                    <a:pt x="9725" y="5842"/>
                  </a:lnTo>
                  <a:cubicBezTo>
                    <a:pt x="11269" y="5842"/>
                    <a:pt x="12520" y="6947"/>
                    <a:pt x="12520" y="8310"/>
                  </a:cubicBezTo>
                  <a:lnTo>
                    <a:pt x="9725" y="8310"/>
                  </a:lnTo>
                  <a:close/>
                </a:path>
              </a:pathLst>
            </a:custGeom>
            <a:solidFill>
              <a:srgbClr val="E6E61A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4346" name="AutoShape 8"/>
            <p:cNvSpPr>
              <a:spLocks noChangeArrowheads="1"/>
            </p:cNvSpPr>
            <p:nvPr/>
          </p:nvSpPr>
          <p:spPr bwMode="auto">
            <a:xfrm flipH="1">
              <a:off x="1247" y="2205"/>
              <a:ext cx="627" cy="5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17694720 60000 65536"/>
                <a:gd name="T11" fmla="*/ 5898240 60000 65536"/>
                <a:gd name="T12" fmla="*/ 5898240 60000 65536"/>
                <a:gd name="T13" fmla="*/ 5898240 60000 65536"/>
                <a:gd name="T14" fmla="*/ 0 60000 65536"/>
                <a:gd name="T15" fmla="*/ 0 w 21600"/>
                <a:gd name="T16" fmla="*/ 8323 h 21600"/>
                <a:gd name="T17" fmla="*/ 6098 w 21600"/>
                <a:gd name="T18" fmla="*/ 21600 h 21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600" h="21600">
                  <a:moveTo>
                    <a:pt x="15662" y="14285"/>
                  </a:moveTo>
                  <a:lnTo>
                    <a:pt x="21600" y="8310"/>
                  </a:lnTo>
                  <a:lnTo>
                    <a:pt x="18630" y="8310"/>
                  </a:lnTo>
                  <a:cubicBezTo>
                    <a:pt x="18630" y="3721"/>
                    <a:pt x="14430" y="0"/>
                    <a:pt x="9250" y="0"/>
                  </a:cubicBezTo>
                  <a:cubicBezTo>
                    <a:pt x="4141" y="0"/>
                    <a:pt x="0" y="3799"/>
                    <a:pt x="0" y="8485"/>
                  </a:cubicBezTo>
                  <a:lnTo>
                    <a:pt x="0" y="21600"/>
                  </a:lnTo>
                  <a:lnTo>
                    <a:pt x="6110" y="21600"/>
                  </a:lnTo>
                  <a:lnTo>
                    <a:pt x="6110" y="8310"/>
                  </a:lnTo>
                  <a:cubicBezTo>
                    <a:pt x="6110" y="6947"/>
                    <a:pt x="7362" y="5842"/>
                    <a:pt x="8907" y="5842"/>
                  </a:cubicBezTo>
                  <a:lnTo>
                    <a:pt x="9725" y="5842"/>
                  </a:lnTo>
                  <a:cubicBezTo>
                    <a:pt x="11269" y="5842"/>
                    <a:pt x="12520" y="6947"/>
                    <a:pt x="12520" y="8310"/>
                  </a:cubicBezTo>
                  <a:lnTo>
                    <a:pt x="9725" y="8310"/>
                  </a:lnTo>
                  <a:close/>
                </a:path>
              </a:pathLst>
            </a:custGeom>
            <a:solidFill>
              <a:srgbClr val="E6E61A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4347" name="AutoShape 9"/>
            <p:cNvSpPr>
              <a:spLocks noChangeArrowheads="1"/>
            </p:cNvSpPr>
            <p:nvPr/>
          </p:nvSpPr>
          <p:spPr bwMode="auto">
            <a:xfrm rot="-5400000">
              <a:off x="1824" y="3080"/>
              <a:ext cx="43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84 w 21600"/>
                <a:gd name="T13" fmla="*/ 5400 h 21600"/>
                <a:gd name="T14" fmla="*/ 18912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4348" name="AutoShape 10"/>
            <p:cNvSpPr>
              <a:spLocks noChangeArrowheads="1"/>
            </p:cNvSpPr>
            <p:nvPr/>
          </p:nvSpPr>
          <p:spPr bwMode="auto">
            <a:xfrm rot="-5400000">
              <a:off x="2550" y="3080"/>
              <a:ext cx="43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84 w 21600"/>
                <a:gd name="T13" fmla="*/ 5400 h 21600"/>
                <a:gd name="T14" fmla="*/ 18912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4349" name="AutoShape 11"/>
            <p:cNvSpPr>
              <a:spLocks noChangeArrowheads="1"/>
            </p:cNvSpPr>
            <p:nvPr/>
          </p:nvSpPr>
          <p:spPr bwMode="auto">
            <a:xfrm rot="-5400000">
              <a:off x="2187" y="2672"/>
              <a:ext cx="43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84 w 21600"/>
                <a:gd name="T13" fmla="*/ 5400 h 21600"/>
                <a:gd name="T14" fmla="*/ 18912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4350" name="AutoShape 12"/>
            <p:cNvSpPr>
              <a:spLocks noChangeArrowheads="1"/>
            </p:cNvSpPr>
            <p:nvPr/>
          </p:nvSpPr>
          <p:spPr bwMode="auto">
            <a:xfrm rot="5400000">
              <a:off x="3139" y="2808"/>
              <a:ext cx="43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84 w 21600"/>
                <a:gd name="T13" fmla="*/ 5400 h 21600"/>
                <a:gd name="T14" fmla="*/ 18912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4351" name="AutoShape 13"/>
            <p:cNvSpPr>
              <a:spLocks noChangeArrowheads="1"/>
            </p:cNvSpPr>
            <p:nvPr/>
          </p:nvSpPr>
          <p:spPr bwMode="auto">
            <a:xfrm rot="5400000">
              <a:off x="1189" y="2853"/>
              <a:ext cx="43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84 w 21600"/>
                <a:gd name="T13" fmla="*/ 5400 h 21600"/>
                <a:gd name="T14" fmla="*/ 18912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14352" name="AutoShape 14"/>
            <p:cNvSpPr>
              <a:spLocks noChangeArrowheads="1"/>
            </p:cNvSpPr>
            <p:nvPr/>
          </p:nvSpPr>
          <p:spPr bwMode="auto">
            <a:xfrm rot="5400000">
              <a:off x="1189" y="3443"/>
              <a:ext cx="43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84 w 21600"/>
                <a:gd name="T13" fmla="*/ 5400 h 21600"/>
                <a:gd name="T14" fmla="*/ 18912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hu-HU"/>
            </a:p>
          </p:txBody>
        </p:sp>
      </p:grpSp>
      <p:sp>
        <p:nvSpPr>
          <p:cNvPr id="14339" name="AutoShape 15"/>
          <p:cNvSpPr>
            <a:spLocks noChangeArrowheads="1"/>
          </p:cNvSpPr>
          <p:nvPr/>
        </p:nvSpPr>
        <p:spPr bwMode="auto">
          <a:xfrm rot="5400000">
            <a:off x="5271789" y="5823794"/>
            <a:ext cx="688975" cy="2159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342602" y="286593"/>
            <a:ext cx="7451725" cy="37548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defRPr/>
            </a:pPr>
            <a:r>
              <a:rPr lang="hu-HU" sz="2800" b="1" dirty="0">
                <a:cs typeface="Times New Roman" pitchFamily="18" charset="0"/>
              </a:rPr>
              <a:t>Kémény </a:t>
            </a:r>
            <a:r>
              <a:rPr lang="hu-HU" sz="2800" b="1" dirty="0" smtClean="0">
                <a:cs typeface="Times New Roman" pitchFamily="18" charset="0"/>
              </a:rPr>
              <a:t>termik</a:t>
            </a:r>
            <a:r>
              <a:rPr lang="hu-HU" sz="2800" dirty="0" smtClean="0">
                <a:cs typeface="Times New Roman" pitchFamily="18" charset="0"/>
              </a:rPr>
              <a:t>  </a:t>
            </a:r>
            <a:endParaRPr lang="hu-HU" sz="2800" dirty="0">
              <a:cs typeface="Times New Roman" pitchFamily="18" charset="0"/>
            </a:endParaRPr>
          </a:p>
          <a:p>
            <a:pPr marL="342900" indent="-342900" algn="just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endParaRPr lang="hu-HU" sz="2000" dirty="0">
              <a:cs typeface="Times New Roman" pitchFamily="18" charset="0"/>
            </a:endParaRPr>
          </a:p>
          <a:p>
            <a:pPr marL="342900" indent="-342900" algn="just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hu-HU" sz="2000" dirty="0">
                <a:cs typeface="Times New Roman" pitchFamily="18" charset="0"/>
              </a:rPr>
              <a:t>	Ha a levegő a földfelszín közeléből kis megszakításokkal vagy folyamatosan emelkedik fel, akkor az emelkedő levegőnek többé-kevésbé folyamatos oszlopa alakul ki. A termikben úgy áramlik a levegő felfelé, mint a füst a kéményből. A fel és leszálló levegő cirkulációt hoz létre. A felemelkedő levegő helyébe oldalról és alulról áramlik az utánpótlás. A felszálló ág keresztmetszete jóval kisebb, mint a leszállóágé.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lang="hu-HU" sz="20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7587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Kata dokumentumok\Ejtőernyőzés, tandem\oktatás\fari_elmélet\03_termik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4864"/>
            <a:ext cx="9144000" cy="255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232648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chemeClr val="bg1"/>
                </a:solidFill>
                <a:latin typeface="Times New Roman" pitchFamily="18" charset="0"/>
              </a:rPr>
              <a:t>A </a:t>
            </a:r>
            <a:r>
              <a:rPr lang="hu-HU" sz="4000" b="1" dirty="0" smtClean="0">
                <a:solidFill>
                  <a:schemeClr val="bg1"/>
                </a:solidFill>
                <a:latin typeface="Times New Roman" pitchFamily="18" charset="0"/>
              </a:rPr>
              <a:t>szélnyírás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6513" y="1125538"/>
            <a:ext cx="91440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Szélnyírás 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</a:t>
            </a:r>
            <a:r>
              <a:rPr lang="hu-HU" sz="2200" b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wind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hu-HU" sz="2200" b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shear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 </a:t>
            </a: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 a szél sebességének és / vagy irányának hirtelen, drasztikus megváltozása. Vektoriálisan értelmezve a szélerősségvektor gradiensének megváltozása). 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 </a:t>
            </a:r>
            <a:r>
              <a:rPr lang="hu-HU" sz="2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légijármű</a:t>
            </a: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útja során a szél, 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az egyik </a:t>
            </a: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pillanatról a másikra sebességet és / vagy irányt (is) 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változtathat, </a:t>
            </a: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igen 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gyorsan, akár nagyon </a:t>
            </a: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drasztikus mértékben. </a:t>
            </a:r>
            <a:endParaRPr lang="hu-HU" sz="22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endParaRPr lang="hu-HU" sz="22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Fajtái: alacsony és magas szintű, lehet 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vízszintes (frontok között, part közelben), </a:t>
            </a: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függőleges 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(felszín közelben)</a:t>
            </a: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hu-HU" sz="2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illetve </a:t>
            </a:r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komplex. </a:t>
            </a:r>
            <a:endParaRPr lang="hu-HU" sz="22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/>
            </a:r>
            <a:br>
              <a:rPr lang="hu-HU" sz="2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</a:br>
            <a:endParaRPr lang="hu-HU" sz="22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" name="Téglalap 1"/>
          <p:cNvSpPr/>
          <p:nvPr/>
        </p:nvSpPr>
        <p:spPr>
          <a:xfrm>
            <a:off x="255209" y="5373216"/>
            <a:ext cx="8655808" cy="1015663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hu-HU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Az okok, az idevezető meteorológiai körülmények: hidegfronti, </a:t>
            </a:r>
            <a:r>
              <a:rPr lang="hu-HU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melegfronti</a:t>
            </a:r>
            <a:r>
              <a:rPr lang="hu-HU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hu-HU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frontálzóna</a:t>
            </a:r>
            <a:r>
              <a:rPr lang="hu-HU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, erős szél és domborzat kölcsönhatása, hegyvidéki turbulencia, </a:t>
            </a:r>
            <a:r>
              <a:rPr lang="hu-HU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sea</a:t>
            </a:r>
            <a:r>
              <a:rPr lang="hu-HU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hu-HU" sz="2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breeze</a:t>
            </a:r>
            <a:r>
              <a:rPr lang="hu-HU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front, alacsonyszintű hőmérsékleti inverzió, zivatartevékenység. 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2651125" y="5908675"/>
            <a:ext cx="3444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hu-HU" sz="2400">
              <a:latin typeface="Times New Roman" pitchFamily="18" charset="0"/>
            </a:endParaRP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3657600" y="-1588"/>
            <a:ext cx="184150" cy="457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hu-HU" sz="2400" b="1"/>
          </a:p>
        </p:txBody>
      </p:sp>
      <p:pic>
        <p:nvPicPr>
          <p:cNvPr id="63492" name="Picture 4" descr="directionalshea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solidFill>
                  <a:schemeClr val="bg1"/>
                </a:solidFill>
                <a:latin typeface="Times New Roman" pitchFamily="18" charset="0"/>
              </a:rPr>
              <a:t>A </a:t>
            </a:r>
            <a:r>
              <a:rPr lang="hu-HU" sz="4000" b="1" dirty="0" smtClean="0">
                <a:solidFill>
                  <a:schemeClr val="bg1"/>
                </a:solidFill>
                <a:latin typeface="Times New Roman" pitchFamily="18" charset="0"/>
              </a:rPr>
              <a:t>szélnyírás</a:t>
            </a:r>
            <a:endParaRPr lang="hu-HU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3657600" y="-1588"/>
            <a:ext cx="184150" cy="457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hu-HU" sz="2400" b="1"/>
          </a:p>
        </p:txBody>
      </p:sp>
      <p:pic>
        <p:nvPicPr>
          <p:cNvPr id="67587" name="Picture 3" descr="25shea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1219200"/>
            <a:ext cx="6781800" cy="4090988"/>
          </a:xfrm>
          <a:prstGeom prst="rect">
            <a:avLst/>
          </a:prstGeom>
          <a:noFill/>
        </p:spPr>
      </p:pic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468313" y="0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latin typeface="Times New Roman" pitchFamily="18" charset="0"/>
              </a:rPr>
              <a:t>A </a:t>
            </a:r>
            <a:r>
              <a:rPr lang="hu-HU" sz="4000" b="1" dirty="0" smtClean="0">
                <a:latin typeface="Times New Roman" pitchFamily="18" charset="0"/>
              </a:rPr>
              <a:t>szélnyírás</a:t>
            </a:r>
            <a:endParaRPr lang="hu-HU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3657600" y="-1588"/>
            <a:ext cx="184150" cy="457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hu-HU" sz="2400" b="1"/>
          </a:p>
        </p:txBody>
      </p:sp>
      <p:pic>
        <p:nvPicPr>
          <p:cNvPr id="69635" name="Picture 3" descr="shearedcu"/>
          <p:cNvPicPr>
            <a:picLocks noChangeAspect="1" noChangeArrowheads="1"/>
          </p:cNvPicPr>
          <p:nvPr/>
        </p:nvPicPr>
        <p:blipFill rotWithShape="1">
          <a:blip r:embed="rId3" cstate="print"/>
          <a:srcRect t="1166" b="7965"/>
          <a:stretch/>
        </p:blipFill>
        <p:spPr bwMode="auto">
          <a:xfrm>
            <a:off x="1187449" y="1412776"/>
            <a:ext cx="7235825" cy="4932000"/>
          </a:xfrm>
          <a:prstGeom prst="rect">
            <a:avLst/>
          </a:prstGeom>
          <a:noFill/>
        </p:spPr>
      </p:pic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468313" y="227012"/>
            <a:ext cx="82296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4000" b="1" dirty="0">
                <a:latin typeface="Times New Roman" pitchFamily="18" charset="0"/>
              </a:rPr>
              <a:t>A </a:t>
            </a:r>
            <a:r>
              <a:rPr lang="hu-HU" sz="4000" b="1" dirty="0" smtClean="0">
                <a:latin typeface="Times New Roman" pitchFamily="18" charset="0"/>
              </a:rPr>
              <a:t>szélnyírás</a:t>
            </a:r>
            <a:endParaRPr lang="hu-HU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609600"/>
            <a:ext cx="7378700" cy="1143000"/>
          </a:xfrm>
        </p:spPr>
        <p:txBody>
          <a:bodyPr/>
          <a:lstStyle/>
          <a:p>
            <a:r>
              <a:rPr lang="hu-HU" sz="3200" b="1" dirty="0">
                <a:solidFill>
                  <a:schemeClr val="bg1"/>
                </a:solidFill>
              </a:rPr>
              <a:t>A szélnyírás erőssége a szélvektor vertikális megváltozása alapján</a:t>
            </a:r>
          </a:p>
        </p:txBody>
      </p:sp>
      <p:grpSp>
        <p:nvGrpSpPr>
          <p:cNvPr id="51203" name="Group 3"/>
          <p:cNvGrpSpPr>
            <a:grpSpLocks/>
          </p:cNvGrpSpPr>
          <p:nvPr/>
        </p:nvGrpSpPr>
        <p:grpSpPr bwMode="auto">
          <a:xfrm>
            <a:off x="1623195" y="2415846"/>
            <a:ext cx="6124575" cy="3208338"/>
            <a:chOff x="-3" y="-3"/>
            <a:chExt cx="3858" cy="2021"/>
          </a:xfrm>
          <a:noFill/>
          <a:effectLst>
            <a:outerShdw blurRad="50800" dist="50800" dir="5400000" algn="ctr" rotWithShape="0">
              <a:schemeClr val="tx1"/>
            </a:outerShdw>
          </a:effectLst>
        </p:grpSpPr>
        <p:grpSp>
          <p:nvGrpSpPr>
            <p:cNvPr id="51204" name="Group 4"/>
            <p:cNvGrpSpPr>
              <a:grpSpLocks/>
            </p:cNvGrpSpPr>
            <p:nvPr/>
          </p:nvGrpSpPr>
          <p:grpSpPr bwMode="auto">
            <a:xfrm>
              <a:off x="0" y="0"/>
              <a:ext cx="3852" cy="2015"/>
              <a:chOff x="0" y="0"/>
              <a:chExt cx="3852" cy="2015"/>
            </a:xfrm>
            <a:grpFill/>
          </p:grpSpPr>
          <p:grpSp>
            <p:nvGrpSpPr>
              <p:cNvPr id="51205" name="Group 5"/>
              <p:cNvGrpSpPr>
                <a:grpSpLocks/>
              </p:cNvGrpSpPr>
              <p:nvPr/>
            </p:nvGrpSpPr>
            <p:grpSpPr bwMode="auto">
              <a:xfrm>
                <a:off x="0" y="0"/>
                <a:ext cx="1284" cy="403"/>
                <a:chOff x="0" y="0"/>
                <a:chExt cx="1284" cy="403"/>
              </a:xfrm>
              <a:grpFill/>
            </p:grpSpPr>
            <p:sp>
              <p:nvSpPr>
                <p:cNvPr id="51206" name="Rectangle 6"/>
                <p:cNvSpPr>
                  <a:spLocks noChangeArrowheads="1"/>
                </p:cNvSpPr>
                <p:nvPr/>
              </p:nvSpPr>
              <p:spPr bwMode="auto">
                <a:xfrm>
                  <a:off x="28" y="0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>
                      <a:solidFill>
                        <a:schemeClr val="bg1"/>
                      </a:solidFill>
                      <a:cs typeface="Times New Roman" pitchFamily="18" charset="0"/>
                    </a:rPr>
                    <a:t>Fokozat</a:t>
                  </a:r>
                </a:p>
                <a:p>
                  <a:pPr algn="ctr" eaLnBrk="0" hangingPunct="0"/>
                  <a:endParaRPr lang="hu-HU" sz="25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1207" name="Rectangle 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08" name="Group 8"/>
              <p:cNvGrpSpPr>
                <a:grpSpLocks/>
              </p:cNvGrpSpPr>
              <p:nvPr/>
            </p:nvGrpSpPr>
            <p:grpSpPr bwMode="auto">
              <a:xfrm>
                <a:off x="1284" y="0"/>
                <a:ext cx="1284" cy="403"/>
                <a:chOff x="1284" y="0"/>
                <a:chExt cx="1284" cy="403"/>
              </a:xfrm>
              <a:grpFill/>
            </p:grpSpPr>
            <p:sp>
              <p:nvSpPr>
                <p:cNvPr id="51209" name="Rectangle 9"/>
                <p:cNvSpPr>
                  <a:spLocks noChangeArrowheads="1"/>
                </p:cNvSpPr>
                <p:nvPr/>
              </p:nvSpPr>
              <p:spPr bwMode="auto">
                <a:xfrm>
                  <a:off x="1312" y="0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>
                      <a:solidFill>
                        <a:schemeClr val="bg1"/>
                      </a:solidFill>
                      <a:cs typeface="Times New Roman" pitchFamily="18" charset="0"/>
                    </a:rPr>
                    <a:t>ms</a:t>
                  </a:r>
                  <a:r>
                    <a:rPr lang="hu-HU" sz="2500" b="1" baseline="30000">
                      <a:solidFill>
                        <a:schemeClr val="bg1"/>
                      </a:solidFill>
                      <a:cs typeface="Times New Roman" pitchFamily="18" charset="0"/>
                    </a:rPr>
                    <a:t>-1</a:t>
                  </a:r>
                  <a:r>
                    <a:rPr lang="hu-HU" sz="2500" b="1">
                      <a:solidFill>
                        <a:schemeClr val="bg1"/>
                      </a:solidFill>
                      <a:cs typeface="Times New Roman" pitchFamily="18" charset="0"/>
                    </a:rPr>
                    <a:t>/30m</a:t>
                  </a:r>
                </a:p>
                <a:p>
                  <a:pPr algn="ctr" eaLnBrk="0" hangingPunct="0"/>
                  <a:endParaRPr lang="hu-HU" sz="25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1210" name="Rectangle 10"/>
                <p:cNvSpPr>
                  <a:spLocks noChangeArrowheads="1"/>
                </p:cNvSpPr>
                <p:nvPr/>
              </p:nvSpPr>
              <p:spPr bwMode="auto">
                <a:xfrm>
                  <a:off x="1284" y="0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11" name="Group 11"/>
              <p:cNvGrpSpPr>
                <a:grpSpLocks/>
              </p:cNvGrpSpPr>
              <p:nvPr/>
            </p:nvGrpSpPr>
            <p:grpSpPr bwMode="auto">
              <a:xfrm>
                <a:off x="2568" y="0"/>
                <a:ext cx="1284" cy="403"/>
                <a:chOff x="2568" y="0"/>
                <a:chExt cx="1284" cy="403"/>
              </a:xfrm>
              <a:grpFill/>
            </p:grpSpPr>
            <p:sp>
              <p:nvSpPr>
                <p:cNvPr id="51212" name="Rectangle 12"/>
                <p:cNvSpPr>
                  <a:spLocks noChangeArrowheads="1"/>
                </p:cNvSpPr>
                <p:nvPr/>
              </p:nvSpPr>
              <p:spPr bwMode="auto">
                <a:xfrm>
                  <a:off x="2596" y="0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 dirty="0">
                      <a:solidFill>
                        <a:schemeClr val="bg1"/>
                      </a:solidFill>
                      <a:cs typeface="Times New Roman" pitchFamily="18" charset="0"/>
                    </a:rPr>
                    <a:t>fok/30m</a:t>
                  </a:r>
                </a:p>
                <a:p>
                  <a:pPr algn="ctr" eaLnBrk="0" hangingPunct="0"/>
                  <a:endParaRPr lang="hu-HU" sz="2500" b="1" dirty="0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1213" name="Rectangle 13"/>
                <p:cNvSpPr>
                  <a:spLocks noChangeArrowheads="1"/>
                </p:cNvSpPr>
                <p:nvPr/>
              </p:nvSpPr>
              <p:spPr bwMode="auto">
                <a:xfrm>
                  <a:off x="2568" y="0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14" name="Group 14"/>
              <p:cNvGrpSpPr>
                <a:grpSpLocks/>
              </p:cNvGrpSpPr>
              <p:nvPr/>
            </p:nvGrpSpPr>
            <p:grpSpPr bwMode="auto">
              <a:xfrm>
                <a:off x="0" y="403"/>
                <a:ext cx="1284" cy="403"/>
                <a:chOff x="0" y="403"/>
                <a:chExt cx="1284" cy="403"/>
              </a:xfrm>
              <a:grpFill/>
            </p:grpSpPr>
            <p:sp>
              <p:nvSpPr>
                <p:cNvPr id="51215" name="Rectangle 15"/>
                <p:cNvSpPr>
                  <a:spLocks noChangeArrowheads="1"/>
                </p:cNvSpPr>
                <p:nvPr/>
              </p:nvSpPr>
              <p:spPr bwMode="auto">
                <a:xfrm>
                  <a:off x="28" y="403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Gyenge</a:t>
                  </a:r>
                </a:p>
                <a:p>
                  <a:pPr eaLnBrk="0" hangingPunct="0"/>
                  <a:endParaRPr lang="hu-HU" sz="2500" b="1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1216" name="Rectangle 16"/>
                <p:cNvSpPr>
                  <a:spLocks noChangeArrowheads="1"/>
                </p:cNvSpPr>
                <p:nvPr/>
              </p:nvSpPr>
              <p:spPr bwMode="auto">
                <a:xfrm>
                  <a:off x="0" y="403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17" name="Group 17"/>
              <p:cNvGrpSpPr>
                <a:grpSpLocks/>
              </p:cNvGrpSpPr>
              <p:nvPr/>
            </p:nvGrpSpPr>
            <p:grpSpPr bwMode="auto">
              <a:xfrm>
                <a:off x="1284" y="403"/>
                <a:ext cx="1284" cy="403"/>
                <a:chOff x="1284" y="403"/>
                <a:chExt cx="1284" cy="403"/>
              </a:xfrm>
              <a:grpFill/>
            </p:grpSpPr>
            <p:sp>
              <p:nvSpPr>
                <p:cNvPr id="51218" name="Rectangle 18"/>
                <p:cNvSpPr>
                  <a:spLocks noChangeArrowheads="1"/>
                </p:cNvSpPr>
                <p:nvPr/>
              </p:nvSpPr>
              <p:spPr bwMode="auto">
                <a:xfrm>
                  <a:off x="1312" y="403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>
                      <a:solidFill>
                        <a:schemeClr val="bg1"/>
                      </a:solidFill>
                      <a:cs typeface="Arial" charset="0"/>
                    </a:rPr>
                    <a:t>≤ </a:t>
                  </a:r>
                  <a:r>
                    <a:rPr lang="hu-HU" sz="2500" b="1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2.0</a:t>
                  </a:r>
                </a:p>
                <a:p>
                  <a:pPr algn="ctr" eaLnBrk="0" hangingPunct="0"/>
                  <a:endParaRPr lang="hu-HU" sz="2500" b="1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1219" name="Rectangle 19"/>
                <p:cNvSpPr>
                  <a:spLocks noChangeArrowheads="1"/>
                </p:cNvSpPr>
                <p:nvPr/>
              </p:nvSpPr>
              <p:spPr bwMode="auto">
                <a:xfrm>
                  <a:off x="1284" y="403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20" name="Group 20"/>
              <p:cNvGrpSpPr>
                <a:grpSpLocks/>
              </p:cNvGrpSpPr>
              <p:nvPr/>
            </p:nvGrpSpPr>
            <p:grpSpPr bwMode="auto">
              <a:xfrm>
                <a:off x="2568" y="403"/>
                <a:ext cx="1284" cy="403"/>
                <a:chOff x="2568" y="403"/>
                <a:chExt cx="1284" cy="403"/>
              </a:xfrm>
              <a:grpFill/>
            </p:grpSpPr>
            <p:sp>
              <p:nvSpPr>
                <p:cNvPr id="51221" name="Rectangle 21"/>
                <p:cNvSpPr>
                  <a:spLocks noChangeArrowheads="1"/>
                </p:cNvSpPr>
                <p:nvPr/>
              </p:nvSpPr>
              <p:spPr bwMode="auto">
                <a:xfrm>
                  <a:off x="2596" y="403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 dirty="0">
                      <a:solidFill>
                        <a:schemeClr val="bg1"/>
                      </a:solidFill>
                      <a:cs typeface="Arial" charset="0"/>
                    </a:rPr>
                    <a:t>≤ </a:t>
                  </a:r>
                  <a:r>
                    <a:rPr lang="hu-HU" sz="2500" b="1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16</a:t>
                  </a:r>
                </a:p>
                <a:p>
                  <a:pPr algn="ctr" eaLnBrk="0" hangingPunct="0"/>
                  <a:endParaRPr lang="hu-HU" sz="2500" b="1" dirty="0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1222" name="Rectangle 22"/>
                <p:cNvSpPr>
                  <a:spLocks noChangeArrowheads="1"/>
                </p:cNvSpPr>
                <p:nvPr/>
              </p:nvSpPr>
              <p:spPr bwMode="auto">
                <a:xfrm>
                  <a:off x="2568" y="403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23" name="Group 23"/>
              <p:cNvGrpSpPr>
                <a:grpSpLocks/>
              </p:cNvGrpSpPr>
              <p:nvPr/>
            </p:nvGrpSpPr>
            <p:grpSpPr bwMode="auto">
              <a:xfrm>
                <a:off x="0" y="806"/>
                <a:ext cx="1284" cy="403"/>
                <a:chOff x="0" y="806"/>
                <a:chExt cx="1284" cy="403"/>
              </a:xfrm>
              <a:grpFill/>
            </p:grpSpPr>
            <p:sp>
              <p:nvSpPr>
                <p:cNvPr id="51224" name="Rectangle 24"/>
                <p:cNvSpPr>
                  <a:spLocks noChangeArrowheads="1"/>
                </p:cNvSpPr>
                <p:nvPr/>
              </p:nvSpPr>
              <p:spPr bwMode="auto">
                <a:xfrm>
                  <a:off x="28" y="806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Mérsékelt</a:t>
                  </a:r>
                </a:p>
                <a:p>
                  <a:pPr eaLnBrk="0" hangingPunct="0"/>
                  <a:endParaRPr lang="hu-HU" sz="2500" b="1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1225" name="Rectangle 25"/>
                <p:cNvSpPr>
                  <a:spLocks noChangeArrowheads="1"/>
                </p:cNvSpPr>
                <p:nvPr/>
              </p:nvSpPr>
              <p:spPr bwMode="auto">
                <a:xfrm>
                  <a:off x="0" y="806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26" name="Group 26"/>
              <p:cNvGrpSpPr>
                <a:grpSpLocks/>
              </p:cNvGrpSpPr>
              <p:nvPr/>
            </p:nvGrpSpPr>
            <p:grpSpPr bwMode="auto">
              <a:xfrm>
                <a:off x="1284" y="806"/>
                <a:ext cx="1284" cy="403"/>
                <a:chOff x="1284" y="806"/>
                <a:chExt cx="1284" cy="403"/>
              </a:xfrm>
              <a:grpFill/>
            </p:grpSpPr>
            <p:sp>
              <p:nvSpPr>
                <p:cNvPr id="51227" name="Rectangle 27"/>
                <p:cNvSpPr>
                  <a:spLocks noChangeArrowheads="1"/>
                </p:cNvSpPr>
                <p:nvPr/>
              </p:nvSpPr>
              <p:spPr bwMode="auto">
                <a:xfrm>
                  <a:off x="1312" y="806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2.1 – 4.0</a:t>
                  </a:r>
                </a:p>
                <a:p>
                  <a:pPr algn="ctr" eaLnBrk="0" hangingPunct="0"/>
                  <a:endParaRPr lang="hu-HU" sz="2500" b="1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1228" name="Rectangle 28"/>
                <p:cNvSpPr>
                  <a:spLocks noChangeArrowheads="1"/>
                </p:cNvSpPr>
                <p:nvPr/>
              </p:nvSpPr>
              <p:spPr bwMode="auto">
                <a:xfrm>
                  <a:off x="1284" y="806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29" name="Group 29"/>
              <p:cNvGrpSpPr>
                <a:grpSpLocks/>
              </p:cNvGrpSpPr>
              <p:nvPr/>
            </p:nvGrpSpPr>
            <p:grpSpPr bwMode="auto">
              <a:xfrm>
                <a:off x="2568" y="806"/>
                <a:ext cx="1284" cy="403"/>
                <a:chOff x="2568" y="806"/>
                <a:chExt cx="1284" cy="403"/>
              </a:xfrm>
              <a:grpFill/>
            </p:grpSpPr>
            <p:sp>
              <p:nvSpPr>
                <p:cNvPr id="51230" name="Rectangle 30"/>
                <p:cNvSpPr>
                  <a:spLocks noChangeArrowheads="1"/>
                </p:cNvSpPr>
                <p:nvPr/>
              </p:nvSpPr>
              <p:spPr bwMode="auto">
                <a:xfrm>
                  <a:off x="2596" y="806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17 – 32</a:t>
                  </a:r>
                </a:p>
                <a:p>
                  <a:pPr algn="ctr" eaLnBrk="0" hangingPunct="0"/>
                  <a:endParaRPr lang="hu-HU" sz="2500" b="1" dirty="0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1231" name="Rectangle 31"/>
                <p:cNvSpPr>
                  <a:spLocks noChangeArrowheads="1"/>
                </p:cNvSpPr>
                <p:nvPr/>
              </p:nvSpPr>
              <p:spPr bwMode="auto">
                <a:xfrm>
                  <a:off x="2568" y="806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32" name="Group 32"/>
              <p:cNvGrpSpPr>
                <a:grpSpLocks/>
              </p:cNvGrpSpPr>
              <p:nvPr/>
            </p:nvGrpSpPr>
            <p:grpSpPr bwMode="auto">
              <a:xfrm>
                <a:off x="0" y="1209"/>
                <a:ext cx="1284" cy="403"/>
                <a:chOff x="0" y="1209"/>
                <a:chExt cx="1284" cy="403"/>
              </a:xfrm>
              <a:grpFill/>
            </p:grpSpPr>
            <p:sp>
              <p:nvSpPr>
                <p:cNvPr id="51233" name="Rectangle 33"/>
                <p:cNvSpPr>
                  <a:spLocks noChangeArrowheads="1"/>
                </p:cNvSpPr>
                <p:nvPr/>
              </p:nvSpPr>
              <p:spPr bwMode="auto">
                <a:xfrm>
                  <a:off x="28" y="1209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Erős</a:t>
                  </a:r>
                </a:p>
                <a:p>
                  <a:pPr eaLnBrk="0" hangingPunct="0"/>
                  <a:endParaRPr lang="hu-HU" sz="2500" b="1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1234" name="Rectangle 34"/>
                <p:cNvSpPr>
                  <a:spLocks noChangeArrowheads="1"/>
                </p:cNvSpPr>
                <p:nvPr/>
              </p:nvSpPr>
              <p:spPr bwMode="auto">
                <a:xfrm>
                  <a:off x="0" y="1209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35" name="Group 35"/>
              <p:cNvGrpSpPr>
                <a:grpSpLocks/>
              </p:cNvGrpSpPr>
              <p:nvPr/>
            </p:nvGrpSpPr>
            <p:grpSpPr bwMode="auto">
              <a:xfrm>
                <a:off x="1284" y="1209"/>
                <a:ext cx="1284" cy="403"/>
                <a:chOff x="1284" y="1209"/>
                <a:chExt cx="1284" cy="403"/>
              </a:xfrm>
              <a:grpFill/>
            </p:grpSpPr>
            <p:sp>
              <p:nvSpPr>
                <p:cNvPr id="51236" name="Rectangle 36"/>
                <p:cNvSpPr>
                  <a:spLocks noChangeArrowheads="1"/>
                </p:cNvSpPr>
                <p:nvPr/>
              </p:nvSpPr>
              <p:spPr bwMode="auto">
                <a:xfrm>
                  <a:off x="1312" y="1209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4.1 – 6.0</a:t>
                  </a:r>
                </a:p>
                <a:p>
                  <a:pPr algn="ctr" eaLnBrk="0" hangingPunct="0"/>
                  <a:endParaRPr lang="hu-HU" sz="2500" b="1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1237" name="Rectangle 37"/>
                <p:cNvSpPr>
                  <a:spLocks noChangeArrowheads="1"/>
                </p:cNvSpPr>
                <p:nvPr/>
              </p:nvSpPr>
              <p:spPr bwMode="auto">
                <a:xfrm>
                  <a:off x="1284" y="1209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38" name="Group 38"/>
              <p:cNvGrpSpPr>
                <a:grpSpLocks/>
              </p:cNvGrpSpPr>
              <p:nvPr/>
            </p:nvGrpSpPr>
            <p:grpSpPr bwMode="auto">
              <a:xfrm>
                <a:off x="2568" y="1209"/>
                <a:ext cx="1284" cy="403"/>
                <a:chOff x="2568" y="1209"/>
                <a:chExt cx="1284" cy="403"/>
              </a:xfrm>
              <a:grpFill/>
            </p:grpSpPr>
            <p:sp>
              <p:nvSpPr>
                <p:cNvPr id="51239" name="Rectangle 39"/>
                <p:cNvSpPr>
                  <a:spLocks noChangeArrowheads="1"/>
                </p:cNvSpPr>
                <p:nvPr/>
              </p:nvSpPr>
              <p:spPr bwMode="auto">
                <a:xfrm>
                  <a:off x="2596" y="1209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33 – 48</a:t>
                  </a:r>
                </a:p>
                <a:p>
                  <a:pPr algn="ctr" eaLnBrk="0" hangingPunct="0"/>
                  <a:endParaRPr lang="hu-HU" sz="2500" b="1" dirty="0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1240" name="Rectangle 40"/>
                <p:cNvSpPr>
                  <a:spLocks noChangeArrowheads="1"/>
                </p:cNvSpPr>
                <p:nvPr/>
              </p:nvSpPr>
              <p:spPr bwMode="auto">
                <a:xfrm>
                  <a:off x="2568" y="1209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41" name="Group 41"/>
              <p:cNvGrpSpPr>
                <a:grpSpLocks/>
              </p:cNvGrpSpPr>
              <p:nvPr/>
            </p:nvGrpSpPr>
            <p:grpSpPr bwMode="auto">
              <a:xfrm>
                <a:off x="0" y="1612"/>
                <a:ext cx="1284" cy="403"/>
                <a:chOff x="0" y="1612"/>
                <a:chExt cx="1284" cy="403"/>
              </a:xfrm>
              <a:grpFill/>
            </p:grpSpPr>
            <p:sp>
              <p:nvSpPr>
                <p:cNvPr id="51242" name="Rectangle 42"/>
                <p:cNvSpPr>
                  <a:spLocks noChangeArrowheads="1"/>
                </p:cNvSpPr>
                <p:nvPr/>
              </p:nvSpPr>
              <p:spPr bwMode="auto">
                <a:xfrm>
                  <a:off x="28" y="1612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Heves</a:t>
                  </a:r>
                </a:p>
                <a:p>
                  <a:pPr eaLnBrk="0" hangingPunct="0"/>
                  <a:endParaRPr lang="hu-HU" sz="2500" b="1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1243" name="Rectangle 43"/>
                <p:cNvSpPr>
                  <a:spLocks noChangeArrowheads="1"/>
                </p:cNvSpPr>
                <p:nvPr/>
              </p:nvSpPr>
              <p:spPr bwMode="auto">
                <a:xfrm>
                  <a:off x="0" y="1612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44" name="Group 44"/>
              <p:cNvGrpSpPr>
                <a:grpSpLocks/>
              </p:cNvGrpSpPr>
              <p:nvPr/>
            </p:nvGrpSpPr>
            <p:grpSpPr bwMode="auto">
              <a:xfrm>
                <a:off x="1284" y="1612"/>
                <a:ext cx="1284" cy="403"/>
                <a:chOff x="1284" y="1612"/>
                <a:chExt cx="1284" cy="403"/>
              </a:xfrm>
              <a:grpFill/>
            </p:grpSpPr>
            <p:sp>
              <p:nvSpPr>
                <p:cNvPr id="51245" name="Rectangle 45"/>
                <p:cNvSpPr>
                  <a:spLocks noChangeArrowheads="1"/>
                </p:cNvSpPr>
                <p:nvPr/>
              </p:nvSpPr>
              <p:spPr bwMode="auto">
                <a:xfrm>
                  <a:off x="1312" y="1612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&gt; 6.</a:t>
                  </a:r>
                  <a:r>
                    <a:rPr lang="hu-HU" sz="2500" b="1">
                      <a:solidFill>
                        <a:schemeClr val="bg1"/>
                      </a:solidFill>
                      <a:latin typeface="Times New Roman" pitchFamily="18" charset="0"/>
                    </a:rPr>
                    <a:t>1</a:t>
                  </a:r>
                  <a:endParaRPr lang="hu-HU" sz="2500" b="1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  <a:p>
                  <a:pPr algn="ctr" eaLnBrk="0" hangingPunct="0"/>
                  <a:endParaRPr lang="hu-HU" sz="2500" b="1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1246" name="Rectangle 46"/>
                <p:cNvSpPr>
                  <a:spLocks noChangeArrowheads="1"/>
                </p:cNvSpPr>
                <p:nvPr/>
              </p:nvSpPr>
              <p:spPr bwMode="auto">
                <a:xfrm>
                  <a:off x="1284" y="1612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  <p:grpSp>
            <p:nvGrpSpPr>
              <p:cNvPr id="51247" name="Group 47"/>
              <p:cNvGrpSpPr>
                <a:grpSpLocks/>
              </p:cNvGrpSpPr>
              <p:nvPr/>
            </p:nvGrpSpPr>
            <p:grpSpPr bwMode="auto">
              <a:xfrm>
                <a:off x="2568" y="1612"/>
                <a:ext cx="1284" cy="403"/>
                <a:chOff x="2568" y="1612"/>
                <a:chExt cx="1284" cy="403"/>
              </a:xfrm>
              <a:grpFill/>
            </p:grpSpPr>
            <p:sp>
              <p:nvSpPr>
                <p:cNvPr id="51248" name="Rectangle 48"/>
                <p:cNvSpPr>
                  <a:spLocks noChangeArrowheads="1"/>
                </p:cNvSpPr>
                <p:nvPr/>
              </p:nvSpPr>
              <p:spPr bwMode="auto">
                <a:xfrm>
                  <a:off x="2596" y="1612"/>
                  <a:ext cx="1228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/>
                  <a:r>
                    <a:rPr lang="hu-HU" sz="2500" b="1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&gt; 4</a:t>
                  </a:r>
                  <a:r>
                    <a:rPr lang="hu-HU" sz="2500" b="1" dirty="0">
                      <a:solidFill>
                        <a:schemeClr val="bg1"/>
                      </a:solidFill>
                      <a:latin typeface="Times New Roman" pitchFamily="18" charset="0"/>
                    </a:rPr>
                    <a:t>9</a:t>
                  </a:r>
                  <a:endParaRPr lang="hu-HU" sz="25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  <a:p>
                  <a:pPr algn="ctr" eaLnBrk="0" hangingPunct="0"/>
                  <a:endParaRPr lang="hu-HU" sz="2500" b="1" dirty="0">
                    <a:solidFill>
                      <a:schemeClr val="bg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51249" name="Rectangle 49"/>
                <p:cNvSpPr>
                  <a:spLocks noChangeArrowheads="1"/>
                </p:cNvSpPr>
                <p:nvPr/>
              </p:nvSpPr>
              <p:spPr bwMode="auto">
                <a:xfrm>
                  <a:off x="2568" y="1612"/>
                  <a:ext cx="1284" cy="403"/>
                </a:xfrm>
                <a:prstGeom prst="rect">
                  <a:avLst/>
                </a:prstGeom>
                <a:grp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hu-HU"/>
                </a:p>
              </p:txBody>
            </p:sp>
          </p:grpSp>
        </p:grpSp>
        <p:sp>
          <p:nvSpPr>
            <p:cNvPr id="51250" name="Rectangle 50"/>
            <p:cNvSpPr>
              <a:spLocks noChangeArrowheads="1"/>
            </p:cNvSpPr>
            <p:nvPr/>
          </p:nvSpPr>
          <p:spPr bwMode="auto">
            <a:xfrm>
              <a:off x="-3" y="-3"/>
              <a:ext cx="3858" cy="2021"/>
            </a:xfrm>
            <a:prstGeom prst="rect">
              <a:avLst/>
            </a:prstGeom>
            <a:grp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hu-HU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5638800" y="381000"/>
            <a:ext cx="3505200" cy="6401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hu-HU" b="1" i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Lee-hullámok keletkezése</a:t>
            </a:r>
          </a:p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</a:pPr>
            <a:r>
              <a:rPr lang="hu-HU" sz="2000" b="1" dirty="0">
                <a:latin typeface="Times New Roman" pitchFamily="18" charset="0"/>
              </a:rPr>
              <a:t>N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égy alaptípus</a:t>
            </a:r>
            <a:r>
              <a:rPr lang="hu-HU" sz="2000" b="1" dirty="0">
                <a:latin typeface="Times New Roman" pitchFamily="18" charset="0"/>
              </a:rPr>
              <a:t>: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hu-HU" sz="2000" b="1" dirty="0">
              <a:latin typeface="Times New Roman" pitchFamily="18" charset="0"/>
            </a:endParaRPr>
          </a:p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FontTx/>
              <a:buAutoNum type="alphaLcPeriod"/>
            </a:pPr>
            <a:r>
              <a:rPr lang="hu-HU" sz="2000" b="1" dirty="0">
                <a:latin typeface="Times New Roman" pitchFamily="18" charset="0"/>
              </a:rPr>
              <a:t>S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zél gyenge, v 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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 5 m/s</a:t>
            </a:r>
            <a:r>
              <a:rPr lang="hu-HU" sz="2000" b="1" dirty="0">
                <a:latin typeface="Times New Roman" pitchFamily="18" charset="0"/>
              </a:rPr>
              <a:t>; 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hu-HU" sz="2000" b="1" u="sng" dirty="0">
                <a:latin typeface="Times New Roman" pitchFamily="18" charset="0"/>
                <a:cs typeface="Times New Roman" pitchFamily="18" charset="0"/>
              </a:rPr>
              <a:t>örvénymentes áramlás.</a:t>
            </a:r>
            <a:endParaRPr lang="hu-HU" sz="2000" b="1" u="sng" dirty="0">
              <a:latin typeface="Times New Roman" pitchFamily="18" charset="0"/>
            </a:endParaRPr>
          </a:p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FontTx/>
              <a:buAutoNum type="alphaLcPeriod"/>
            </a:pPr>
            <a:r>
              <a:rPr lang="hu-HU" sz="2000" b="1" dirty="0">
                <a:latin typeface="Times New Roman" pitchFamily="18" charset="0"/>
              </a:rPr>
              <a:t>H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a a szélsebesség 5-7 m/s</a:t>
            </a:r>
            <a:r>
              <a:rPr lang="hu-HU" sz="2000" b="1" dirty="0">
                <a:latin typeface="Times New Roman" pitchFamily="18" charset="0"/>
              </a:rPr>
              <a:t>,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hu-HU" sz="2000" b="1" u="sng" dirty="0">
                <a:latin typeface="Times New Roman" pitchFamily="18" charset="0"/>
                <a:cs typeface="Times New Roman" pitchFamily="18" charset="0"/>
              </a:rPr>
              <a:t>örvényképző áramlás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 alakul ki.</a:t>
            </a:r>
            <a:endParaRPr lang="hu-HU" sz="2000" b="1" dirty="0">
              <a:latin typeface="Times New Roman" pitchFamily="18" charset="0"/>
            </a:endParaRPr>
          </a:p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FontTx/>
              <a:buAutoNum type="alphaLcPeriod"/>
            </a:pPr>
            <a:r>
              <a:rPr lang="hu-HU" sz="2000" b="1" dirty="0">
                <a:latin typeface="Times New Roman" pitchFamily="18" charset="0"/>
              </a:rPr>
              <a:t>A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mikor a gerinc szintjén az áramlás 8-10 m/s erősségű és a szélsebesség a magassággal </a:t>
            </a:r>
            <a:r>
              <a:rPr lang="hu-HU" sz="2000" b="1" dirty="0">
                <a:latin typeface="Times New Roman" pitchFamily="18" charset="0"/>
              </a:rPr>
              <a:t>nő,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 jellegzetes alakú felhők képződnek. </a:t>
            </a:r>
            <a:r>
              <a:rPr lang="hu-HU" sz="2000" b="1" dirty="0">
                <a:latin typeface="Times New Roman" pitchFamily="18" charset="0"/>
              </a:rPr>
              <a:t>E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z az áramlás a </a:t>
            </a:r>
            <a:r>
              <a:rPr lang="hu-HU" sz="2000" b="1" u="sng" dirty="0">
                <a:latin typeface="Times New Roman" pitchFamily="18" charset="0"/>
                <a:cs typeface="Times New Roman" pitchFamily="18" charset="0"/>
              </a:rPr>
              <a:t>hullámképző </a:t>
            </a:r>
            <a:r>
              <a:rPr lang="hu-HU" sz="2000" b="1" u="sng" dirty="0" smtClean="0">
                <a:latin typeface="Times New Roman" pitchFamily="18" charset="0"/>
                <a:cs typeface="Times New Roman" pitchFamily="18" charset="0"/>
              </a:rPr>
              <a:t>áramlás</a:t>
            </a:r>
            <a:r>
              <a:rPr lang="hu-HU" sz="2000" b="1" dirty="0" smtClean="0">
                <a:latin typeface="Times New Roman" pitchFamily="18" charset="0"/>
              </a:rPr>
              <a:t>, hullámfelhők.</a:t>
            </a:r>
            <a:endParaRPr lang="hu-HU" sz="2000" b="1" dirty="0">
              <a:latin typeface="Times New Roman" pitchFamily="18" charset="0"/>
            </a:endParaRPr>
          </a:p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FontTx/>
              <a:buAutoNum type="alphaLcPeriod"/>
            </a:pPr>
            <a:r>
              <a:rPr lang="hu-HU" sz="2000" b="1" dirty="0">
                <a:latin typeface="Times New Roman" pitchFamily="18" charset="0"/>
              </a:rPr>
              <a:t>S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zél</a:t>
            </a:r>
            <a:r>
              <a:rPr lang="hu-HU" sz="2000" b="1" dirty="0">
                <a:latin typeface="Times New Roman" pitchFamily="18" charset="0"/>
              </a:rPr>
              <a:t>sebesség: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 10-12 m/s</a:t>
            </a:r>
            <a:r>
              <a:rPr lang="hu-HU" sz="2000" b="1" dirty="0">
                <a:latin typeface="Times New Roman" pitchFamily="18" charset="0"/>
              </a:rPr>
              <a:t> és </a:t>
            </a:r>
            <a:r>
              <a:rPr lang="hu-HU" sz="2000" b="1" dirty="0" smtClean="0">
                <a:latin typeface="Times New Roman" pitchFamily="18" charset="0"/>
              </a:rPr>
              <a:t>a magassággal </a:t>
            </a:r>
            <a:r>
              <a:rPr lang="hu-HU" sz="2000" b="1" dirty="0">
                <a:latin typeface="Times New Roman" pitchFamily="18" charset="0"/>
              </a:rPr>
              <a:t>csökken </a:t>
            </a:r>
            <a:r>
              <a:rPr lang="hu-HU" sz="2000" b="1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hu-HU" sz="2000" b="1" u="sng" dirty="0" err="1">
                <a:latin typeface="Times New Roman" pitchFamily="18" charset="0"/>
                <a:cs typeface="Times New Roman" pitchFamily="18" charset="0"/>
              </a:rPr>
              <a:t>rotorképző</a:t>
            </a:r>
            <a:r>
              <a:rPr lang="hu-HU" sz="2000" b="1" u="sng" dirty="0">
                <a:latin typeface="Times New Roman" pitchFamily="18" charset="0"/>
              </a:rPr>
              <a:t> </a:t>
            </a:r>
            <a:r>
              <a:rPr lang="hu-HU" sz="2000" b="1" u="sng" dirty="0" smtClean="0">
                <a:latin typeface="Times New Roman" pitchFamily="18" charset="0"/>
              </a:rPr>
              <a:t>áramlás</a:t>
            </a:r>
            <a:r>
              <a:rPr lang="hu-HU" sz="2000" b="1" dirty="0" smtClean="0">
                <a:latin typeface="Times New Roman" pitchFamily="18" charset="0"/>
                <a:cs typeface="Times New Roman" pitchFamily="18" charset="0"/>
              </a:rPr>
              <a:t>, gomolyos felhők, réteges gomolyfelhők.</a:t>
            </a:r>
            <a:endParaRPr lang="hu-HU" sz="2000" b="1" dirty="0">
              <a:latin typeface="Times New Roman" pitchFamily="18" charset="0"/>
            </a:endParaRPr>
          </a:p>
        </p:txBody>
      </p:sp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619750" cy="68580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</p:pic>
    </p:spTree>
    <p:extLst>
      <p:ext uri="{BB962C8B-B14F-4D97-AF65-F5344CB8AC3E}">
        <p14:creationId xmlns:p14="http://schemas.microsoft.com/office/powerpoint/2010/main" val="6619000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3568" y="188640"/>
            <a:ext cx="8064896" cy="1628775"/>
          </a:xfrm>
        </p:spPr>
        <p:txBody>
          <a:bodyPr/>
          <a:lstStyle/>
          <a:p>
            <a:pPr eaLnBrk="1" hangingPunct="1"/>
            <a:r>
              <a:rPr lang="hu-HU" altLang="hu-HU" sz="3200" b="1" dirty="0" smtClean="0">
                <a:solidFill>
                  <a:schemeClr val="tx1"/>
                </a:solidFill>
              </a:rPr>
              <a:t>A turbulencia kialakulása</a:t>
            </a:r>
            <a:br>
              <a:rPr lang="hu-HU" altLang="hu-HU" sz="3200" b="1" dirty="0" smtClean="0">
                <a:solidFill>
                  <a:schemeClr val="tx1"/>
                </a:solidFill>
              </a:rPr>
            </a:br>
            <a:endParaRPr lang="hu-HU" altLang="hu-HU" sz="3200" b="1" dirty="0" smtClean="0">
              <a:solidFill>
                <a:schemeClr val="tx1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628775"/>
            <a:ext cx="8229600" cy="4967288"/>
          </a:xfrm>
        </p:spPr>
        <p:txBody>
          <a:bodyPr/>
          <a:lstStyle/>
          <a:p>
            <a:pPr eaLnBrk="1" hangingPunct="1"/>
            <a:r>
              <a:rPr lang="hu-HU" altLang="hu-HU" sz="2800" dirty="0" smtClean="0"/>
              <a:t>Szél, termik mellett kialakulhat </a:t>
            </a:r>
            <a:r>
              <a:rPr lang="hu-HU" altLang="hu-HU" sz="2800" u="sng" dirty="0" smtClean="0"/>
              <a:t>turbulencia</a:t>
            </a:r>
            <a:r>
              <a:rPr lang="hu-HU" altLang="hu-HU" sz="2800" dirty="0" smtClean="0"/>
              <a:t>. A széllel szemben, ennek nincs </a:t>
            </a:r>
            <a:r>
              <a:rPr lang="hu-HU" altLang="hu-HU" sz="2800" dirty="0"/>
              <a:t>jó </a:t>
            </a:r>
            <a:r>
              <a:rPr lang="hu-HU" altLang="hu-HU" sz="2800" dirty="0" smtClean="0"/>
              <a:t>hatása az </a:t>
            </a:r>
            <a:r>
              <a:rPr lang="hu-HU" altLang="hu-HU" sz="2800" dirty="0"/>
              <a:t>ejtőernyőzés szempontjából, </a:t>
            </a:r>
            <a:r>
              <a:rPr lang="hu-HU" altLang="hu-HU" sz="2800" dirty="0" smtClean="0"/>
              <a:t>csak rossz. </a:t>
            </a:r>
          </a:p>
          <a:p>
            <a:pPr eaLnBrk="1" hangingPunct="1"/>
            <a:r>
              <a:rPr lang="hu-HU" altLang="hu-HU" sz="2800" dirty="0" smtClean="0"/>
              <a:t>A kialakulása többnyire a föld közeli légrétegekben jelentős, de légcellás ejtőernyők mögött felett 45°-ban is jelenlévő jelenség. </a:t>
            </a:r>
          </a:p>
          <a:p>
            <a:pPr eaLnBrk="1" hangingPunct="1"/>
            <a:r>
              <a:rPr lang="hu-HU" altLang="hu-HU" sz="2800" dirty="0" smtClean="0"/>
              <a:t>Hatása az ejtőernyőre, az erős örvénylő levegő, képes olyan nyomásváltozást létrehozni a kupolán belül, ami „kiüríti” a levegőt a kupolából, magyarul összeomlik.</a:t>
            </a:r>
          </a:p>
        </p:txBody>
      </p:sp>
    </p:spTree>
    <p:extLst>
      <p:ext uri="{BB962C8B-B14F-4D97-AF65-F5344CB8AC3E}">
        <p14:creationId xmlns:p14="http://schemas.microsoft.com/office/powerpoint/2010/main" val="40646491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3568" y="332656"/>
            <a:ext cx="6923088" cy="760412"/>
          </a:xfrm>
        </p:spPr>
        <p:txBody>
          <a:bodyPr/>
          <a:lstStyle/>
          <a:p>
            <a:pPr eaLnBrk="1" hangingPunct="1"/>
            <a:r>
              <a:rPr lang="hu-HU" altLang="hu-HU" sz="3200" b="1" dirty="0" err="1" smtClean="0">
                <a:solidFill>
                  <a:schemeClr val="tx1"/>
                </a:solidFill>
                <a:cs typeface="Arial" charset="0"/>
              </a:rPr>
              <a:t>Földetérés</a:t>
            </a:r>
            <a:r>
              <a:rPr lang="hu-HU" altLang="hu-HU" sz="3200" b="1" dirty="0" smtClean="0">
                <a:solidFill>
                  <a:schemeClr val="tx1"/>
                </a:solidFill>
                <a:cs typeface="Arial" charset="0"/>
              </a:rPr>
              <a:t> különböző tereptárgyak közelében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196975"/>
            <a:ext cx="5329237" cy="719138"/>
          </a:xfrm>
        </p:spPr>
        <p:txBody>
          <a:bodyPr/>
          <a:lstStyle/>
          <a:p>
            <a:pPr eaLnBrk="1" hangingPunct="1"/>
            <a:r>
              <a:rPr lang="hu-HU" altLang="hu-HU" sz="2400" dirty="0" smtClean="0">
                <a:cs typeface="Arial" charset="0"/>
              </a:rPr>
              <a:t>Turbulenciában</a:t>
            </a:r>
            <a:r>
              <a:rPr lang="hu-HU" altLang="hu-HU" sz="2400" dirty="0" smtClean="0"/>
              <a:t>, </a:t>
            </a:r>
            <a:r>
              <a:rPr lang="hu-HU" altLang="hu-HU" sz="2400" dirty="0" smtClean="0">
                <a:cs typeface="Arial" charset="0"/>
              </a:rPr>
              <a:t>facsoportok, épületek</a:t>
            </a:r>
            <a:r>
              <a:rPr lang="hu-HU" altLang="hu-HU" sz="2400" dirty="0" smtClean="0"/>
              <a:t> közelében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384175" y="2133600"/>
            <a:ext cx="3868738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hu-HU" sz="2000" dirty="0">
                <a:cs typeface="Arial" charset="0"/>
              </a:rPr>
              <a:t>A turbulencia, erősségét amely az ejtőernyőre hatással lehet, a következők okozhatják:</a:t>
            </a:r>
            <a:endParaRPr lang="hu-HU" sz="2000" dirty="0"/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lang="hu-HU" sz="2000" dirty="0"/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AutoNum type="arabicPeriod"/>
              <a:defRPr/>
            </a:pPr>
            <a:r>
              <a:rPr lang="hu-HU" sz="2000" dirty="0">
                <a:cs typeface="Arial" charset="0"/>
              </a:rPr>
              <a:t>Szilárd, légáramlást (szelet) akadályozó tárgyak, p</a:t>
            </a:r>
            <a:r>
              <a:rPr lang="hu-HU" sz="2000" dirty="0"/>
              <a:t>l</a:t>
            </a:r>
            <a:r>
              <a:rPr lang="hu-HU" sz="2000" dirty="0">
                <a:cs typeface="Arial" charset="0"/>
              </a:rPr>
              <a:t>. fák, dombok, épületek, stb.</a:t>
            </a: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AutoNum type="arabicPeriod"/>
              <a:defRPr/>
            </a:pPr>
            <a:endParaRPr lang="hu-HU" sz="2000" dirty="0">
              <a:cs typeface="Times New Roman" pitchFamily="18" charset="0"/>
            </a:endParaRP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AutoNum type="arabicPeriod"/>
              <a:defRPr/>
            </a:pPr>
            <a:r>
              <a:rPr lang="hu-HU" sz="2000" dirty="0">
                <a:cs typeface="Arial" charset="0"/>
              </a:rPr>
              <a:t> A levegő statikus instabi</a:t>
            </a:r>
            <a:r>
              <a:rPr lang="hu-HU" sz="2000" dirty="0"/>
              <a:t>li</a:t>
            </a:r>
            <a:r>
              <a:rPr lang="hu-HU" sz="2000" dirty="0">
                <a:cs typeface="Arial" charset="0"/>
              </a:rPr>
              <a:t>tása, (termikus tevékenység).</a:t>
            </a:r>
          </a:p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AutoNum type="arabicPeriod"/>
              <a:defRPr/>
            </a:pPr>
            <a:endParaRPr lang="hu-HU" sz="2000" dirty="0">
              <a:cs typeface="Times New Roman" pitchFamily="18" charset="0"/>
            </a:endParaRPr>
          </a:p>
          <a:p>
            <a:pPr marL="457200" indent="-45720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hu-HU" sz="2000" dirty="0">
                <a:cs typeface="Arial" charset="0"/>
              </a:rPr>
              <a:t> Szélnyírás (két légréteg közötti szélsebess</a:t>
            </a:r>
            <a:r>
              <a:rPr lang="hu-HU" sz="2000" dirty="0"/>
              <a:t>é</a:t>
            </a:r>
            <a:r>
              <a:rPr lang="hu-HU" sz="2000" dirty="0">
                <a:cs typeface="Arial" charset="0"/>
              </a:rPr>
              <a:t>g különbség</a:t>
            </a:r>
            <a:r>
              <a:rPr lang="hu-HU" sz="2000" dirty="0" smtClean="0">
                <a:cs typeface="Arial" charset="0"/>
              </a:rPr>
              <a:t>).</a:t>
            </a:r>
            <a:endParaRPr lang="hu-HU" sz="2000" dirty="0">
              <a:cs typeface="Times New Roman" pitchFamily="18" charset="0"/>
            </a:endParaRPr>
          </a:p>
        </p:txBody>
      </p:sp>
      <p:pic>
        <p:nvPicPr>
          <p:cNvPr id="26629" name="Picture 5" descr="t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25" y="2060575"/>
            <a:ext cx="2740025" cy="202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6" descr="t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0" y="4419600"/>
            <a:ext cx="3105150" cy="159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34418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:\Kata dokumentumok\Ejtőernyőzés, tandem\oktatás\fari_elmélet\04_turbulencia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72503"/>
            <a:ext cx="6912768" cy="6256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964850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340768"/>
            <a:ext cx="7383462" cy="5312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u-HU" altLang="hu-HU" sz="2000" dirty="0" smtClean="0">
                <a:cs typeface="Arial" charset="0"/>
              </a:rPr>
              <a:t>Azok a tényezők amelyek a turbulencia intenzitására befolyással vannak; a szél sebessége, a levegő sűrűsége és a szél útjában álló akadály mérete és formája.</a:t>
            </a:r>
            <a:endParaRPr lang="hu-HU" altLang="hu-HU" sz="2000" dirty="0" smtClean="0"/>
          </a:p>
          <a:p>
            <a:pPr eaLnBrk="1" hangingPunct="1">
              <a:lnSpc>
                <a:spcPct val="90000"/>
              </a:lnSpc>
            </a:pPr>
            <a:endParaRPr lang="hu-HU" altLang="hu-HU" sz="2000" dirty="0" smtClean="0"/>
          </a:p>
          <a:p>
            <a:pPr eaLnBrk="1" hangingPunct="1">
              <a:lnSpc>
                <a:spcPct val="90000"/>
              </a:lnSpc>
            </a:pPr>
            <a:r>
              <a:rPr lang="hu-HU" altLang="hu-HU" sz="2000" dirty="0" smtClean="0">
                <a:cs typeface="Arial" charset="0"/>
              </a:rPr>
              <a:t>A szélsebesség a leginkább befolyásoló és egyben a legmérhet</a:t>
            </a:r>
            <a:r>
              <a:rPr lang="hu-HU" altLang="hu-HU" sz="2000" dirty="0" smtClean="0"/>
              <a:t>ő</a:t>
            </a:r>
            <a:r>
              <a:rPr lang="hu-HU" altLang="hu-HU" sz="2000" dirty="0" smtClean="0">
                <a:cs typeface="Arial" charset="0"/>
              </a:rPr>
              <a:t>bb tényez</a:t>
            </a:r>
            <a:r>
              <a:rPr lang="hu-HU" altLang="hu-HU" sz="2000" dirty="0" smtClean="0"/>
              <a:t>ő</a:t>
            </a:r>
            <a:r>
              <a:rPr lang="hu-HU" altLang="hu-HU" sz="2000" dirty="0" smtClean="0">
                <a:cs typeface="Arial" charset="0"/>
              </a:rPr>
              <a:t>. 0-5 m/s sebességű szélben a keletkezett turbulencia nem lesz olyan intenzív, hogy komoly veszélynek tenné ki az ejtőerny</a:t>
            </a:r>
            <a:r>
              <a:rPr lang="hu-HU" altLang="hu-HU" sz="2000" dirty="0" smtClean="0"/>
              <a:t>ő</a:t>
            </a:r>
            <a:r>
              <a:rPr lang="hu-HU" altLang="hu-HU" sz="2000" dirty="0" smtClean="0">
                <a:cs typeface="Arial" charset="0"/>
              </a:rPr>
              <a:t>st. Ha viszont a szél 6-8 m</a:t>
            </a:r>
            <a:r>
              <a:rPr lang="hu-HU" altLang="hu-HU" sz="2000" dirty="0" smtClean="0"/>
              <a:t>/</a:t>
            </a:r>
            <a:r>
              <a:rPr lang="hu-HU" altLang="hu-HU" sz="2000" dirty="0" smtClean="0">
                <a:cs typeface="Arial" charset="0"/>
              </a:rPr>
              <a:t>s sebességű, elég komoly turbulencia keletkezhet ahhoz, hogy a kupola</a:t>
            </a:r>
            <a:r>
              <a:rPr lang="hu-HU" altLang="hu-HU" sz="2000" dirty="0" smtClean="0"/>
              <a:t> </a:t>
            </a:r>
            <a:r>
              <a:rPr lang="hu-HU" altLang="hu-HU" sz="2000" dirty="0" smtClean="0">
                <a:cs typeface="Arial" charset="0"/>
              </a:rPr>
              <a:t>összeomlást okozhassa. Ha a szél meghaladja a 9 </a:t>
            </a:r>
            <a:r>
              <a:rPr lang="hu-HU" altLang="hu-HU" sz="2000" dirty="0" smtClean="0"/>
              <a:t>m</a:t>
            </a:r>
            <a:r>
              <a:rPr lang="hu-HU" altLang="hu-HU" sz="2000" dirty="0" smtClean="0">
                <a:cs typeface="Arial" charset="0"/>
              </a:rPr>
              <a:t>/s sebességet, komoly turbulencia várható bármilyen kiemelkedő tereptárgy hátszeles oldalán.</a:t>
            </a:r>
          </a:p>
          <a:p>
            <a:pPr eaLnBrk="1" hangingPunct="1">
              <a:lnSpc>
                <a:spcPct val="90000"/>
              </a:lnSpc>
            </a:pPr>
            <a:endParaRPr lang="hu-HU" altLang="hu-HU" sz="2000" dirty="0" smtClean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hu-HU" altLang="hu-HU" sz="2200" dirty="0" smtClean="0">
                <a:cs typeface="Arial" charset="0"/>
              </a:rPr>
              <a:t>Ha a szél sebessége meghaladja az 5-6 m/s sebességet, legalább 500 méteres biztonsági zónát kell fenntartani a dombok, nagyobb épületek, hangárok illetve magas fák hátszeles oldalán.</a:t>
            </a:r>
            <a:endParaRPr lang="hu-HU" altLang="hu-HU" sz="2200" dirty="0" smtClean="0">
              <a:cs typeface="Times New Roman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683568" y="332656"/>
            <a:ext cx="6923088" cy="76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hu-HU" altLang="hu-HU" sz="3200" b="1" kern="0" dirty="0" err="1" smtClean="0">
                <a:solidFill>
                  <a:schemeClr val="tx1"/>
                </a:solidFill>
                <a:cs typeface="Arial" charset="0"/>
              </a:rPr>
              <a:t>Földetérés</a:t>
            </a:r>
            <a:r>
              <a:rPr lang="hu-HU" altLang="hu-HU" sz="3200" b="1" kern="0" dirty="0" smtClean="0">
                <a:solidFill>
                  <a:schemeClr val="tx1"/>
                </a:solidFill>
                <a:cs typeface="Arial" charset="0"/>
              </a:rPr>
              <a:t> különböző tereptárgyak közelében</a:t>
            </a:r>
          </a:p>
        </p:txBody>
      </p:sp>
    </p:spTree>
    <p:extLst>
      <p:ext uri="{BB962C8B-B14F-4D97-AF65-F5344CB8AC3E}">
        <p14:creationId xmlns:p14="http://schemas.microsoft.com/office/powerpoint/2010/main" val="35897621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692696"/>
            <a:ext cx="9144000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hu-HU" sz="6600" b="1" dirty="0" smtClean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</a:rPr>
              <a:t>Köszönöm a figyelmet!</a:t>
            </a:r>
            <a:endParaRPr lang="hu-HU" sz="4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37116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lapértelmezett terv">
  <a:themeElements>
    <a:clrScheme name="Alapértelmezett terv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lapértelmezett terv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lapértelmezett terv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é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2930</TotalTime>
  <Words>2045</Words>
  <Application>Microsoft Office PowerPoint</Application>
  <PresentationFormat>Diavetítés a képernyőre (4:3 oldalarány)</PresentationFormat>
  <Paragraphs>315</Paragraphs>
  <Slides>43</Slides>
  <Notes>11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43</vt:i4>
      </vt:variant>
    </vt:vector>
  </HeadingPairs>
  <TitlesOfParts>
    <vt:vector size="44" baseType="lpstr">
      <vt:lpstr>Alapértelmezett terv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A szél hatása az ejtőernyőre</vt:lpstr>
      <vt:lpstr>A szél az ejtőernyőzés szempontjából kettős megítélésű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A szélnyírás erőssége a szélvektor vertikális megváltozása alapján</vt:lpstr>
      <vt:lpstr>PowerPoint bemutató</vt:lpstr>
      <vt:lpstr>A turbulencia kialakulása </vt:lpstr>
      <vt:lpstr>Földetérés különböző tereptárgyak közelében</vt:lpstr>
      <vt:lpstr>PowerPoint bemutató</vt:lpstr>
      <vt:lpstr>PowerPoint bemutató</vt:lpstr>
      <vt:lpstr>PowerPoint bemutató</vt:lpstr>
    </vt:vector>
  </TitlesOfParts>
  <Company>office2003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dia</dc:title>
  <dc:creator>Laki Róbert</dc:creator>
  <cp:lastModifiedBy>Kata</cp:lastModifiedBy>
  <cp:revision>118</cp:revision>
  <dcterms:created xsi:type="dcterms:W3CDTF">2006-11-28T16:48:02Z</dcterms:created>
  <dcterms:modified xsi:type="dcterms:W3CDTF">2025-09-09T04:13:06Z</dcterms:modified>
</cp:coreProperties>
</file>