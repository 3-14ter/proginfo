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52" r:id="rId1"/>
    <p:sldMasterId id="2147484164" r:id="rId2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0" r:id="rId7"/>
    <p:sldId id="263" r:id="rId8"/>
    <p:sldId id="265" r:id="rId9"/>
    <p:sldId id="261" r:id="rId10"/>
    <p:sldId id="262" r:id="rId11"/>
    <p:sldId id="264" r:id="rId12"/>
    <p:sldId id="296" r:id="rId13"/>
    <p:sldId id="297" r:id="rId14"/>
    <p:sldId id="292" r:id="rId15"/>
    <p:sldId id="294" r:id="rId16"/>
    <p:sldId id="293" r:id="rId17"/>
    <p:sldId id="295" r:id="rId18"/>
    <p:sldId id="290" r:id="rId19"/>
  </p:sldIdLst>
  <p:sldSz cx="9144000" cy="6858000" type="screen4x3"/>
  <p:notesSz cx="6858000" cy="9144000"/>
  <p:defaultTextStyle>
    <a:defPPr>
      <a:defRPr lang="hu-H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B41E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Világos stílus 3 – 1. jelölőszín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Világos stílus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Stílus és rács nélkül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éma alapján készült stílus 1 – 6. jelölőszín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incs stílus, csak rács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2895" autoAdjust="0"/>
  </p:normalViewPr>
  <p:slideViewPr>
    <p:cSldViewPr>
      <p:cViewPr>
        <p:scale>
          <a:sx n="80" d="100"/>
          <a:sy n="80" d="100"/>
        </p:scale>
        <p:origin x="-1068" y="29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7807458B-2201-4733-95FC-FD295213016B}" type="datetimeFigureOut">
              <a:rPr lang="hu-HU"/>
              <a:pPr>
                <a:defRPr/>
              </a:pPr>
              <a:t>2018.03.08.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hu-HU" noProof="0" smtClean="0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 noProof="0" smtClean="0"/>
              <a:t>Mintaszöveg szerkesztése</a:t>
            </a:r>
          </a:p>
          <a:p>
            <a:pPr lvl="1"/>
            <a:r>
              <a:rPr lang="hu-HU" noProof="0" smtClean="0"/>
              <a:t>Második szint</a:t>
            </a:r>
          </a:p>
          <a:p>
            <a:pPr lvl="2"/>
            <a:r>
              <a:rPr lang="hu-HU" noProof="0" smtClean="0"/>
              <a:t>Harmadik szint</a:t>
            </a:r>
          </a:p>
          <a:p>
            <a:pPr lvl="3"/>
            <a:r>
              <a:rPr lang="hu-HU" noProof="0" smtClean="0"/>
              <a:t>Negyedik szint</a:t>
            </a:r>
          </a:p>
          <a:p>
            <a:pPr lvl="4"/>
            <a:r>
              <a:rPr lang="hu-HU" noProof="0" smtClean="0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1930094-0A11-4A91-A124-4540D83DF2AF}" type="slidenum">
              <a:rPr lang="hu-HU"/>
              <a:pPr>
                <a:defRPr/>
              </a:pPr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xmlns="" val="27724403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Alcím mintájának szerkesztése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4AA8B7-238B-456E-A966-E3A2CACF7839}" type="slidenum">
              <a:rPr lang="hu-HU"/>
              <a:pPr>
                <a:defRPr/>
              </a:pPr>
              <a:t>‹#›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AB0DCA-C85F-4430-8F11-73A744BBB6EC}" type="datetimeFigureOut">
              <a:rPr lang="hu-HU"/>
              <a:pPr>
                <a:defRPr/>
              </a:pPr>
              <a:t>2018.03.08.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xmlns="" val="2560459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B7475F-AEA1-4351-8C8C-F8BEA9990AB8}" type="slidenum">
              <a:rPr lang="hu-HU"/>
              <a:pPr>
                <a:defRPr/>
              </a:pPr>
              <a:t>‹#›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70E565-1634-4878-946D-F4DE22C6224B}" type="datetimeFigureOut">
              <a:rPr lang="hu-HU"/>
              <a:pPr>
                <a:defRPr/>
              </a:pPr>
              <a:t>2018.03.08.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xmlns="" val="282012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008C6D-DD59-456B-9FBA-BF286B32CF2D}" type="slidenum">
              <a:rPr lang="hu-HU"/>
              <a:pPr>
                <a:defRPr/>
              </a:pPr>
              <a:t>‹#›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0672D0-E8DB-458C-A749-614CB8F23FD9}" type="datetimeFigureOut">
              <a:rPr lang="hu-HU"/>
              <a:pPr>
                <a:defRPr/>
              </a:pPr>
              <a:t>2018.03.08.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xmlns="" val="2047467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10155F-FC95-489D-AF88-DB0D74FE70AA}" type="slidenum">
              <a:rPr lang="hu-HU"/>
              <a:pPr>
                <a:defRPr/>
              </a:pPr>
              <a:t>‹#›</a:t>
            </a:fld>
            <a:endParaRPr lang="hu-H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84B13B-F79D-4E63-97C6-A0BFE8F98E06}" type="datetimeFigureOut">
              <a:rPr lang="hu-HU"/>
              <a:pPr>
                <a:defRPr/>
              </a:pPr>
              <a:t>2018.03.08.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xmlns="" val="3667846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02F457-FB96-48B6-A330-F9D74EB23513}" type="slidenum">
              <a:rPr lang="hu-HU"/>
              <a:pPr>
                <a:defRPr/>
              </a:pPr>
              <a:t>‹#›</a:t>
            </a:fld>
            <a:endParaRPr lang="hu-HU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8C38CE-6ED1-4305-A179-B3E3502BF645}" type="datetimeFigureOut">
              <a:rPr lang="hu-HU"/>
              <a:pPr>
                <a:defRPr/>
              </a:pPr>
              <a:t>2018.03.08.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xmlns="" val="2832247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D8C3A3-F2BA-42A9-BFC0-126EC6FC0A22}" type="slidenum">
              <a:rPr lang="hu-HU"/>
              <a:pPr>
                <a:defRPr/>
              </a:pPr>
              <a:t>‹#›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837241-194E-41A7-8E50-2A355FE97D42}" type="datetimeFigureOut">
              <a:rPr lang="hu-HU"/>
              <a:pPr>
                <a:defRPr/>
              </a:pPr>
              <a:t>2018.03.08.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xmlns="" val="4091770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54E86E-9BD6-4965-8780-EEE3830118B8}" type="slidenum">
              <a:rPr lang="hu-HU"/>
              <a:pPr>
                <a:defRPr/>
              </a:pPr>
              <a:t>‹#›</a:t>
            </a:fld>
            <a:endParaRPr lang="hu-HU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FBA03C-7E6B-4C3B-A639-3CCBF8F218C6}" type="datetimeFigureOut">
              <a:rPr lang="hu-HU"/>
              <a:pPr>
                <a:defRPr/>
              </a:pPr>
              <a:t>2018.03.08.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xmlns="" val="138412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DBCDFB-A954-4FCF-91C1-BA0FEA07898E}" type="slidenum">
              <a:rPr lang="hu-HU"/>
              <a:pPr>
                <a:defRPr/>
              </a:pPr>
              <a:t>‹#›</a:t>
            </a:fld>
            <a:endParaRPr lang="hu-H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B54001-E0A8-4F0F-ACFF-A30854480C9B}" type="datetimeFigureOut">
              <a:rPr lang="hu-HU"/>
              <a:pPr>
                <a:defRPr/>
              </a:pPr>
              <a:t>2018.03.08.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xmlns="" val="3204997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hu-HU" noProof="0" smtClean="0"/>
              <a:t>Kép beszúrásához kattintson az ikonra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55677C-B431-45CE-8D42-6BA4BFA8396D}" type="slidenum">
              <a:rPr lang="hu-HU"/>
              <a:pPr>
                <a:defRPr/>
              </a:pPr>
              <a:t>‹#›</a:t>
            </a:fld>
            <a:endParaRPr lang="hu-H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CE08FC-625A-4E06-B2CD-54C74DA7CD21}" type="datetimeFigureOut">
              <a:rPr lang="hu-HU"/>
              <a:pPr>
                <a:defRPr/>
              </a:pPr>
              <a:t>2018.03.08.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xmlns="" val="1231604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676DA6-0F44-422F-AB88-397ED09672B8}" type="slidenum">
              <a:rPr lang="hu-HU"/>
              <a:pPr>
                <a:defRPr/>
              </a:pPr>
              <a:t>‹#›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02BDE5-B96D-4E04-8E70-E30AE6C6D160}" type="datetimeFigureOut">
              <a:rPr lang="hu-HU"/>
              <a:pPr>
                <a:defRPr/>
              </a:pPr>
              <a:t>2018.03.08.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xmlns="" val="2468732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90BC2D-F8B3-451D-9F1B-6D13C6DCC7D6}" type="slidenum">
              <a:rPr lang="hu-HU"/>
              <a:pPr>
                <a:defRPr/>
              </a:pPr>
              <a:t>‹#›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41C394-D594-4BD8-9205-CE2B29E20578}" type="datetimeFigureOut">
              <a:rPr lang="hu-HU"/>
              <a:pPr>
                <a:defRPr/>
              </a:pPr>
              <a:t>2018.03.08.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xmlns="" val="36807195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Alcím mintájának szerkesztése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4AA8B7-238B-456E-A966-E3A2CACF7839}" type="slidenum">
              <a:rPr lang="hu-HU"/>
              <a:pPr>
                <a:defRPr/>
              </a:pPr>
              <a:t>‹#›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>
              <a:solidFill>
                <a:srgbClr val="F8F8F8"/>
              </a:solidFill>
            </a:endParaRP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AB0DCA-C85F-4430-8F11-73A744BBB6EC}" type="datetimeFigureOut">
              <a:rPr lang="hu-HU">
                <a:solidFill>
                  <a:srgbClr val="F8F8F8"/>
                </a:solidFill>
              </a:rPr>
              <a:pPr>
                <a:defRPr/>
              </a:pPr>
              <a:t>2018.03.08.</a:t>
            </a:fld>
            <a:endParaRPr lang="hu-HU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995785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B7475F-AEA1-4351-8C8C-F8BEA9990AB8}" type="slidenum">
              <a:rPr lang="hu-HU"/>
              <a:pPr>
                <a:defRPr/>
              </a:pPr>
              <a:t>‹#›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>
              <a:solidFill>
                <a:srgbClr val="F8F8F8"/>
              </a:solidFill>
            </a:endParaRP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70E565-1634-4878-946D-F4DE22C6224B}" type="datetimeFigureOut">
              <a:rPr lang="hu-HU">
                <a:solidFill>
                  <a:srgbClr val="F8F8F8"/>
                </a:solidFill>
              </a:rPr>
              <a:pPr>
                <a:defRPr/>
              </a:pPr>
              <a:t>2018.03.08.</a:t>
            </a:fld>
            <a:endParaRPr lang="hu-HU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974824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008C6D-DD59-456B-9FBA-BF286B32CF2D}" type="slidenum">
              <a:rPr lang="hu-HU"/>
              <a:pPr>
                <a:defRPr/>
              </a:pPr>
              <a:t>‹#›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>
              <a:solidFill>
                <a:srgbClr val="F8F8F8"/>
              </a:solidFill>
            </a:endParaRP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0672D0-E8DB-458C-A749-614CB8F23FD9}" type="datetimeFigureOut">
              <a:rPr lang="hu-HU">
                <a:solidFill>
                  <a:srgbClr val="F8F8F8"/>
                </a:solidFill>
              </a:rPr>
              <a:pPr>
                <a:defRPr/>
              </a:pPr>
              <a:t>2018.03.08.</a:t>
            </a:fld>
            <a:endParaRPr lang="hu-HU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185217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10155F-FC95-489D-AF88-DB0D74FE70AA}" type="slidenum">
              <a:rPr lang="hu-HU"/>
              <a:pPr>
                <a:defRPr/>
              </a:pPr>
              <a:t>‹#›</a:t>
            </a:fld>
            <a:endParaRPr lang="hu-H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>
              <a:solidFill>
                <a:srgbClr val="F8F8F8"/>
              </a:solidFill>
            </a:endParaRP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84B13B-F79D-4E63-97C6-A0BFE8F98E06}" type="datetimeFigureOut">
              <a:rPr lang="hu-HU">
                <a:solidFill>
                  <a:srgbClr val="F8F8F8"/>
                </a:solidFill>
              </a:rPr>
              <a:pPr>
                <a:defRPr/>
              </a:pPr>
              <a:t>2018.03.08.</a:t>
            </a:fld>
            <a:endParaRPr lang="hu-HU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803256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02F457-FB96-48B6-A330-F9D74EB23513}" type="slidenum">
              <a:rPr lang="hu-HU"/>
              <a:pPr>
                <a:defRPr/>
              </a:pPr>
              <a:t>‹#›</a:t>
            </a:fld>
            <a:endParaRPr lang="hu-HU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>
              <a:solidFill>
                <a:srgbClr val="F8F8F8"/>
              </a:solidFill>
            </a:endParaRP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8C38CE-6ED1-4305-A179-B3E3502BF645}" type="datetimeFigureOut">
              <a:rPr lang="hu-HU">
                <a:solidFill>
                  <a:srgbClr val="F8F8F8"/>
                </a:solidFill>
              </a:rPr>
              <a:pPr>
                <a:defRPr/>
              </a:pPr>
              <a:t>2018.03.08.</a:t>
            </a:fld>
            <a:endParaRPr lang="hu-HU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8606020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D8C3A3-F2BA-42A9-BFC0-126EC6FC0A22}" type="slidenum">
              <a:rPr lang="hu-HU"/>
              <a:pPr>
                <a:defRPr/>
              </a:pPr>
              <a:t>‹#›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>
              <a:solidFill>
                <a:srgbClr val="F8F8F8"/>
              </a:solidFill>
            </a:endParaRP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837241-194E-41A7-8E50-2A355FE97D42}" type="datetimeFigureOut">
              <a:rPr lang="hu-HU">
                <a:solidFill>
                  <a:srgbClr val="F8F8F8"/>
                </a:solidFill>
              </a:rPr>
              <a:pPr>
                <a:defRPr/>
              </a:pPr>
              <a:t>2018.03.08.</a:t>
            </a:fld>
            <a:endParaRPr lang="hu-HU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091423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54E86E-9BD6-4965-8780-EEE3830118B8}" type="slidenum">
              <a:rPr lang="hu-HU"/>
              <a:pPr>
                <a:defRPr/>
              </a:pPr>
              <a:t>‹#›</a:t>
            </a:fld>
            <a:endParaRPr lang="hu-HU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>
              <a:solidFill>
                <a:srgbClr val="F8F8F8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FBA03C-7E6B-4C3B-A639-3CCBF8F218C6}" type="datetimeFigureOut">
              <a:rPr lang="hu-HU">
                <a:solidFill>
                  <a:srgbClr val="F8F8F8"/>
                </a:solidFill>
              </a:rPr>
              <a:pPr>
                <a:defRPr/>
              </a:pPr>
              <a:t>2018.03.08.</a:t>
            </a:fld>
            <a:endParaRPr lang="hu-HU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41544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DBCDFB-A954-4FCF-91C1-BA0FEA07898E}" type="slidenum">
              <a:rPr lang="hu-HU"/>
              <a:pPr>
                <a:defRPr/>
              </a:pPr>
              <a:t>‹#›</a:t>
            </a:fld>
            <a:endParaRPr lang="hu-H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>
              <a:solidFill>
                <a:srgbClr val="F8F8F8"/>
              </a:solidFill>
            </a:endParaRP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B54001-E0A8-4F0F-ACFF-A30854480C9B}" type="datetimeFigureOut">
              <a:rPr lang="hu-HU">
                <a:solidFill>
                  <a:srgbClr val="F8F8F8"/>
                </a:solidFill>
              </a:rPr>
              <a:pPr>
                <a:defRPr/>
              </a:pPr>
              <a:t>2018.03.08.</a:t>
            </a:fld>
            <a:endParaRPr lang="hu-HU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021406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hu-HU" noProof="0" smtClean="0"/>
              <a:t>Kép beszúrásához kattintson az ikonra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55677C-B431-45CE-8D42-6BA4BFA8396D}" type="slidenum">
              <a:rPr lang="hu-HU"/>
              <a:pPr>
                <a:defRPr/>
              </a:pPr>
              <a:t>‹#›</a:t>
            </a:fld>
            <a:endParaRPr lang="hu-H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>
              <a:solidFill>
                <a:srgbClr val="F8F8F8"/>
              </a:solidFill>
            </a:endParaRP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CE08FC-625A-4E06-B2CD-54C74DA7CD21}" type="datetimeFigureOut">
              <a:rPr lang="hu-HU">
                <a:solidFill>
                  <a:srgbClr val="F8F8F8"/>
                </a:solidFill>
              </a:rPr>
              <a:pPr>
                <a:defRPr/>
              </a:pPr>
              <a:t>2018.03.08.</a:t>
            </a:fld>
            <a:endParaRPr lang="hu-HU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971624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676DA6-0F44-422F-AB88-397ED09672B8}" type="slidenum">
              <a:rPr lang="hu-HU"/>
              <a:pPr>
                <a:defRPr/>
              </a:pPr>
              <a:t>‹#›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>
              <a:solidFill>
                <a:srgbClr val="F8F8F8"/>
              </a:solidFill>
            </a:endParaRP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02BDE5-B96D-4E04-8E70-E30AE6C6D160}" type="datetimeFigureOut">
              <a:rPr lang="hu-HU">
                <a:solidFill>
                  <a:srgbClr val="F8F8F8"/>
                </a:solidFill>
              </a:rPr>
              <a:pPr>
                <a:defRPr/>
              </a:pPr>
              <a:t>2018.03.08.</a:t>
            </a:fld>
            <a:endParaRPr lang="hu-HU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369586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90BC2D-F8B3-451D-9F1B-6D13C6DCC7D6}" type="slidenum">
              <a:rPr lang="hu-HU"/>
              <a:pPr>
                <a:defRPr/>
              </a:pPr>
              <a:t>‹#›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>
              <a:solidFill>
                <a:srgbClr val="F8F8F8"/>
              </a:solidFill>
            </a:endParaRP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41C394-D594-4BD8-9205-CE2B29E20578}" type="datetimeFigureOut">
              <a:rPr lang="hu-HU">
                <a:solidFill>
                  <a:srgbClr val="F8F8F8"/>
                </a:solidFill>
              </a:rPr>
              <a:pPr>
                <a:defRPr/>
              </a:pPr>
              <a:t>2018.03.08.</a:t>
            </a:fld>
            <a:endParaRPr lang="hu-HU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34862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620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u-HU" altLang="hu-HU" smtClean="0"/>
              <a:t>Mintaszöveg szerkesztése</a:t>
            </a:r>
          </a:p>
          <a:p>
            <a:pPr lvl="1"/>
            <a:r>
              <a:rPr lang="hu-HU" altLang="hu-HU" smtClean="0"/>
              <a:t>Második szint</a:t>
            </a:r>
          </a:p>
          <a:p>
            <a:pPr lvl="2"/>
            <a:r>
              <a:rPr lang="hu-HU" altLang="hu-HU" smtClean="0"/>
              <a:t>Harmadik szint</a:t>
            </a:r>
          </a:p>
          <a:p>
            <a:pPr lvl="3"/>
            <a:r>
              <a:rPr lang="hu-HU" altLang="hu-HU" smtClean="0"/>
              <a:t>Negyedik szint</a:t>
            </a:r>
          </a:p>
          <a:p>
            <a:pPr lvl="4"/>
            <a:r>
              <a:rPr lang="hu-HU" altLang="hu-HU" smtClean="0"/>
              <a:t>Ötödik szint</a:t>
            </a:r>
            <a:endParaRPr lang="en-US" altLang="hu-HU" smtClean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225" y="5648325"/>
            <a:ext cx="549275" cy="396875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800">
                <a:solidFill>
                  <a:srgbClr val="FFFF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4C360E8-474B-4214-B149-A6028A967901}" type="slidenum">
              <a:rPr lang="hu-HU"/>
              <a:pPr>
                <a:defRPr/>
              </a:pPr>
              <a:t>‹#›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7456" y="4048919"/>
            <a:ext cx="2366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738" y="1646237"/>
            <a:ext cx="2438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68FAFC8-168C-4F87-9327-843C71E66A57}" type="datetimeFigureOut">
              <a:rPr lang="hu-HU"/>
              <a:pPr>
                <a:defRPr/>
              </a:pPr>
              <a:t>2018.03.08.</a:t>
            </a:fld>
            <a:endParaRPr lang="hu-H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3" r:id="rId1"/>
    <p:sldLayoutId id="2147484154" r:id="rId2"/>
    <p:sldLayoutId id="2147484155" r:id="rId3"/>
    <p:sldLayoutId id="2147484156" r:id="rId4"/>
    <p:sldLayoutId id="2147484157" r:id="rId5"/>
    <p:sldLayoutId id="2147484158" r:id="rId6"/>
    <p:sldLayoutId id="2147484159" r:id="rId7"/>
    <p:sldLayoutId id="2147484160" r:id="rId8"/>
    <p:sldLayoutId id="2147484161" r:id="rId9"/>
    <p:sldLayoutId id="2147484162" r:id="rId10"/>
    <p:sldLayoutId id="214748416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600" kern="1200" spc="-1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Cambria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Cambria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Cambria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Cambria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Cambria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Cambria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Cambria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Cambria" pitchFamily="18" charset="0"/>
        </a:defRPr>
      </a:lvl9pPr>
    </p:titleStyle>
    <p:bodyStyle>
      <a:lvl1pPr marL="3429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4888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279525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16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Font typeface="Arial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620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u-HU" altLang="hu-HU" smtClean="0"/>
              <a:t>Mintaszöveg szerkesztése</a:t>
            </a:r>
          </a:p>
          <a:p>
            <a:pPr lvl="1"/>
            <a:r>
              <a:rPr lang="hu-HU" altLang="hu-HU" smtClean="0"/>
              <a:t>Második szint</a:t>
            </a:r>
          </a:p>
          <a:p>
            <a:pPr lvl="2"/>
            <a:r>
              <a:rPr lang="hu-HU" altLang="hu-HU" smtClean="0"/>
              <a:t>Harmadik szint</a:t>
            </a:r>
          </a:p>
          <a:p>
            <a:pPr lvl="3"/>
            <a:r>
              <a:rPr lang="hu-HU" altLang="hu-HU" smtClean="0"/>
              <a:t>Negyedik szint</a:t>
            </a:r>
          </a:p>
          <a:p>
            <a:pPr lvl="4"/>
            <a:r>
              <a:rPr lang="hu-HU" altLang="hu-HU" smtClean="0"/>
              <a:t>Ötödik szint</a:t>
            </a:r>
            <a:endParaRPr lang="en-US" altLang="hu-HU" smtClean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225" y="5648325"/>
            <a:ext cx="549275" cy="396875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800">
                <a:solidFill>
                  <a:srgbClr val="FFFF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4C360E8-474B-4214-B149-A6028A967901}" type="slidenum">
              <a:rPr lang="hu-HU"/>
              <a:pPr>
                <a:defRPr/>
              </a:pPr>
              <a:t>‹#›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7456" y="4048919"/>
            <a:ext cx="2366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u-HU">
              <a:solidFill>
                <a:srgbClr val="F8F8F8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738" y="1646237"/>
            <a:ext cx="2438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68FAFC8-168C-4F87-9327-843C71E66A57}" type="datetimeFigureOut">
              <a:rPr lang="hu-HU">
                <a:solidFill>
                  <a:srgbClr val="F8F8F8"/>
                </a:solidFill>
              </a:rPr>
              <a:pPr>
                <a:defRPr/>
              </a:pPr>
              <a:t>2018.03.08.</a:t>
            </a:fld>
            <a:endParaRPr lang="hu-HU">
              <a:solidFill>
                <a:srgbClr val="F8F8F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711492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5" r:id="rId1"/>
    <p:sldLayoutId id="2147484166" r:id="rId2"/>
    <p:sldLayoutId id="2147484167" r:id="rId3"/>
    <p:sldLayoutId id="2147484168" r:id="rId4"/>
    <p:sldLayoutId id="2147484169" r:id="rId5"/>
    <p:sldLayoutId id="2147484170" r:id="rId6"/>
    <p:sldLayoutId id="2147484171" r:id="rId7"/>
    <p:sldLayoutId id="2147484172" r:id="rId8"/>
    <p:sldLayoutId id="2147484173" r:id="rId9"/>
    <p:sldLayoutId id="2147484174" r:id="rId10"/>
    <p:sldLayoutId id="214748417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600" kern="1200" spc="-1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Cambria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Cambria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Cambria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Cambria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Cambria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Cambria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Cambria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Cambria" pitchFamily="18" charset="0"/>
        </a:defRPr>
      </a:lvl9pPr>
    </p:titleStyle>
    <p:bodyStyle>
      <a:lvl1pPr marL="3429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4888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279525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16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Font typeface="Arial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lum/>
          </a:blip>
          <a:srcRect/>
          <a:stretch>
            <a:fillRect l="-15000" r="-1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0" y="3429000"/>
            <a:ext cx="6552728" cy="2664297"/>
          </a:xfrm>
          <a:solidFill>
            <a:schemeClr val="bg1">
              <a:alpha val="53000"/>
            </a:schemeClr>
          </a:solidFill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hu-HU" dirty="0" smtClean="0"/>
              <a:t>Biztosítókészülékek, műszerek, kötelező felszerelések</a:t>
            </a:r>
            <a:endParaRPr lang="hu-HU" dirty="0"/>
          </a:p>
        </p:txBody>
      </p:sp>
      <p:sp>
        <p:nvSpPr>
          <p:cNvPr id="3" name="Téglalap 2"/>
          <p:cNvSpPr/>
          <p:nvPr/>
        </p:nvSpPr>
        <p:spPr>
          <a:xfrm>
            <a:off x="2987824" y="6229920"/>
            <a:ext cx="5472608" cy="646331"/>
          </a:xfrm>
          <a:prstGeom prst="rect">
            <a:avLst/>
          </a:prstGeom>
          <a:solidFill>
            <a:schemeClr val="bg1">
              <a:alpha val="38000"/>
            </a:schemeClr>
          </a:solidFill>
        </p:spPr>
        <p:txBody>
          <a:bodyPr wrap="square">
            <a:spAutoFit/>
          </a:bodyPr>
          <a:lstStyle>
            <a:defPPr>
              <a:defRPr lang="hu-H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hu-HU" dirty="0">
                <a:solidFill>
                  <a:schemeClr val="tx1">
                    <a:lumMod val="95000"/>
                    <a:lumOff val="5000"/>
                  </a:schemeClr>
                </a:solidFill>
              </a:rPr>
              <a:t>Ajánlott irodalom: </a:t>
            </a:r>
            <a:br>
              <a:rPr lang="hu-HU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hu-HU" dirty="0">
                <a:solidFill>
                  <a:schemeClr val="tx1">
                    <a:lumMod val="95000"/>
                    <a:lumOff val="5000"/>
                  </a:schemeClr>
                </a:solidFill>
              </a:rPr>
              <a:t>Aradi András: Ejtőernyős alapfokú tankönyv, MHSZ, 1972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alphaModFix amt="31000"/>
            <a:lum/>
          </a:blip>
          <a:srcRect/>
          <a:stretch>
            <a:fillRect l="-15000" r="-1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hu-HU" dirty="0" smtClean="0"/>
              <a:t>AAD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114300" indent="0" eaLnBrk="1" fontAlgn="auto" hangingPunct="1">
              <a:spcAft>
                <a:spcPts val="0"/>
              </a:spcAft>
              <a:buNone/>
              <a:defRPr/>
            </a:pPr>
            <a:r>
              <a:rPr lang="hu-HU" dirty="0" smtClean="0"/>
              <a:t>Biztonsági nyitóautomata = AAD (</a:t>
            </a:r>
            <a:r>
              <a:rPr lang="hu-HU" dirty="0" err="1" smtClean="0"/>
              <a:t>Automatic</a:t>
            </a:r>
            <a:r>
              <a:rPr lang="hu-HU" dirty="0" smtClean="0"/>
              <a:t> </a:t>
            </a:r>
            <a:r>
              <a:rPr lang="hu-HU" dirty="0" err="1" smtClean="0"/>
              <a:t>Activation</a:t>
            </a:r>
            <a:r>
              <a:rPr lang="hu-HU" dirty="0" smtClean="0"/>
              <a:t> </a:t>
            </a:r>
            <a:r>
              <a:rPr lang="hu-HU" dirty="0" err="1" smtClean="0"/>
              <a:t>Device</a:t>
            </a:r>
            <a:r>
              <a:rPr lang="hu-HU" dirty="0" smtClean="0"/>
              <a:t>)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hu-HU" dirty="0" smtClean="0"/>
              <a:t>Csoportosításuk:</a:t>
            </a:r>
          </a:p>
          <a:p>
            <a:pPr marL="640080" lvl="1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hu-HU" dirty="0" smtClean="0"/>
              <a:t>Nyitandó ernyő szerint:</a:t>
            </a:r>
          </a:p>
          <a:p>
            <a:pPr marL="1005840" lvl="2" eaLnBrk="1" fontAlgn="auto" hangingPunct="1">
              <a:spcAft>
                <a:spcPts val="0"/>
              </a:spcAft>
              <a:buClr>
                <a:schemeClr val="accent3"/>
              </a:buClr>
              <a:buFont typeface="Arial" pitchFamily="34" charset="0"/>
              <a:buChar char="•"/>
              <a:defRPr/>
            </a:pPr>
            <a:r>
              <a:rPr lang="hu-HU" dirty="0" smtClean="0"/>
              <a:t>Főernyő nyitó (pl.: PPKU,  KAP-3)</a:t>
            </a:r>
          </a:p>
          <a:p>
            <a:pPr marL="1005840" lvl="2" eaLnBrk="1" fontAlgn="auto" hangingPunct="1">
              <a:spcAft>
                <a:spcPts val="0"/>
              </a:spcAft>
              <a:buClr>
                <a:schemeClr val="accent3"/>
              </a:buClr>
              <a:buFont typeface="Arial" pitchFamily="34" charset="0"/>
              <a:buChar char="•"/>
              <a:defRPr/>
            </a:pPr>
            <a:r>
              <a:rPr lang="hu-HU" dirty="0" smtClean="0"/>
              <a:t>Tartalékernyő nyitó (pl.: CYPRESS, VIGIL)</a:t>
            </a:r>
          </a:p>
          <a:p>
            <a:pPr marL="640080" lvl="1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hu-HU" dirty="0" smtClean="0"/>
              <a:t>Szerkezet szerint:</a:t>
            </a:r>
          </a:p>
          <a:p>
            <a:pPr marL="1005840" lvl="2" eaLnBrk="1" fontAlgn="auto" hangingPunct="1">
              <a:spcAft>
                <a:spcPts val="0"/>
              </a:spcAft>
              <a:buClr>
                <a:schemeClr val="accent3"/>
              </a:buClr>
              <a:buFont typeface="Arial" pitchFamily="34" charset="0"/>
              <a:buChar char="•"/>
              <a:defRPr/>
            </a:pPr>
            <a:r>
              <a:rPr lang="hu-HU" dirty="0" smtClean="0"/>
              <a:t>Mechanikus </a:t>
            </a:r>
            <a:r>
              <a:rPr lang="hu-HU" dirty="0"/>
              <a:t>(pl.: PPKU,  KAP-3</a:t>
            </a:r>
            <a:r>
              <a:rPr lang="hu-HU" dirty="0" smtClean="0"/>
              <a:t>)</a:t>
            </a:r>
          </a:p>
          <a:p>
            <a:pPr marL="1005840" lvl="2" eaLnBrk="1" fontAlgn="auto" hangingPunct="1">
              <a:spcAft>
                <a:spcPts val="0"/>
              </a:spcAft>
              <a:buClr>
                <a:schemeClr val="accent3"/>
              </a:buClr>
              <a:buFont typeface="Arial" pitchFamily="34" charset="0"/>
              <a:buChar char="•"/>
              <a:defRPr/>
            </a:pPr>
            <a:r>
              <a:rPr lang="hu-HU" dirty="0" smtClean="0"/>
              <a:t>Elektronikus </a:t>
            </a:r>
            <a:r>
              <a:rPr lang="hu-HU" dirty="0"/>
              <a:t>(pl.: CYPRESS, VIGIL)</a:t>
            </a:r>
          </a:p>
          <a:p>
            <a:pPr marL="640080" lvl="1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hu-HU" dirty="0" smtClean="0"/>
              <a:t>Nyitás módja szerint:</a:t>
            </a:r>
          </a:p>
          <a:p>
            <a:pPr marL="1005840" lvl="2" eaLnBrk="1" fontAlgn="auto" hangingPunct="1">
              <a:spcAft>
                <a:spcPts val="0"/>
              </a:spcAft>
              <a:buClr>
                <a:schemeClr val="accent3"/>
              </a:buClr>
              <a:buFont typeface="Arial" pitchFamily="34" charset="0"/>
              <a:buChar char="•"/>
              <a:defRPr/>
            </a:pPr>
            <a:r>
              <a:rPr lang="hu-HU" dirty="0" err="1" smtClean="0"/>
              <a:t>Zárótüskét</a:t>
            </a:r>
            <a:r>
              <a:rPr lang="hu-HU" dirty="0" smtClean="0"/>
              <a:t> kihúzó (mechanikus)</a:t>
            </a:r>
          </a:p>
          <a:p>
            <a:pPr marL="1005840" lvl="2" eaLnBrk="1" fontAlgn="auto" hangingPunct="1">
              <a:spcAft>
                <a:spcPts val="0"/>
              </a:spcAft>
              <a:buClr>
                <a:schemeClr val="accent3"/>
              </a:buClr>
              <a:buFont typeface="Arial" pitchFamily="34" charset="0"/>
              <a:buChar char="•"/>
              <a:defRPr/>
            </a:pPr>
            <a:r>
              <a:rPr lang="hu-HU" dirty="0" err="1" smtClean="0"/>
              <a:t>Záróhurkot</a:t>
            </a:r>
            <a:r>
              <a:rPr lang="hu-HU" dirty="0" smtClean="0"/>
              <a:t> átvágó (pirotechnikai)</a:t>
            </a:r>
          </a:p>
          <a:p>
            <a:pPr marL="777240" lvl="2" indent="0" eaLnBrk="1" fontAlgn="auto" hangingPunct="1">
              <a:spcAft>
                <a:spcPts val="0"/>
              </a:spcAft>
              <a:buClr>
                <a:schemeClr val="accent3"/>
              </a:buClr>
              <a:buFont typeface="Arial" pitchFamily="34" charset="0"/>
              <a:buNone/>
              <a:defRPr/>
            </a:pPr>
            <a:endParaRPr lang="hu-H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alphaModFix amt="2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hu-HU" dirty="0" smtClean="0"/>
              <a:t>PPKU, KAP-3</a:t>
            </a:r>
            <a:endParaRPr lang="hu-HU" dirty="0"/>
          </a:p>
        </p:txBody>
      </p:sp>
      <p:sp>
        <p:nvSpPr>
          <p:cNvPr id="4099" name="Tartalom helye 2"/>
          <p:cNvSpPr>
            <a:spLocks noGrp="1"/>
          </p:cNvSpPr>
          <p:nvPr>
            <p:ph idx="1"/>
          </p:nvPr>
        </p:nvSpPr>
        <p:spPr>
          <a:xfrm>
            <a:off x="457200" y="1580728"/>
            <a:ext cx="7620000" cy="4800600"/>
          </a:xfrm>
        </p:spPr>
        <p:txBody>
          <a:bodyPr/>
          <a:lstStyle/>
          <a:p>
            <a:pPr eaLnBrk="1" hangingPunct="1"/>
            <a:r>
              <a:rPr lang="hu-HU" altLang="hu-H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Főernyő nyitó </a:t>
            </a:r>
            <a:r>
              <a:rPr lang="hu-HU" altLang="hu-H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műszer</a:t>
            </a:r>
          </a:p>
          <a:p>
            <a:pPr eaLnBrk="1" hangingPunct="1"/>
            <a:r>
              <a:rPr lang="hu-HU" altLang="hu-H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Mechanikus félautomata műszer, mely az előre beállított magasságon rugóerő segítségével húzza ki a </a:t>
            </a:r>
            <a:r>
              <a:rPr lang="hu-HU" alt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</a:t>
            </a:r>
            <a:r>
              <a:rPr lang="hu-HU" altLang="hu-H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áró tüskét</a:t>
            </a:r>
          </a:p>
          <a:p>
            <a:pPr eaLnBrk="1" hangingPunct="1"/>
            <a:r>
              <a:rPr lang="hu-HU" altLang="hu-H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Fő részei:  műszerház, </a:t>
            </a:r>
            <a:r>
              <a:rPr lang="hu-HU" altLang="hu-H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aneroidszelence, óramű, kulisszamű, </a:t>
            </a:r>
            <a:r>
              <a:rPr lang="hu-HU" altLang="hu-H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magasságbeállító csavar, beállítási skála, rugalmas gégecső, </a:t>
            </a:r>
            <a:r>
              <a:rPr lang="hu-HU" altLang="hu-HU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bowden</a:t>
            </a:r>
            <a:r>
              <a:rPr lang="hu-HU" altLang="hu-H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rugó, bajonettzár, fej (dió</a:t>
            </a:r>
            <a:r>
              <a:rPr lang="hu-HU" altLang="hu-H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hu-HU" altLang="hu-H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kengyel, biztosítótüske</a:t>
            </a:r>
          </a:p>
          <a:p>
            <a:pPr eaLnBrk="1" hangingPunct="1"/>
            <a:r>
              <a:rPr lang="hu-HU" altLang="hu-H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Működési hőmérséklet: -60 és +60 C° között  </a:t>
            </a:r>
          </a:p>
          <a:p>
            <a:pPr eaLnBrk="1" hangingPunct="1"/>
            <a:r>
              <a:rPr lang="hu-HU" altLang="hu-H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Nyitóerő: 28 Kp</a:t>
            </a:r>
          </a:p>
          <a:p>
            <a:pPr eaLnBrk="1" hangingPunct="1"/>
            <a:r>
              <a:rPr lang="hu-HU" altLang="hu-H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Magasság beállítás: PPKU 300-8000 m, KAP-3 500-4000 m</a:t>
            </a:r>
          </a:p>
          <a:p>
            <a:pPr eaLnBrk="1" hangingPunct="1"/>
            <a:r>
              <a:rPr lang="hu-HU" altLang="hu-H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Időbeállítás: 2-5 mp</a:t>
            </a:r>
          </a:p>
          <a:p>
            <a:pPr eaLnBrk="1" hangingPunct="1"/>
            <a:r>
              <a:rPr lang="hu-HU" altLang="hu-H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Aneroidszelence nyomása 760 Hgmm</a:t>
            </a:r>
          </a:p>
          <a:p>
            <a:pPr eaLnBrk="1" hangingPunct="1"/>
            <a:endParaRPr lang="hu-HU" altLang="hu-HU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alphaModFix amt="2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hu-HU" dirty="0" smtClean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hu-HU" dirty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hu-HU" dirty="0" smtClean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hu-HU" dirty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hu-HU" dirty="0" smtClean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hu-HU" dirty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hu-HU" dirty="0" smtClean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hu-HU" dirty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hu-HU" dirty="0" smtClean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hu-HU" dirty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hu-HU" dirty="0" smtClean="0"/>
          </a:p>
          <a:p>
            <a:pPr marL="114300" indent="0" algn="ctr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hu-HU" dirty="0" smtClean="0"/>
          </a:p>
          <a:p>
            <a:pPr marL="114300" indent="0" algn="ctr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hu-HU" dirty="0" smtClean="0"/>
              <a:t>KAP-3</a:t>
            </a:r>
            <a:endParaRPr lang="hu-HU" dirty="0"/>
          </a:p>
        </p:txBody>
      </p:sp>
      <p:pic>
        <p:nvPicPr>
          <p:cNvPr id="5124" name="Picture 2" descr="F:\Swartzy\Swartzy Downloads\Ejtoernyo\Ea\Kap3_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55650" y="414338"/>
            <a:ext cx="7200900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alphaModFix amt="2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hu-HU" dirty="0"/>
              <a:t>PPKU, </a:t>
            </a:r>
            <a:r>
              <a:rPr lang="hu-HU" dirty="0" smtClean="0"/>
              <a:t>KAP-3 működése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77500" lnSpcReduction="20000"/>
          </a:bodyPr>
          <a:lstStyle/>
          <a:p>
            <a:pPr algn="just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hu-H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műszerházban található aneroidszelencében a tengerszintnek megfelelő nyomás /</a:t>
            </a:r>
            <a:r>
              <a:rPr lang="hu-H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bar</a:t>
            </a:r>
            <a:r>
              <a:rPr lang="hu-H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 uralkodik. A szelencén egy fémtüske van, melynek teteje alaphelyzetben az óramű számlapjával van egy síkban, így nem akadályozva a blokkoló kar mozgását. A légnyomás csökkenésével a szelence a nagyobb belső nyomás miatt tágulni kezd. A tüske kiemelkedik a számlap síkjából, elzárva ezzel a majd visszafelé haladó blokkoló kar útját. A magasságbeállító csavar tekerésével a szelence magasságát állítjuk az óra számlapjához viszonyítva. Így érjük el, hogy a tüske csak a skálán beállított magasságon zárja el a blokkoló kar útját.</a:t>
            </a:r>
          </a:p>
          <a:p>
            <a:pPr algn="just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hu-HU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hu-H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felhúzott és kibiztosított műszerből ugrási magasságon eltávolítjuk a rugalmas biztosítótüskét, ekkor az óramű működésbe lép. Lejár egészen addig, míg a blokkoló kar neki nem ütközik a szelence tüskéjének /ha felette vagyunk a beállított magasságnak/ ekkor az óra megáll. Mikor elérjük a beállított magasságot a szelence a légnyomás hatására összehúzódik, felszabadítva a blokkoló kart, az óra ledolgozza a hátralévő időt és felszabadítja a rugót, a műszer elcsattan.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hu-H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alphaModFix amt="31000"/>
            <a:lum/>
          </a:blip>
          <a:srcRect/>
          <a:stretch>
            <a:fillRect l="-15000" r="-1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3" descr="F:\Swartzy\Swartzy Downloads\Ejtoernyo\Ea\Vigil-2+-300x225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38513" y="2505075"/>
            <a:ext cx="4978400" cy="373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hu-HU" dirty="0" smtClean="0"/>
              <a:t>Elektronikus biztonsági </a:t>
            </a:r>
            <a:r>
              <a:rPr lang="hu-HU" dirty="0" err="1" smtClean="0"/>
              <a:t>nyitóautomaták</a:t>
            </a:r>
            <a:endParaRPr lang="hu-HU" dirty="0"/>
          </a:p>
        </p:txBody>
      </p:sp>
      <p:sp>
        <p:nvSpPr>
          <p:cNvPr id="7172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hu-HU" altLang="hu-HU" b="1" smtClean="0"/>
              <a:t>Tartalékernyőt nyitnak</a:t>
            </a:r>
            <a:r>
              <a:rPr lang="hu-HU" altLang="hu-HU" smtClean="0"/>
              <a:t>, a záróhurok pirotechnikai átvágásával</a:t>
            </a:r>
          </a:p>
          <a:p>
            <a:pPr eaLnBrk="1" hangingPunct="1"/>
            <a:r>
              <a:rPr lang="hu-HU" altLang="hu-HU" smtClean="0"/>
              <a:t>Jeles képviselőik a </a:t>
            </a:r>
            <a:r>
              <a:rPr lang="hu-HU" altLang="hu-HU" b="1" smtClean="0"/>
              <a:t>CYPRES</a:t>
            </a:r>
            <a:r>
              <a:rPr lang="hu-HU" altLang="hu-HU" smtClean="0"/>
              <a:t> és a </a:t>
            </a:r>
            <a:r>
              <a:rPr lang="hu-HU" altLang="hu-HU" b="1" smtClean="0"/>
              <a:t>VIGIL</a:t>
            </a:r>
          </a:p>
          <a:p>
            <a:pPr eaLnBrk="1" hangingPunct="1"/>
            <a:r>
              <a:rPr lang="hu-HU" altLang="hu-HU" b="1" smtClean="0"/>
              <a:t>Fő részei:</a:t>
            </a:r>
          </a:p>
          <a:p>
            <a:pPr lvl="1" eaLnBrk="1" hangingPunct="1"/>
            <a:r>
              <a:rPr lang="hu-HU" altLang="hu-HU" b="1" smtClean="0"/>
              <a:t>Jelfeldolgozó egység</a:t>
            </a:r>
          </a:p>
          <a:p>
            <a:pPr lvl="1" eaLnBrk="1" hangingPunct="1"/>
            <a:r>
              <a:rPr lang="hu-HU" altLang="hu-HU" b="1" smtClean="0"/>
              <a:t>Vezérlő egység</a:t>
            </a:r>
          </a:p>
          <a:p>
            <a:pPr lvl="1" eaLnBrk="1" hangingPunct="1"/>
            <a:r>
              <a:rPr lang="hu-HU" altLang="hu-HU" b="1" smtClean="0"/>
              <a:t>Piropatron vágófej</a:t>
            </a:r>
          </a:p>
        </p:txBody>
      </p:sp>
      <p:cxnSp>
        <p:nvCxnSpPr>
          <p:cNvPr id="5" name="Egyenes összekötő nyíllal 4"/>
          <p:cNvCxnSpPr/>
          <p:nvPr/>
        </p:nvCxnSpPr>
        <p:spPr>
          <a:xfrm>
            <a:off x="3338513" y="2997200"/>
            <a:ext cx="477837" cy="36036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gyenes összekötő nyíllal 6"/>
          <p:cNvCxnSpPr/>
          <p:nvPr/>
        </p:nvCxnSpPr>
        <p:spPr>
          <a:xfrm>
            <a:off x="2843213" y="3357563"/>
            <a:ext cx="1657350" cy="14398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gyenes összekötő nyíllal 9"/>
          <p:cNvCxnSpPr/>
          <p:nvPr/>
        </p:nvCxnSpPr>
        <p:spPr>
          <a:xfrm>
            <a:off x="3203575" y="3789363"/>
            <a:ext cx="1081088" cy="20161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alphaModFix amt="31000"/>
            <a:lum/>
          </a:blip>
          <a:srcRect/>
          <a:stretch>
            <a:fillRect l="-15000" r="-1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hu-HU" dirty="0" smtClean="0"/>
              <a:t>Elektronikus biztonsági </a:t>
            </a:r>
            <a:r>
              <a:rPr lang="hu-HU" dirty="0" err="1" smtClean="0"/>
              <a:t>nyitóautomaták</a:t>
            </a:r>
            <a:r>
              <a:rPr lang="hu-HU" dirty="0" smtClean="0"/>
              <a:t> működése</a:t>
            </a:r>
            <a:endParaRPr lang="hu-HU" dirty="0"/>
          </a:p>
        </p:txBody>
      </p:sp>
      <p:sp>
        <p:nvSpPr>
          <p:cNvPr id="8195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hu-HU" altLang="hu-HU" dirty="0" smtClean="0"/>
              <a:t>Pontosan érzékeli azt a magasságot, ahol működésbe kell lépnie, ha gyorsabban zuhanunk az aktivációs sebességnél, az aktivációs magasság alatt, úgy aktiválódik a </a:t>
            </a:r>
            <a:r>
              <a:rPr lang="hu-HU" altLang="hu-HU" dirty="0" err="1" smtClean="0"/>
              <a:t>piropatron</a:t>
            </a:r>
            <a:r>
              <a:rPr lang="hu-HU" altLang="hu-HU" dirty="0" smtClean="0"/>
              <a:t> vágófej.</a:t>
            </a:r>
          </a:p>
          <a:p>
            <a:pPr algn="just" eaLnBrk="1" hangingPunct="1"/>
            <a:r>
              <a:rPr lang="hu-HU" altLang="hu-HU" dirty="0" smtClean="0"/>
              <a:t>A jelfeldolgozó-egységben egy gyárilag programozott mikroprocesszor található, kiszámítja a magasságot és az ugró zuhanási sebességét az időegység alatt bekövetkező nyomásváltozásból.</a:t>
            </a:r>
          </a:p>
          <a:p>
            <a:pPr algn="just" eaLnBrk="1" hangingPunct="1"/>
            <a:endParaRPr lang="hu-HU" altLang="hu-HU" dirty="0" smtClean="0"/>
          </a:p>
        </p:txBody>
      </p:sp>
      <p:pic>
        <p:nvPicPr>
          <p:cNvPr id="8196" name="Picture 9"/>
          <p:cNvPicPr>
            <a:picLocks noChangeAspect="1" noChangeArrowheads="1"/>
          </p:cNvPicPr>
          <p:nvPr/>
        </p:nvPicPr>
        <p:blipFill>
          <a:blip r:embed="rId3" cstate="print">
            <a:lum bright="10000" contrast="2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462338" y="3757613"/>
            <a:ext cx="4360862" cy="306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alphaModFix amt="31000"/>
            <a:lum/>
          </a:blip>
          <a:srcRect/>
          <a:stretch>
            <a:fillRect l="-15000" r="-1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hu-HU" dirty="0" smtClean="0"/>
              <a:t>CYPRESS</a:t>
            </a:r>
            <a:endParaRPr lang="hu-HU" dirty="0"/>
          </a:p>
        </p:txBody>
      </p:sp>
      <p:sp>
        <p:nvSpPr>
          <p:cNvPr id="9219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hu-HU" altLang="hu-HU" dirty="0" smtClean="0"/>
              <a:t>A legelterjedtebb tartalékernyő nyitó biztosítókészülék. Mikrochip-vezérlésű pirotechnikai vágófejjel rendelkezik. A tartalékernyő tokba szerelve helyezkedik el, és a </a:t>
            </a:r>
            <a:r>
              <a:rPr lang="hu-HU" altLang="hu-HU" dirty="0" err="1" smtClean="0"/>
              <a:t>záróhurkot</a:t>
            </a:r>
            <a:r>
              <a:rPr lang="hu-HU" altLang="hu-HU" dirty="0" smtClean="0"/>
              <a:t> vágja el ha egy bizonyos magasságon az ugró a megadott sebességnél gyorsabban ereszkedik (zuhan</a:t>
            </a:r>
            <a:r>
              <a:rPr lang="hu-HU" altLang="hu-HU" dirty="0"/>
              <a:t>)</a:t>
            </a:r>
            <a:r>
              <a:rPr lang="hu-HU" altLang="hu-HU" dirty="0" smtClean="0"/>
              <a:t>.</a:t>
            </a:r>
          </a:p>
          <a:p>
            <a:pPr eaLnBrk="1" hangingPunct="1"/>
            <a:r>
              <a:rPr lang="hu-HU" altLang="hu-HU" dirty="0" smtClean="0"/>
              <a:t>Fajtái (előre meghatározottak készülékenként):</a:t>
            </a:r>
          </a:p>
          <a:p>
            <a:pPr eaLnBrk="1" hangingPunct="1"/>
            <a:endParaRPr lang="hu-HU" altLang="hu-HU" sz="2400" dirty="0" smtClean="0"/>
          </a:p>
          <a:p>
            <a:pPr eaLnBrk="1" hangingPunct="1"/>
            <a:endParaRPr lang="hu-HU" altLang="hu-HU" dirty="0" smtClean="0"/>
          </a:p>
        </p:txBody>
      </p:sp>
      <p:graphicFrame>
        <p:nvGraphicFramePr>
          <p:cNvPr id="4" name="Táblázat 3"/>
          <p:cNvGraphicFramePr>
            <a:graphicFrameLocks noGrp="1"/>
          </p:cNvGraphicFramePr>
          <p:nvPr/>
        </p:nvGraphicFramePr>
        <p:xfrm>
          <a:off x="827088" y="3871913"/>
          <a:ext cx="6096000" cy="1752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smtClean="0"/>
                        <a:t>Aktiválódási magasság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smtClean="0"/>
                        <a:t>Aktivációs sebesség</a:t>
                      </a:r>
                      <a:endParaRPr lang="hu-H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 err="1" smtClean="0"/>
                        <a:t>Expert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smtClean="0"/>
                        <a:t>225 m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smtClean="0"/>
                        <a:t>35 m/s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hu-HU" b="1" dirty="0" err="1" smtClean="0"/>
                        <a:t>Student</a:t>
                      </a:r>
                      <a:endParaRPr lang="hu-H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b="1" dirty="0" smtClean="0"/>
                        <a:t>225 m</a:t>
                      </a:r>
                      <a:endParaRPr lang="hu-H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b="1" dirty="0" smtClean="0"/>
                        <a:t>13 m/s</a:t>
                      </a:r>
                      <a:endParaRPr lang="hu-HU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 smtClean="0"/>
                        <a:t>Tandem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smtClean="0"/>
                        <a:t>580 m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smtClean="0"/>
                        <a:t>35 m/s</a:t>
                      </a:r>
                      <a:endParaRPr lang="hu-HU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9242" name="Picture 4" descr="Exper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077075" y="3716338"/>
            <a:ext cx="2066925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43" name="Picture 5" descr="STUDENT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092950" y="4514850"/>
            <a:ext cx="2066925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44" name="Picture 6" descr="TANDEM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097713" y="5307013"/>
            <a:ext cx="2066925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alphaModFix amt="31000"/>
            <a:lum/>
          </a:blip>
          <a:srcRect/>
          <a:stretch>
            <a:fillRect l="-15000" r="-1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hu-HU" dirty="0" smtClean="0"/>
              <a:t>VIGIL</a:t>
            </a:r>
            <a:endParaRPr lang="hu-HU" dirty="0"/>
          </a:p>
        </p:txBody>
      </p:sp>
      <p:sp>
        <p:nvSpPr>
          <p:cNvPr id="1024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hu-HU" altLang="hu-HU" dirty="0" smtClean="0"/>
              <a:t>A </a:t>
            </a:r>
            <a:r>
              <a:rPr lang="hu-HU" altLang="hu-HU" dirty="0" err="1" smtClean="0"/>
              <a:t>CYPRESS-hez</a:t>
            </a:r>
            <a:r>
              <a:rPr lang="hu-HU" altLang="hu-HU" dirty="0" smtClean="0"/>
              <a:t> hasonlóan az elektronikus tartalékernyő nyitó biztonsági </a:t>
            </a:r>
            <a:r>
              <a:rPr lang="hu-HU" altLang="hu-HU" dirty="0" err="1" smtClean="0"/>
              <a:t>nyitóautomatákhoz</a:t>
            </a:r>
            <a:r>
              <a:rPr lang="hu-HU" altLang="hu-HU" dirty="0" smtClean="0"/>
              <a:t> tartozik.</a:t>
            </a:r>
          </a:p>
          <a:p>
            <a:pPr eaLnBrk="1" hangingPunct="1"/>
            <a:r>
              <a:rPr lang="hu-HU" altLang="hu-HU" dirty="0" smtClean="0"/>
              <a:t>Az üzemmódokat (</a:t>
            </a:r>
            <a:r>
              <a:rPr lang="hu-HU" altLang="hu-HU" dirty="0" err="1" smtClean="0"/>
              <a:t>expert</a:t>
            </a:r>
            <a:r>
              <a:rPr lang="hu-HU" altLang="hu-HU" dirty="0" smtClean="0"/>
              <a:t>, </a:t>
            </a:r>
            <a:r>
              <a:rPr lang="hu-HU" altLang="hu-HU" dirty="0" err="1" smtClean="0"/>
              <a:t>student</a:t>
            </a:r>
            <a:r>
              <a:rPr lang="hu-HU" altLang="hu-HU" dirty="0" smtClean="0"/>
              <a:t>, tandem) készülékenként állíthatjuk, nem előre meghatározott.</a:t>
            </a:r>
          </a:p>
        </p:txBody>
      </p:sp>
      <p:pic>
        <p:nvPicPr>
          <p:cNvPr id="10244" name="Picture 3" descr="F:\Swartzy\Swartzy Downloads\Ejtoernyo\Ea\photo-controlunit_II-800x533-300x203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6350" y="4652963"/>
            <a:ext cx="3203575" cy="216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Táblázat 6"/>
          <p:cNvGraphicFramePr>
            <a:graphicFrameLocks noGrp="1"/>
          </p:cNvGraphicFramePr>
          <p:nvPr/>
        </p:nvGraphicFramePr>
        <p:xfrm>
          <a:off x="1187450" y="3141663"/>
          <a:ext cx="6096000" cy="1752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smtClean="0"/>
                        <a:t>Aktiválódási magasság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smtClean="0"/>
                        <a:t>Aktivációs sebesség</a:t>
                      </a:r>
                      <a:endParaRPr lang="hu-H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 err="1" smtClean="0"/>
                        <a:t>Expert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smtClean="0"/>
                        <a:t>335 m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smtClean="0"/>
                        <a:t>35 m/s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hu-HU" b="1" dirty="0" err="1" smtClean="0"/>
                        <a:t>Student</a:t>
                      </a:r>
                      <a:endParaRPr lang="hu-H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b="1" dirty="0" smtClean="0"/>
                        <a:t>375 m</a:t>
                      </a:r>
                      <a:endParaRPr lang="hu-H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b="1" dirty="0" smtClean="0"/>
                        <a:t>20 m/s</a:t>
                      </a:r>
                      <a:endParaRPr lang="hu-HU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 smtClean="0"/>
                        <a:t>Tandem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smtClean="0"/>
                        <a:t>700 m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smtClean="0"/>
                        <a:t>35 m/s</a:t>
                      </a:r>
                      <a:endParaRPr lang="hu-HU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alphaModFix amt="31000"/>
            <a:lum/>
          </a:blip>
          <a:srcRect/>
          <a:stretch>
            <a:fillRect l="-15000" r="-1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hu-HU" dirty="0" smtClean="0"/>
              <a:t>CYPRESS és VIGIL bekapcsolás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67544" y="1628800"/>
            <a:ext cx="7620000" cy="4800600"/>
          </a:xfrm>
        </p:spPr>
        <p:txBody>
          <a:bodyPr rtlCol="0">
            <a:normAutofit fontScale="925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hu-HU" dirty="0" smtClean="0"/>
              <a:t>Készülék </a:t>
            </a:r>
            <a:r>
              <a:rPr lang="hu-HU" b="1" dirty="0" smtClean="0"/>
              <a:t>bekapcsolása</a:t>
            </a:r>
            <a:r>
              <a:rPr lang="hu-HU" dirty="0" smtClean="0"/>
              <a:t> a hajtogatási területen, </a:t>
            </a:r>
            <a:r>
              <a:rPr lang="hu-HU" b="1" dirty="0" smtClean="0"/>
              <a:t>NEM a repülőgép mellet, főleg nem a repülőgépben felszállás közben!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hu-HU" dirty="0" smtClean="0"/>
              <a:t>A gomb rövid megnyomása, majd a piros felvillantást megvárjuk, ezt követően azonnal nyugtázzuk a gomb ismételt megnyomásával. A piros </a:t>
            </a:r>
            <a:r>
              <a:rPr lang="hu-HU" dirty="0" err="1" smtClean="0"/>
              <a:t>led</a:t>
            </a:r>
            <a:r>
              <a:rPr lang="hu-HU" dirty="0" smtClean="0"/>
              <a:t> ismét felvillan, ekkor megint megnyomjuk a gombot. Újra villan, mi ekkor újra megnyomjuk. (összesen 3 villanás, 4 gombnyomás) A villanások után azonnal nyomjuk meg röviden a gombot.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hu-HU" dirty="0" smtClean="0"/>
              <a:t>A kikapcsolás ugyanezzel a szekvenciával történik.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hu-HU" dirty="0" smtClean="0"/>
              <a:t>Bekapcsolás után a helyesen működő </a:t>
            </a:r>
            <a:r>
              <a:rPr lang="hu-HU" b="1" dirty="0" smtClean="0"/>
              <a:t>CYPRESS </a:t>
            </a:r>
            <a:r>
              <a:rPr lang="hu-HU" b="1" dirty="0"/>
              <a:t>– </a:t>
            </a:r>
            <a:r>
              <a:rPr lang="hu-HU" b="1" dirty="0" smtClean="0"/>
              <a:t> 0 –át ír ki! </a:t>
            </a:r>
            <a:r>
              <a:rPr lang="hu-HU" dirty="0" smtClean="0"/>
              <a:t>Ha más hibakódot jelez, azonnal jelezzük az oktatónknak!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hu-HU" dirty="0" smtClean="0"/>
              <a:t>Bekapcsolás után </a:t>
            </a:r>
            <a:r>
              <a:rPr lang="hu-HU" dirty="0"/>
              <a:t>a helyesen működő </a:t>
            </a:r>
            <a:r>
              <a:rPr lang="hu-HU" b="1" dirty="0" smtClean="0"/>
              <a:t>VIGIL </a:t>
            </a:r>
            <a:r>
              <a:rPr lang="hu-HU" b="1" dirty="0"/>
              <a:t>– STUDENT </a:t>
            </a:r>
            <a:r>
              <a:rPr lang="hu-HU" b="1" dirty="0" smtClean="0"/>
              <a:t>– feliratot jelez! </a:t>
            </a:r>
            <a:r>
              <a:rPr lang="hu-HU" dirty="0"/>
              <a:t>Ha más hibakódot </a:t>
            </a:r>
            <a:r>
              <a:rPr lang="hu-HU" dirty="0" err="1" smtClean="0"/>
              <a:t>at</a:t>
            </a:r>
            <a:r>
              <a:rPr lang="hu-HU" dirty="0" smtClean="0"/>
              <a:t>, </a:t>
            </a:r>
            <a:r>
              <a:rPr lang="hu-HU" dirty="0"/>
              <a:t>azonnal jelezzük az oktatónknak!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hu-H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alphaModFix amt="31000"/>
            <a:lum/>
          </a:blip>
          <a:srcRect/>
          <a:stretch>
            <a:fillRect l="-15000" r="-1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hu-HU" dirty="0" smtClean="0"/>
              <a:t>CYPRESS és VIGIL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hu-HU" dirty="0" smtClean="0"/>
              <a:t>a készülékek 14 óra elteltével maguktól kikapcsolnak, de a nap végén kapcsoljuk ki magunk is őket</a:t>
            </a:r>
          </a:p>
          <a:p>
            <a:pPr marL="114300" indent="0" eaLnBrk="1" fontAlgn="auto" hangingPunct="1">
              <a:spcAft>
                <a:spcPts val="0"/>
              </a:spcAft>
              <a:buNone/>
              <a:defRPr/>
            </a:pPr>
            <a:endParaRPr lang="hu-HU" dirty="0"/>
          </a:p>
          <a:p>
            <a:pPr marL="114300" indent="0" eaLnBrk="1" fontAlgn="auto" hangingPunct="1">
              <a:spcAft>
                <a:spcPts val="0"/>
              </a:spcAft>
              <a:buNone/>
              <a:defRPr/>
            </a:pPr>
            <a:r>
              <a:rPr lang="hu-HU" dirty="0" smtClean="0"/>
              <a:t>Az eszközt újra kell indítani: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hu-HU" dirty="0" smtClean="0"/>
              <a:t>ha elugratás történt , az ugróterület magasságától több mint 10 méterrel más szinten lévő helyre értünk földet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hu-HU" dirty="0" smtClean="0"/>
              <a:t>ha </a:t>
            </a:r>
            <a:r>
              <a:rPr lang="hu-HU" dirty="0" err="1" smtClean="0"/>
              <a:t>visszahozatal</a:t>
            </a:r>
            <a:r>
              <a:rPr lang="hu-HU" dirty="0" smtClean="0"/>
              <a:t> közben változik a domborzat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hu-HU" dirty="0" smtClean="0"/>
              <a:t>ha a készüléket elvitték a repülőtérről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hu-HU" dirty="0" smtClean="0"/>
              <a:t>ha egy ugrásnál a gép több mint 1,5 órát repül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hu-HU" dirty="0" smtClean="0"/>
              <a:t>ha az ugróterület és a repülőtér különböző magasságon van, az ugróterületről a repülőtérre visszaérkezéskor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hu-HU" dirty="0" smtClean="0"/>
              <a:t>BÁRMIKOR HA KÉTSÉGÜNK VAN!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xmlns="" val="13414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alphaModFix amt="31000"/>
            <a:lum/>
          </a:blip>
          <a:srcRect/>
          <a:stretch>
            <a:fillRect l="-15000" r="-1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hu-HU" sz="4000" dirty="0" smtClean="0"/>
              <a:t>Vonatkoztatási magasság beállítása</a:t>
            </a:r>
            <a:endParaRPr lang="hu-HU" sz="40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hu-HU" dirty="0" smtClean="0"/>
              <a:t>akkor van rá szükség ha a </a:t>
            </a:r>
            <a:r>
              <a:rPr lang="hu-HU" dirty="0"/>
              <a:t>r</a:t>
            </a:r>
            <a:r>
              <a:rPr lang="hu-HU" dirty="0" smtClean="0"/>
              <a:t>epülőtér és az ugróterület más magasságon van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hu-HU" dirty="0" smtClean="0"/>
              <a:t>lehetőség van fel vagy lefelé módosítani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hu-HU" dirty="0" err="1" smtClean="0"/>
              <a:t>Cypress</a:t>
            </a:r>
            <a:r>
              <a:rPr lang="hu-HU" dirty="0" smtClean="0"/>
              <a:t> esetén a </a:t>
            </a:r>
            <a:r>
              <a:rPr lang="hu-HU" dirty="0" smtClean="0"/>
              <a:t>bekapcsolás </a:t>
            </a:r>
            <a:r>
              <a:rPr lang="hu-HU" dirty="0" smtClean="0"/>
              <a:t>alatt a 4. gombnyomást hosszan végezzük, míg az öntesztet követően meg nem jelenik a kijelzőn egy felfelé vagy lefelé mutató nyíl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hu-HU" dirty="0" smtClean="0"/>
              <a:t>ekkor lehetőségünk van +- 1500 lábig (500 méter), változtatni a vonatkoztatási magasságon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hu-HU" dirty="0" smtClean="0"/>
              <a:t>az ugrást követően a </a:t>
            </a:r>
            <a:r>
              <a:rPr lang="hu-HU" dirty="0" err="1" smtClean="0"/>
              <a:t>Cypress</a:t>
            </a:r>
            <a:r>
              <a:rPr lang="hu-HU" dirty="0" smtClean="0"/>
              <a:t> visszaáll „0”</a:t>
            </a:r>
            <a:r>
              <a:rPr lang="hu-HU" dirty="0" err="1" smtClean="0"/>
              <a:t>-ra</a:t>
            </a:r>
            <a:r>
              <a:rPr lang="hu-HU" dirty="0" smtClean="0"/>
              <a:t>, vagyis ha az ugróterületről történik a felszállás </a:t>
            </a:r>
            <a:r>
              <a:rPr lang="hu-HU" smtClean="0"/>
              <a:t>és </a:t>
            </a:r>
            <a:r>
              <a:rPr lang="hu-HU" smtClean="0"/>
              <a:t>ugyanide </a:t>
            </a:r>
            <a:r>
              <a:rPr lang="hu-HU" dirty="0" smtClean="0"/>
              <a:t>történik a visszaugrás, már nem szükséges a vonatkozatási magasság átállítása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hu-HU" dirty="0"/>
          </a:p>
          <a:p>
            <a:pPr marL="114300" indent="0" eaLnBrk="1" fontAlgn="auto" hangingPunct="1">
              <a:spcAft>
                <a:spcPts val="0"/>
              </a:spcAft>
              <a:buNone/>
              <a:defRPr/>
            </a:pPr>
            <a:endParaRPr lang="hu-HU" dirty="0"/>
          </a:p>
        </p:txBody>
      </p:sp>
      <p:pic>
        <p:nvPicPr>
          <p:cNvPr id="4" name="Picture 5" descr="360unten_3"/>
          <p:cNvPicPr>
            <a:picLocks noChangeAspect="1" noChangeArrowheads="1"/>
          </p:cNvPicPr>
          <p:nvPr/>
        </p:nvPicPr>
        <p:blipFill rotWithShape="1">
          <a:blip r:embed="rId3" cstate="print"/>
          <a:srcRect l="26300" t="31657" r="17753" b="34168"/>
          <a:stretch/>
        </p:blipFill>
        <p:spPr bwMode="auto">
          <a:xfrm>
            <a:off x="4824120" y="5708501"/>
            <a:ext cx="2461112" cy="11307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6" descr="360oben_2"/>
          <p:cNvPicPr>
            <a:picLocks noChangeAspect="1" noChangeArrowheads="1"/>
          </p:cNvPicPr>
          <p:nvPr/>
        </p:nvPicPr>
        <p:blipFill rotWithShape="1">
          <a:blip r:embed="rId4" cstate="print"/>
          <a:srcRect l="8227" t="29639" r="35828" b="34173"/>
          <a:stretch/>
        </p:blipFill>
        <p:spPr bwMode="auto">
          <a:xfrm>
            <a:off x="2412169" y="5708502"/>
            <a:ext cx="2324384" cy="11307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4170165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alphaModFix amt="31000"/>
            <a:lum/>
          </a:blip>
          <a:srcRect/>
          <a:stretch>
            <a:fillRect l="-15000" r="-1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pPr algn="ctr"/>
            <a:r>
              <a:rPr lang="hu-HU" altLang="hu-HU" sz="2800" dirty="0" smtClean="0"/>
              <a:t>Ejtőernyős kötelező és megengedett felszerelései</a:t>
            </a:r>
            <a:endParaRPr lang="es-ES" altLang="hu-HU" sz="2800" dirty="0">
              <a:solidFill>
                <a:schemeClr val="tx1"/>
              </a:solidFill>
            </a:endParaRPr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1124744"/>
            <a:ext cx="7200900" cy="4895850"/>
          </a:xfrm>
        </p:spPr>
        <p:txBody>
          <a:bodyPr/>
          <a:lstStyle/>
          <a:p>
            <a:pPr marL="0" indent="0" algn="just">
              <a:buNone/>
            </a:pPr>
            <a:r>
              <a:rPr lang="hu-HU" sz="1800" dirty="0" smtClean="0"/>
              <a:t>Kötelező:</a:t>
            </a:r>
          </a:p>
          <a:p>
            <a:pPr algn="just"/>
            <a:r>
              <a:rPr lang="hu-HU" sz="1800" dirty="0" smtClean="0"/>
              <a:t>fő-, és tartalékernyő</a:t>
            </a:r>
          </a:p>
          <a:p>
            <a:pPr algn="just"/>
            <a:r>
              <a:rPr lang="hu-HU" sz="1800" dirty="0"/>
              <a:t>biztonsági nyitóautomata – földön </a:t>
            </a:r>
            <a:r>
              <a:rPr lang="hu-HU" sz="1800" dirty="0" smtClean="0"/>
              <a:t>bekapcsolni</a:t>
            </a:r>
          </a:p>
          <a:p>
            <a:pPr algn="just"/>
            <a:r>
              <a:rPr lang="hu-HU" sz="1800" dirty="0" smtClean="0"/>
              <a:t>megfelelő ruházat (zárt cipő, hosszú nadrág, felső, kesztyű kezdetben ne!)</a:t>
            </a:r>
          </a:p>
          <a:p>
            <a:pPr algn="just"/>
            <a:r>
              <a:rPr lang="hu-HU" sz="1800" dirty="0" smtClean="0"/>
              <a:t>sisak</a:t>
            </a:r>
          </a:p>
          <a:p>
            <a:pPr algn="just"/>
            <a:r>
              <a:rPr lang="hu-HU" sz="1800" dirty="0" smtClean="0"/>
              <a:t>zsinórvágó</a:t>
            </a:r>
          </a:p>
          <a:p>
            <a:pPr algn="just"/>
            <a:endParaRPr lang="hu-HU" sz="1800" dirty="0" smtClean="0"/>
          </a:p>
          <a:p>
            <a:pPr marL="0" indent="0" algn="just">
              <a:buNone/>
            </a:pPr>
            <a:r>
              <a:rPr lang="hu-HU" sz="1800" dirty="0" smtClean="0"/>
              <a:t>Megengedett:</a:t>
            </a:r>
          </a:p>
          <a:p>
            <a:pPr algn="just"/>
            <a:r>
              <a:rPr lang="hu-HU" sz="1800" dirty="0" smtClean="0"/>
              <a:t>magasságmérő – 10 </a:t>
            </a:r>
            <a:r>
              <a:rPr lang="hu-HU" sz="1800" dirty="0" err="1" smtClean="0"/>
              <a:t>mp-nél</a:t>
            </a:r>
            <a:r>
              <a:rPr lang="hu-HU" sz="1800" dirty="0" smtClean="0"/>
              <a:t> nagyobb késleltetéskor kötelező</a:t>
            </a:r>
          </a:p>
          <a:p>
            <a:pPr algn="just"/>
            <a:r>
              <a:rPr lang="hu-HU" sz="1800" dirty="0" smtClean="0"/>
              <a:t>szemüveg</a:t>
            </a:r>
          </a:p>
          <a:p>
            <a:pPr algn="just"/>
            <a:r>
              <a:rPr lang="hu-HU" sz="1800" dirty="0" smtClean="0"/>
              <a:t>rádió</a:t>
            </a:r>
          </a:p>
          <a:p>
            <a:pPr algn="just"/>
            <a:r>
              <a:rPr lang="hu-HU" sz="1800" dirty="0" smtClean="0"/>
              <a:t>egyéb (minden, melyet az ugrásvezető jóváhagyott)</a:t>
            </a:r>
          </a:p>
        </p:txBody>
      </p:sp>
    </p:spTree>
    <p:extLst>
      <p:ext uri="{BB962C8B-B14F-4D97-AF65-F5344CB8AC3E}">
        <p14:creationId xmlns:p14="http://schemas.microsoft.com/office/powerpoint/2010/main" xmlns="" val="23119824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alphaModFix amt="31000"/>
            <a:lum/>
          </a:blip>
          <a:srcRect/>
          <a:stretch>
            <a:fillRect l="-15000" r="-1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pPr algn="ctr"/>
            <a:r>
              <a:rPr lang="hu-HU" altLang="hu-HU" sz="2800" dirty="0"/>
              <a:t>Felszerelés ellenőrzése gépbeszállás előtt</a:t>
            </a:r>
            <a:endParaRPr lang="es-ES" altLang="hu-HU" sz="2800" dirty="0">
              <a:solidFill>
                <a:schemeClr val="tx1"/>
              </a:solidFill>
            </a:endParaRPr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1124744"/>
            <a:ext cx="7200900" cy="5400600"/>
          </a:xfrm>
        </p:spPr>
        <p:txBody>
          <a:bodyPr/>
          <a:lstStyle/>
          <a:p>
            <a:pPr marL="0" indent="0" algn="just">
              <a:buNone/>
            </a:pPr>
            <a:r>
              <a:rPr lang="hu-HU" sz="1800" dirty="0" smtClean="0"/>
              <a:t>Mindig ellenőrizzük becsomagolt ernyőn gépbeszállás előtt:</a:t>
            </a:r>
          </a:p>
          <a:p>
            <a:pPr lvl="1" indent="-342900" algn="just">
              <a:buFont typeface="+mj-lt"/>
              <a:buAutoNum type="arabicPeriod"/>
            </a:pPr>
            <a:r>
              <a:rPr lang="hu-HU" sz="1600" dirty="0" smtClean="0"/>
              <a:t>nyitóautomata</a:t>
            </a:r>
          </a:p>
          <a:p>
            <a:pPr lvl="2" indent="-342900" algn="just"/>
            <a:r>
              <a:rPr lang="hu-HU" sz="1400" dirty="0" smtClean="0"/>
              <a:t>bekapcsolva</a:t>
            </a:r>
          </a:p>
          <a:p>
            <a:pPr lvl="2" indent="-342900" algn="just"/>
            <a:r>
              <a:rPr lang="hu-HU" sz="1400" dirty="0" err="1" smtClean="0"/>
              <a:t>Cypress</a:t>
            </a:r>
            <a:r>
              <a:rPr lang="hu-HU" sz="1400" dirty="0" smtClean="0"/>
              <a:t> – 0</a:t>
            </a:r>
          </a:p>
          <a:p>
            <a:pPr lvl="2" indent="-342900" algn="just"/>
            <a:r>
              <a:rPr lang="hu-HU" sz="1400" dirty="0" err="1" smtClean="0"/>
              <a:t>Vigil</a:t>
            </a:r>
            <a:r>
              <a:rPr lang="hu-HU" sz="1400" dirty="0" smtClean="0"/>
              <a:t> – </a:t>
            </a:r>
            <a:r>
              <a:rPr lang="hu-HU" sz="1400" dirty="0" err="1" smtClean="0"/>
              <a:t>student</a:t>
            </a:r>
            <a:endParaRPr lang="hu-HU" sz="1400" dirty="0"/>
          </a:p>
          <a:p>
            <a:pPr lvl="1" indent="-342900" algn="just">
              <a:buFont typeface="+mj-lt"/>
              <a:buAutoNum type="arabicPeriod"/>
            </a:pPr>
            <a:r>
              <a:rPr lang="hu-HU" sz="1600" dirty="0" smtClean="0"/>
              <a:t>kezelőszervek</a:t>
            </a:r>
          </a:p>
          <a:p>
            <a:pPr lvl="2" indent="-342900" algn="just"/>
            <a:r>
              <a:rPr lang="hu-HU" sz="1400" dirty="0" err="1" smtClean="0"/>
              <a:t>leoldópárna</a:t>
            </a:r>
            <a:r>
              <a:rPr lang="hu-HU" sz="1400" dirty="0" smtClean="0"/>
              <a:t>  helyzete</a:t>
            </a:r>
          </a:p>
          <a:p>
            <a:pPr lvl="2" indent="-342900" algn="just"/>
            <a:r>
              <a:rPr lang="hu-HU" sz="1400" dirty="0" smtClean="0"/>
              <a:t>tartalékernyő nyitó helyzete</a:t>
            </a:r>
          </a:p>
          <a:p>
            <a:pPr lvl="1" indent="-342900" algn="just">
              <a:buFont typeface="+mj-lt"/>
              <a:buAutoNum type="arabicPeriod"/>
            </a:pPr>
            <a:r>
              <a:rPr lang="hu-HU" sz="1600" dirty="0" smtClean="0"/>
              <a:t>háromkarikás </a:t>
            </a:r>
            <a:r>
              <a:rPr lang="hu-HU" sz="1600" dirty="0" err="1" smtClean="0"/>
              <a:t>leoldózár</a:t>
            </a:r>
            <a:endParaRPr lang="hu-HU" sz="1600" dirty="0"/>
          </a:p>
          <a:p>
            <a:pPr lvl="2" indent="-342900" algn="just"/>
            <a:r>
              <a:rPr lang="hu-HU" sz="1400" dirty="0" smtClean="0"/>
              <a:t>stabilan, feszítetten áll</a:t>
            </a:r>
          </a:p>
          <a:p>
            <a:pPr lvl="1" indent="-342900" algn="just">
              <a:buFont typeface="+mj-lt"/>
              <a:buAutoNum type="arabicPeriod"/>
            </a:pPr>
            <a:r>
              <a:rPr lang="hu-HU" sz="1600" dirty="0" smtClean="0"/>
              <a:t>tartalékernyő </a:t>
            </a:r>
            <a:r>
              <a:rPr lang="hu-HU" sz="1600" dirty="0" err="1" smtClean="0"/>
              <a:t>zárótüske</a:t>
            </a:r>
            <a:endParaRPr lang="hu-HU" sz="1600" dirty="0"/>
          </a:p>
          <a:p>
            <a:pPr lvl="1" indent="-342900" algn="just">
              <a:buFont typeface="+mj-lt"/>
              <a:buAutoNum type="arabicPeriod"/>
            </a:pPr>
            <a:r>
              <a:rPr lang="hu-HU" sz="1600" dirty="0" smtClean="0"/>
              <a:t>főernyő </a:t>
            </a:r>
            <a:r>
              <a:rPr lang="hu-HU" sz="1600" dirty="0" err="1" smtClean="0"/>
              <a:t>zárótüske</a:t>
            </a:r>
            <a:endParaRPr lang="hu-HU" sz="1600" dirty="0" smtClean="0"/>
          </a:p>
          <a:p>
            <a:pPr lvl="1" indent="-342900" algn="just">
              <a:buFont typeface="+mj-lt"/>
              <a:buAutoNum type="arabicPeriod"/>
            </a:pPr>
            <a:r>
              <a:rPr lang="hu-HU" sz="1600" dirty="0" smtClean="0"/>
              <a:t>nyitóernyő helyzete</a:t>
            </a:r>
          </a:p>
          <a:p>
            <a:pPr lvl="2" indent="-342900" algn="just"/>
            <a:r>
              <a:rPr lang="hu-HU" sz="1400" dirty="0" smtClean="0"/>
              <a:t>elérhető</a:t>
            </a:r>
          </a:p>
          <a:p>
            <a:pPr lvl="1" indent="-342900" algn="just">
              <a:buFont typeface="+mj-lt"/>
              <a:buAutoNum type="arabicPeriod"/>
            </a:pPr>
            <a:r>
              <a:rPr lang="hu-HU" sz="1600" dirty="0" smtClean="0"/>
              <a:t>felkötőszalag elvezetés</a:t>
            </a:r>
          </a:p>
          <a:p>
            <a:pPr marL="296863" lvl="1" indent="0" algn="just">
              <a:buNone/>
            </a:pPr>
            <a:endParaRPr lang="hu-HU" sz="1600" dirty="0"/>
          </a:p>
          <a:p>
            <a:pPr marL="0" indent="0" algn="just">
              <a:buNone/>
            </a:pPr>
            <a:r>
              <a:rPr lang="hu-HU" sz="1800" dirty="0" smtClean="0"/>
              <a:t>Ellenőrizzük továbbá:</a:t>
            </a:r>
          </a:p>
          <a:p>
            <a:pPr marL="0" indent="0" algn="just">
              <a:buNone/>
            </a:pPr>
            <a:r>
              <a:rPr lang="hu-HU" sz="1800" dirty="0" smtClean="0"/>
              <a:t>magasságmérőnket (nullázzuk), hevederek szimmetrikus meghúzását, mellheveder befűzését </a:t>
            </a:r>
            <a:endParaRPr lang="hu-HU" sz="1800" dirty="0"/>
          </a:p>
        </p:txBody>
      </p:sp>
    </p:spTree>
    <p:extLst>
      <p:ext uri="{BB962C8B-B14F-4D97-AF65-F5344CB8AC3E}">
        <p14:creationId xmlns:p14="http://schemas.microsoft.com/office/powerpoint/2010/main" xmlns="" val="26347226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alphaModFix amt="31000"/>
            <a:lum/>
          </a:blip>
          <a:srcRect/>
          <a:stretch>
            <a:fillRect l="-15000" r="-1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0"/>
            <a:ext cx="8229600" cy="1143000"/>
          </a:xfrm>
        </p:spPr>
        <p:txBody>
          <a:bodyPr/>
          <a:lstStyle/>
          <a:p>
            <a:pPr algn="ctr"/>
            <a:r>
              <a:rPr lang="hu-HU" altLang="hu-HU" sz="2800" dirty="0" smtClean="0"/>
              <a:t>RLS szalag</a:t>
            </a:r>
            <a:endParaRPr lang="es-ES" altLang="hu-HU" sz="2800" dirty="0">
              <a:solidFill>
                <a:schemeClr val="tx1"/>
              </a:solidFill>
            </a:endParaRPr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1196752"/>
            <a:ext cx="7200900" cy="1872208"/>
          </a:xfrm>
        </p:spPr>
        <p:txBody>
          <a:bodyPr/>
          <a:lstStyle/>
          <a:p>
            <a:pPr marL="285750" indent="-285750" algn="just"/>
            <a:r>
              <a:rPr lang="hu-HU" sz="1800" dirty="0" smtClean="0"/>
              <a:t>RSL (</a:t>
            </a:r>
            <a:r>
              <a:rPr lang="hu-HU" sz="1800" dirty="0" err="1" smtClean="0"/>
              <a:t>reserv</a:t>
            </a:r>
            <a:r>
              <a:rPr lang="hu-HU" sz="1800" dirty="0" smtClean="0"/>
              <a:t> </a:t>
            </a:r>
            <a:r>
              <a:rPr lang="hu-HU" sz="1800" dirty="0" err="1" smtClean="0"/>
              <a:t>static</a:t>
            </a:r>
            <a:r>
              <a:rPr lang="hu-HU" sz="1800" dirty="0" smtClean="0"/>
              <a:t> line = bekötött nyílású mentőrendszer) szalag vagy más néven SOS szalag.</a:t>
            </a:r>
          </a:p>
          <a:p>
            <a:pPr marL="285750" indent="-285750" algn="just"/>
            <a:r>
              <a:rPr lang="hu-HU" sz="1800" dirty="0"/>
              <a:t>m</a:t>
            </a:r>
            <a:r>
              <a:rPr lang="hu-HU" sz="1800" dirty="0" smtClean="0"/>
              <a:t>echanikus kapcsolatot teremt a főernyő felszakadó hevedere és a tartalékernyő </a:t>
            </a:r>
            <a:r>
              <a:rPr lang="hu-HU" sz="1800" dirty="0" err="1" smtClean="0"/>
              <a:t>zárótüskéje</a:t>
            </a:r>
            <a:r>
              <a:rPr lang="hu-HU" sz="1800" dirty="0" smtClean="0"/>
              <a:t> között</a:t>
            </a:r>
          </a:p>
          <a:p>
            <a:pPr marL="285750" indent="-285750" algn="just"/>
            <a:r>
              <a:rPr lang="hu-HU" sz="1800" dirty="0" smtClean="0"/>
              <a:t>az RLS szalag akkor képes kinyitni a tartalékernyőt, amennyiben a főernyő a tokból és a konténerből már kikerült és azon ébren húzóerő!</a:t>
            </a:r>
          </a:p>
          <a:p>
            <a:pPr marL="0" indent="0" algn="just">
              <a:buNone/>
            </a:pPr>
            <a:r>
              <a:rPr lang="hu-HU" sz="1800" dirty="0" smtClean="0"/>
              <a:t> </a:t>
            </a:r>
          </a:p>
        </p:txBody>
      </p:sp>
      <p:pic>
        <p:nvPicPr>
          <p:cNvPr id="6" name="Picture 4" descr="https://fbexternal-a.akamaihd.net/safe_image.php?d=AQB8CPZVVVIa58pK&amp;w=377&amp;h=197&amp;url=http%3A%2F%2Fskydivemag.smallteaser.com%2Fstore%2Fprod1-PHOTO-2D-I-VMyTDiw1uC7qhD9GQ.jpeg&amp;cfs=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618490" y="3284984"/>
            <a:ext cx="3739638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748384" y="5282049"/>
            <a:ext cx="3600450" cy="815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4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795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1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hu-HU" sz="1800" dirty="0" smtClean="0"/>
              <a:t>háromkarikás </a:t>
            </a:r>
            <a:r>
              <a:rPr lang="hu-HU" sz="1800" dirty="0" err="1" smtClean="0"/>
              <a:t>leoldózár</a:t>
            </a:r>
            <a:r>
              <a:rPr lang="hu-HU" sz="1800" dirty="0" smtClean="0"/>
              <a:t> és az RSL szalag </a:t>
            </a:r>
            <a:r>
              <a:rPr lang="hu-HU" sz="1800" dirty="0" err="1" smtClean="0"/>
              <a:t>inaktiváló</a:t>
            </a:r>
            <a:endParaRPr lang="hu-HU" sz="1800" dirty="0" smtClean="0"/>
          </a:p>
        </p:txBody>
      </p:sp>
    </p:spTree>
    <p:extLst>
      <p:ext uri="{BB962C8B-B14F-4D97-AF65-F5344CB8AC3E}">
        <p14:creationId xmlns:p14="http://schemas.microsoft.com/office/powerpoint/2010/main" xmlns="" val="21532769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alphaModFix amt="31000"/>
            <a:lum/>
          </a:blip>
          <a:srcRect/>
          <a:stretch>
            <a:fillRect l="-15000" r="-1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https://fbexternal-a.akamaihd.net/safe_image.php?d=AQB8CPZVVVIa58pK&amp;w=377&amp;h=197&amp;url=http%3A%2F%2Fskydivemag.smallteaser.com%2Fstore%2Fprod1-PHOTO-2D-I-VMyTDiw1uC7qhD9GQ.jpeg&amp;cfs=1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387514" y="1587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600" kern="1200" spc="-1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Cambria" pitchFamily="18" charset="0"/>
              </a:defRPr>
            </a:lvl9pPr>
          </a:lstStyle>
          <a:p>
            <a:pPr algn="ctr"/>
            <a:r>
              <a:rPr lang="hu-HU" altLang="hu-HU" sz="2800" dirty="0" err="1" smtClean="0"/>
              <a:t>Skyhook</a:t>
            </a:r>
            <a:endParaRPr lang="es-ES" altLang="hu-HU" sz="2800" dirty="0">
              <a:solidFill>
                <a:schemeClr val="tx1"/>
              </a:solidFill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826895" y="1158875"/>
            <a:ext cx="7200900" cy="36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4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795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1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/>
            <a:r>
              <a:rPr lang="hu-HU" sz="1800" dirty="0" smtClean="0"/>
              <a:t>amerikai tokokban fordul elő jelenleg </a:t>
            </a:r>
          </a:p>
          <a:p>
            <a:pPr marL="285750" indent="-285750" algn="just"/>
            <a:r>
              <a:rPr lang="hu-HU" sz="1800" dirty="0" smtClean="0"/>
              <a:t>mechanikus kapcsolatot teremt a főernyő felszakadó hevedere és a tartalékernyő felkötőszalagja között</a:t>
            </a:r>
          </a:p>
          <a:p>
            <a:pPr marL="285750" indent="-285750" algn="just"/>
            <a:r>
              <a:rPr lang="hu-HU" sz="1800" dirty="0" smtClean="0"/>
              <a:t>gyorsítja a tartalékernyő nyílást (kisebb magasságvesztés alatt működőképes tartalékernyőt eredményez)</a:t>
            </a:r>
          </a:p>
          <a:p>
            <a:pPr marL="285750" indent="-285750" algn="just"/>
            <a:r>
              <a:rPr lang="hu-HU" sz="1800" dirty="0" smtClean="0"/>
              <a:t>amennyiben a főernyő nagyobb húzóerőt fejt ki mint a tartalékernyő nyitóernyője, úgy a főernyő a rendszerhez kötve marad míg tartalékernyő el nem hagyja a konténert, amennyiben a tartalékernyő nyitóernyője fejt ki nagyobb erőt a felkötőszalagra, úgy a hibásan működő főernyő leakad</a:t>
            </a:r>
          </a:p>
          <a:p>
            <a:pPr marL="285750" indent="-285750" algn="just"/>
            <a:r>
              <a:rPr lang="hu-HU" sz="1800" dirty="0" smtClean="0"/>
              <a:t>nagy teljesítményű ernyők esetén nem használják mivel ott zsinórcsavarodást okozhat</a:t>
            </a:r>
          </a:p>
        </p:txBody>
      </p:sp>
      <p:pic>
        <p:nvPicPr>
          <p:cNvPr id="9" name="Picture 2" descr="http://www.dropzone.com/images/photos/assets/5/587585-work-cut_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-3" b="39030"/>
          <a:stretch/>
        </p:blipFill>
        <p:spPr bwMode="auto">
          <a:xfrm>
            <a:off x="971600" y="4914336"/>
            <a:ext cx="2066629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://avstop.com/ac/prh/images/fig2-50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339" t="3463" r="2828" b="18665"/>
          <a:stretch/>
        </p:blipFill>
        <p:spPr bwMode="auto">
          <a:xfrm>
            <a:off x="3326261" y="4941168"/>
            <a:ext cx="4973520" cy="1773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513712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hu-HU" dirty="0" smtClean="0"/>
              <a:t>Köszönöm a figyelmet!</a:t>
            </a:r>
            <a:endParaRPr lang="hu-HU" dirty="0"/>
          </a:p>
        </p:txBody>
      </p:sp>
      <p:pic>
        <p:nvPicPr>
          <p:cNvPr id="43012" name="Picture 2" descr="F:\Swartzy\Swartzy Downloads\Fogpót\ok\dog-yawning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038" y="2565399"/>
            <a:ext cx="4100512" cy="380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elhő 4"/>
          <p:cNvSpPr/>
          <p:nvPr/>
        </p:nvSpPr>
        <p:spPr>
          <a:xfrm>
            <a:off x="4427538" y="1628775"/>
            <a:ext cx="3671887" cy="2376488"/>
          </a:xfrm>
          <a:prstGeom prst="cloudCallout">
            <a:avLst>
              <a:gd name="adj1" fmla="val -70211"/>
              <a:gd name="adj2" fmla="val 5693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hu-HU" sz="2100" b="1" dirty="0">
                <a:ln w="17780" cmpd="sng">
                  <a:noFill/>
                  <a:prstDash val="solid"/>
                  <a:miter lim="800000"/>
                </a:ln>
                <a:solidFill>
                  <a:srgbClr val="000000"/>
                </a:solidFill>
                <a:effectLst>
                  <a:outerShdw blurRad="50800" algn="tl" rotWithShape="0">
                    <a:srgbClr val="000000"/>
                  </a:outerShdw>
                </a:effectLst>
              </a:rPr>
              <a:t>HA NAGY LESZEK HELIKOPTER LESZEK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imuló">
  <a:themeElements>
    <a:clrScheme name="Egyéni 3. séma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000000"/>
      </a:accent1>
      <a:accent2>
        <a:srgbClr val="000000"/>
      </a:accent2>
      <a:accent3>
        <a:srgbClr val="000000"/>
      </a:accent3>
      <a:accent4>
        <a:srgbClr val="000000"/>
      </a:accent4>
      <a:accent5>
        <a:srgbClr val="000000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uló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imuló">
  <a:themeElements>
    <a:clrScheme name="Egyéni 3. séma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000000"/>
      </a:accent1>
      <a:accent2>
        <a:srgbClr val="000000"/>
      </a:accent2>
      <a:accent3>
        <a:srgbClr val="000000"/>
      </a:accent3>
      <a:accent4>
        <a:srgbClr val="000000"/>
      </a:accent4>
      <a:accent5>
        <a:srgbClr val="000000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uló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438</TotalTime>
  <Words>1110</Words>
  <Application>Microsoft Office PowerPoint</Application>
  <PresentationFormat>Diavetítés a képernyőre (4:3 oldalarány)</PresentationFormat>
  <Paragraphs>146</Paragraphs>
  <Slides>17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2</vt:i4>
      </vt:variant>
      <vt:variant>
        <vt:lpstr>Diacímek</vt:lpstr>
      </vt:variant>
      <vt:variant>
        <vt:i4>17</vt:i4>
      </vt:variant>
    </vt:vector>
  </HeadingPairs>
  <TitlesOfParts>
    <vt:vector size="19" baseType="lpstr">
      <vt:lpstr>Simuló</vt:lpstr>
      <vt:lpstr>1_Simuló</vt:lpstr>
      <vt:lpstr>Biztosítókészülékek, műszerek, kötelező felszerelések</vt:lpstr>
      <vt:lpstr>AAD</vt:lpstr>
      <vt:lpstr>PPKU, KAP-3</vt:lpstr>
      <vt:lpstr>4. dia</vt:lpstr>
      <vt:lpstr>PPKU, KAP-3 működése</vt:lpstr>
      <vt:lpstr>Elektronikus biztonsági nyitóautomaták</vt:lpstr>
      <vt:lpstr>Elektronikus biztonsági nyitóautomaták működése</vt:lpstr>
      <vt:lpstr>CYPRESS</vt:lpstr>
      <vt:lpstr>VIGIL</vt:lpstr>
      <vt:lpstr>CYPRESS és VIGIL bekapcsolás</vt:lpstr>
      <vt:lpstr>CYPRESS és VIGIL</vt:lpstr>
      <vt:lpstr>Vonatkoztatási magasság beállítása</vt:lpstr>
      <vt:lpstr>Ejtőernyős kötelező és megengedett felszerelései</vt:lpstr>
      <vt:lpstr>Felszerelés ellenőrzése gépbeszállás előtt</vt:lpstr>
      <vt:lpstr>RLS szalag</vt:lpstr>
      <vt:lpstr>16. dia</vt:lpstr>
      <vt:lpstr>Köszönöm a figyelmet!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Ejtőernyős irányítástechnika és az  iskolakör</dc:title>
  <dc:creator>Csabi</dc:creator>
  <cp:lastModifiedBy>user</cp:lastModifiedBy>
  <cp:revision>78</cp:revision>
  <dcterms:created xsi:type="dcterms:W3CDTF">2014-10-29T18:26:54Z</dcterms:created>
  <dcterms:modified xsi:type="dcterms:W3CDTF">2018-03-08T21:14:56Z</dcterms:modified>
</cp:coreProperties>
</file>