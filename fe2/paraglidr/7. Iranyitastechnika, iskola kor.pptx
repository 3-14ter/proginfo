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2" r:id="rId1"/>
  </p:sldMasterIdLst>
  <p:notesMasterIdLst>
    <p:notesMasterId r:id="rId34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83" r:id="rId15"/>
    <p:sldId id="279" r:id="rId16"/>
    <p:sldId id="297" r:id="rId17"/>
    <p:sldId id="282" r:id="rId18"/>
    <p:sldId id="281" r:id="rId19"/>
    <p:sldId id="285" r:id="rId20"/>
    <p:sldId id="284" r:id="rId21"/>
    <p:sldId id="280" r:id="rId22"/>
    <p:sldId id="298" r:id="rId23"/>
    <p:sldId id="296" r:id="rId24"/>
    <p:sldId id="287" r:id="rId25"/>
    <p:sldId id="288" r:id="rId26"/>
    <p:sldId id="286" r:id="rId27"/>
    <p:sldId id="289" r:id="rId28"/>
    <p:sldId id="293" r:id="rId29"/>
    <p:sldId id="291" r:id="rId30"/>
    <p:sldId id="294" r:id="rId31"/>
    <p:sldId id="292" r:id="rId32"/>
    <p:sldId id="290" r:id="rId33"/>
  </p:sldIdLst>
  <p:sldSz cx="9144000" cy="6858000" type="screen4x3"/>
  <p:notesSz cx="6858000" cy="9144000"/>
  <p:defaultTextStyle>
    <a:defPPr>
      <a:defRPr lang="hu-H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B4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Világos stílus 3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Világos stílus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Stílus és rács nélkül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éma alapján készült stílus 1 – 6. jelölőszín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incs stílus, csak rács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2895" autoAdjust="0"/>
  </p:normalViewPr>
  <p:slideViewPr>
    <p:cSldViewPr>
      <p:cViewPr>
        <p:scale>
          <a:sx n="70" d="100"/>
          <a:sy n="70" d="100"/>
        </p:scale>
        <p:origin x="-1790" y="-33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4E2CCAA-A009-4DFD-BEDF-6E9E8D5E29F3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hu-HU" noProof="0" smtClean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 noProof="0" smtClean="0"/>
              <a:t>Mintaszöveg szerkesztése</a:t>
            </a:r>
          </a:p>
          <a:p>
            <a:pPr lvl="1"/>
            <a:r>
              <a:rPr lang="hu-HU" noProof="0" smtClean="0"/>
              <a:t>Második szint</a:t>
            </a:r>
          </a:p>
          <a:p>
            <a:pPr lvl="2"/>
            <a:r>
              <a:rPr lang="hu-HU" noProof="0" smtClean="0"/>
              <a:t>Harmadik szint</a:t>
            </a:r>
          </a:p>
          <a:p>
            <a:pPr lvl="3"/>
            <a:r>
              <a:rPr lang="hu-HU" noProof="0" smtClean="0"/>
              <a:t>Negyedik szint</a:t>
            </a:r>
          </a:p>
          <a:p>
            <a:pPr lvl="4"/>
            <a:r>
              <a:rPr lang="hu-HU" noProof="0" smtClean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DD4749C-A0E7-4649-83FB-9D610A92212C}" type="slidenum">
              <a:rPr lang="hu-HU"/>
              <a:pPr>
                <a:defRPr/>
              </a:pPr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29229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Diakép hely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Jegyzetek hely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hu-HU" altLang="hu-HU" smtClean="0"/>
              <a:t>Figyelem, a képen a méretarányok a valóságbeli méretektől eltérnek. Pusztán sematikus rajzként értelmezendő!</a:t>
            </a:r>
          </a:p>
        </p:txBody>
      </p:sp>
      <p:sp>
        <p:nvSpPr>
          <p:cNvPr id="43012" name="Dia számának hely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0760EE4-F153-4D25-9E4E-1BC8B535662A}" type="slidenum">
              <a:rPr lang="hu-HU" altLang="hu-HU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hu-HU" altLang="hu-HU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Diakép hely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Jegyzetek hely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hu-HU" altLang="hu-HU" smtClean="0"/>
              <a:t>Figyelem, a képen a méretarányok a valóságbeli méretektől eltérnek. Pusztán sematikus rajzként értelmezendő!</a:t>
            </a:r>
          </a:p>
          <a:p>
            <a:pPr eaLnBrk="1" hangingPunct="1">
              <a:spcBef>
                <a:spcPct val="0"/>
              </a:spcBef>
            </a:pPr>
            <a:endParaRPr lang="hu-HU" altLang="hu-HU" smtClean="0"/>
          </a:p>
        </p:txBody>
      </p:sp>
      <p:sp>
        <p:nvSpPr>
          <p:cNvPr id="44036" name="Dia számának hely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5D3DA9-DD6D-44CF-A100-BA6D9D4965FF}" type="slidenum">
              <a:rPr lang="hu-HU" altLang="hu-HU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hu-HU" altLang="hu-HU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Diakép hely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Jegyzetek hely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hu-HU" altLang="hu-HU" smtClean="0"/>
              <a:t>Figyelem, a képen a méretarányok a valóságbeli méretektől eltérnek. Pusztán sematikus rajzként értelmezendő!</a:t>
            </a:r>
          </a:p>
          <a:p>
            <a:pPr eaLnBrk="1" hangingPunct="1">
              <a:spcBef>
                <a:spcPct val="0"/>
              </a:spcBef>
            </a:pPr>
            <a:endParaRPr lang="hu-HU" altLang="hu-HU" smtClean="0"/>
          </a:p>
        </p:txBody>
      </p:sp>
      <p:sp>
        <p:nvSpPr>
          <p:cNvPr id="45060" name="Dia számának helye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AC57E2-6872-482F-AD71-B488FBBF1D18}" type="slidenum">
              <a:rPr lang="hu-HU" altLang="hu-HU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hu-HU" altLang="hu-H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91DAA-A535-4F3D-9927-A50D16AEB6FE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4574E-21C6-4AE2-8516-06418277D974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5301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D8A9A-C612-4E2A-95BF-5BDC6B03D266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FA380-5D74-4B3C-8451-0E31C1D02D82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103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A31CF-56E0-42AB-B9A4-B3BDC337EA81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7BE5C-4D71-4C1B-B992-2C34776312E4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0997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DF109A-9AC4-4CEF-8617-3837A7CC541B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BAAC0-D312-4E05-9A30-C19B22DBE185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4152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10AAB-F3B3-4C9D-9AD8-1E035E153298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E8DF3-34AD-454D-AB93-676F83DE7615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4821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C7D02-4356-43E0-B34C-BD1A598D51D5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C9FCDA-069B-4D85-94E6-DE77F3107A98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7344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A5D97-6BBD-440F-B144-783EEB419FB3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D1674-72EE-4C56-BF65-77C560FA5BC8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546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4D40E-CDEE-4511-8AE7-22BEB04C946C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7E883-15BD-4188-B7B7-0A9CE9C91FC5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4034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hu-HU" noProof="0" smtClean="0"/>
              <a:t>Kép beszúrásához kattintson az ikonra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3B7D5-BD72-4DE7-BEFF-E1A10E93D55C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A097C-11B2-42FF-970A-5EB00DEB876B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792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AC0CF-DBF3-4DA0-818A-AE58F5C0D4F2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3B6312-B894-4A0D-951A-555E6042BADE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5988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21B8BF-3AA1-4579-9CCD-DFBE2D2A6CE3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052141-09F7-4A3B-975B-266479DF03DA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931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620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 smtClean="0"/>
              <a:t>Mintaszöveg szerkesztése</a:t>
            </a:r>
          </a:p>
          <a:p>
            <a:pPr lvl="1"/>
            <a:r>
              <a:rPr lang="hu-HU" altLang="hu-HU" smtClean="0"/>
              <a:t>Második szint</a:t>
            </a:r>
          </a:p>
          <a:p>
            <a:pPr lvl="2"/>
            <a:r>
              <a:rPr lang="hu-HU" altLang="hu-HU" smtClean="0"/>
              <a:t>Harmadik szint</a:t>
            </a:r>
          </a:p>
          <a:p>
            <a:pPr lvl="3"/>
            <a:r>
              <a:rPr lang="hu-HU" altLang="hu-HU" smtClean="0"/>
              <a:t>Negyedik szint</a:t>
            </a:r>
          </a:p>
          <a:p>
            <a:pPr lvl="4"/>
            <a:r>
              <a:rPr lang="hu-HU" altLang="hu-HU" smtClean="0"/>
              <a:t>Ötödik szint</a:t>
            </a:r>
            <a:endParaRPr lang="en-US" altLang="hu-HU" smtClean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8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04C31CD-6064-42EB-8CE1-3E66A14207BD}" type="slidenum">
              <a:rPr lang="hu-HU"/>
              <a:pPr>
                <a:defRPr/>
              </a:pPr>
              <a:t>‹#›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7456" y="4048919"/>
            <a:ext cx="2366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738" y="1646237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87F0511-F169-43AE-9E51-50782A83C2C9}" type="datetimeFigureOut">
              <a:rPr lang="hu-HU"/>
              <a:pPr>
                <a:defRPr/>
              </a:pPr>
              <a:t>2025.09.09.</a:t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600" kern="1200" spc="-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600">
          <a:solidFill>
            <a:schemeClr val="tx2"/>
          </a:solidFill>
          <a:latin typeface="Cambria" pitchFamily="18" charset="0"/>
        </a:defRPr>
      </a:lvl9pPr>
    </p:titleStyle>
    <p:bodyStyle>
      <a:lvl1pPr marL="3429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16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0665" y="4115895"/>
            <a:ext cx="5815608" cy="2089919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hu-HU" dirty="0" smtClean="0">
                <a:solidFill>
                  <a:schemeClr val="bg1"/>
                </a:solidFill>
              </a:rPr>
              <a:t>Irányítástechnika </a:t>
            </a:r>
            <a:br>
              <a:rPr lang="hu-HU" dirty="0" smtClean="0">
                <a:solidFill>
                  <a:schemeClr val="bg1"/>
                </a:solidFill>
              </a:rPr>
            </a:br>
            <a:r>
              <a:rPr lang="hu-HU" dirty="0" smtClean="0">
                <a:solidFill>
                  <a:schemeClr val="bg1"/>
                </a:solidFill>
              </a:rPr>
              <a:t>és az  iskolakör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églalap 2"/>
          <p:cNvSpPr/>
          <p:nvPr/>
        </p:nvSpPr>
        <p:spPr>
          <a:xfrm>
            <a:off x="2664296" y="6239053"/>
            <a:ext cx="5796136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hu-H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hu-HU" dirty="0">
                <a:solidFill>
                  <a:schemeClr val="bg1"/>
                </a:solidFill>
              </a:rPr>
              <a:t>Ajánlott irodalom: </a:t>
            </a:r>
            <a:br>
              <a:rPr lang="hu-HU" dirty="0">
                <a:solidFill>
                  <a:schemeClr val="bg1"/>
                </a:solidFill>
              </a:rPr>
            </a:br>
            <a:r>
              <a:rPr lang="hu-HU" dirty="0">
                <a:solidFill>
                  <a:schemeClr val="bg1"/>
                </a:solidFill>
              </a:rPr>
              <a:t>Aradi András: Ejtőernyős alapfokú tankönyv, MHSZ, 1972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Irányítás technika</a:t>
            </a:r>
            <a:endParaRPr lang="hu-HU" dirty="0"/>
          </a:p>
        </p:txBody>
      </p:sp>
      <p:sp>
        <p:nvSpPr>
          <p:cNvPr id="14339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 dirty="0" smtClean="0"/>
              <a:t>Teendők: </a:t>
            </a:r>
          </a:p>
          <a:p>
            <a:pPr marL="411163" lvl="1" indent="0" eaLnBrk="1" hangingPunct="1">
              <a:buFont typeface="Arial" charset="0"/>
              <a:buNone/>
            </a:pPr>
            <a:r>
              <a:rPr lang="hu-HU" altLang="hu-HU" sz="1800" dirty="0" smtClean="0"/>
              <a:t>A biztonságos gépelhagyást és a stabil zuhanási testhelyzetben történő nyitást követően, meggyőződünk kupolánk helyes működéséről (mondóka!, nincs zsinórcsavarodásunk és egyéb vészhelyzetünk, </a:t>
            </a:r>
            <a:r>
              <a:rPr lang="hu-HU" altLang="hu-HU" sz="1800" dirty="0" err="1" smtClean="0"/>
              <a:t>slider</a:t>
            </a:r>
            <a:r>
              <a:rPr lang="hu-HU" altLang="hu-HU" sz="1800" dirty="0" smtClean="0"/>
              <a:t> az Y alatt). A fékzsinórok oldását követően levegőbeli társaink veszélyeztetése nélkül biztonságosan a célterületre szállunk. </a:t>
            </a:r>
          </a:p>
        </p:txBody>
      </p:sp>
      <p:pic>
        <p:nvPicPr>
          <p:cNvPr id="14340" name="Picture 7" descr="Kép 04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19" y="3531582"/>
            <a:ext cx="3800475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10" descr="slide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106" y="3531583"/>
            <a:ext cx="4021137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Ernyő irányításának elmélete</a:t>
            </a:r>
            <a:endParaRPr lang="hu-HU" dirty="0"/>
          </a:p>
        </p:txBody>
      </p:sp>
      <p:sp>
        <p:nvSpPr>
          <p:cNvPr id="1536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 dirty="0" smtClean="0"/>
              <a:t>Fékek oldása után, azok különböző mértékű húzásával irányítható a kupolánk</a:t>
            </a:r>
          </a:p>
          <a:p>
            <a:pPr marL="411163" lvl="1" indent="0" eaLnBrk="1" hangingPunct="1">
              <a:buFont typeface="Arial" charset="0"/>
              <a:buNone/>
            </a:pPr>
            <a:r>
              <a:rPr lang="hu-HU" altLang="hu-HU" dirty="0" smtClean="0"/>
              <a:t>	</a:t>
            </a:r>
            <a:r>
              <a:rPr lang="hu-HU" altLang="hu-HU" sz="2200" dirty="0" smtClean="0"/>
              <a:t>Fékállások: </a:t>
            </a:r>
          </a:p>
          <a:p>
            <a:pPr lvl="3" eaLnBrk="1" hangingPunct="1"/>
            <a:r>
              <a:rPr lang="hu-HU" altLang="hu-HU" sz="2200" dirty="0" smtClean="0"/>
              <a:t>teljes siklás</a:t>
            </a:r>
          </a:p>
          <a:p>
            <a:pPr lvl="3" eaLnBrk="1" hangingPunct="1"/>
            <a:r>
              <a:rPr lang="hu-HU" altLang="hu-HU" sz="2200" dirty="0" smtClean="0"/>
              <a:t>negyed fék</a:t>
            </a:r>
          </a:p>
          <a:p>
            <a:pPr lvl="3" eaLnBrk="1" hangingPunct="1"/>
            <a:r>
              <a:rPr lang="hu-HU" altLang="hu-HU" sz="2200" dirty="0" err="1" smtClean="0"/>
              <a:t>félfék</a:t>
            </a:r>
            <a:endParaRPr lang="hu-HU" altLang="hu-HU" sz="2200" dirty="0" smtClean="0"/>
          </a:p>
          <a:p>
            <a:pPr lvl="3" eaLnBrk="1" hangingPunct="1"/>
            <a:r>
              <a:rPr lang="hu-HU" altLang="hu-HU" sz="2200" dirty="0" smtClean="0"/>
              <a:t>teljes fék</a:t>
            </a:r>
            <a:endParaRPr lang="hu-HU" altLang="hu-HU" sz="2200" dirty="0"/>
          </a:p>
          <a:p>
            <a:pPr eaLnBrk="1" hangingPunct="1"/>
            <a:r>
              <a:rPr lang="hu-HU" altLang="hu-HU" dirty="0" smtClean="0"/>
              <a:t>Fékzsinórok szakadása esetén a hátsó felszakadó hevederekkel történhet az irányítás.</a:t>
            </a:r>
          </a:p>
          <a:p>
            <a:pPr eaLnBrk="1" hangingPunct="1"/>
            <a:r>
              <a:rPr lang="hu-HU" altLang="hu-HU" dirty="0" smtClean="0"/>
              <a:t>Amennyiben sebességet szeretnénk növelni (termiken, turbulens áramláson megyünk keresztül), úgy az első hevederek meghúzásával betörve a belépő éleket lehetséges.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Teljes siklás</a:t>
            </a:r>
            <a:endParaRPr lang="hu-HU" dirty="0"/>
          </a:p>
        </p:txBody>
      </p:sp>
      <p:sp>
        <p:nvSpPr>
          <p:cNvPr id="16387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 algn="just" eaLnBrk="1" hangingPunct="1">
              <a:lnSpc>
                <a:spcPct val="80000"/>
              </a:lnSpc>
              <a:buFont typeface="Arial" charset="0"/>
              <a:buNone/>
            </a:pPr>
            <a:r>
              <a:rPr lang="hu-HU" altLang="hu-HU" sz="2000" dirty="0" smtClean="0">
                <a:cs typeface="Times New Roman" pitchFamily="18" charset="0"/>
              </a:rPr>
              <a:t>Az irányítófogantyúk  felengedésével az ejtőernyő teljes vízszintes- (~9 m/s) és merülő sebességen (~3 m/s) siklik, egyenes stabil pályán repül. Bizonyos durva légviszonyok között, a kupola  lökdösődik ide-oda a turbulenciában. Ha turbulens viszonyokat érzünk, a legjobb ha kb. 50%-os fékkel repülünk, hogy elkerüljük a kupola, széllökés miatti átesését, vagy pillanatnyi kiürülését.</a:t>
            </a:r>
          </a:p>
          <a:p>
            <a:pPr marL="114300" indent="0" algn="just" eaLnBrk="1" hangingPunct="1">
              <a:lnSpc>
                <a:spcPct val="80000"/>
              </a:lnSpc>
              <a:buFont typeface="Arial" charset="0"/>
              <a:buNone/>
            </a:pPr>
            <a:r>
              <a:rPr lang="hu-HU" altLang="hu-HU" sz="2000" dirty="0" smtClean="0">
                <a:cs typeface="Times New Roman" pitchFamily="18" charset="0"/>
              </a:rPr>
              <a:t>Gyorsabban tudunk áthatolni a turbulens zónán, ha lehúzzuk az első hevedereket. Az első hevederek segítségével is irányítható a kupola (különösen a körkupolás ernyő). Mivel az ereszkedési sebesség arányosan megnő, légcellás ejtőernyővel nem szabad lehúzott elülső hevederekkel földet</a:t>
            </a:r>
            <a:r>
              <a:rPr lang="hu-HU" altLang="hu-HU" sz="2000" dirty="0" smtClean="0">
                <a:latin typeface="Times New Roman" pitchFamily="18" charset="0"/>
              </a:rPr>
              <a:t> </a:t>
            </a:r>
            <a:r>
              <a:rPr lang="hu-HU" altLang="hu-HU" sz="2000" dirty="0" smtClean="0">
                <a:cs typeface="Times New Roman" pitchFamily="18" charset="0"/>
              </a:rPr>
              <a:t>érni.</a:t>
            </a:r>
          </a:p>
          <a:p>
            <a:pPr marL="114300" indent="0" algn="just" eaLnBrk="1" hangingPunct="1">
              <a:lnSpc>
                <a:spcPct val="80000"/>
              </a:lnSpc>
              <a:buFont typeface="Arial" charset="0"/>
              <a:buNone/>
            </a:pPr>
            <a:r>
              <a:rPr lang="hu-HU" altLang="hu-HU" sz="2000" dirty="0" smtClean="0">
                <a:cs typeface="Times New Roman" pitchFamily="18" charset="0"/>
              </a:rPr>
              <a:t>Szakadt irányítózsinór, vagy nyitást követő azonnali manőverezés esetén, az első </a:t>
            </a:r>
            <a:r>
              <a:rPr lang="hu-HU" altLang="hu-HU" sz="2000" dirty="0" smtClean="0"/>
              <a:t>vagy hátsó </a:t>
            </a:r>
            <a:r>
              <a:rPr lang="hu-HU" altLang="hu-HU" sz="2000" dirty="0" smtClean="0">
                <a:cs typeface="Times New Roman" pitchFamily="18" charset="0"/>
              </a:rPr>
              <a:t>hevederek felhasználhatók a kupola irányítására, tehát olyankor is, amikor még a fékek a nyitást követően a helyükön vannak.</a:t>
            </a:r>
          </a:p>
          <a:p>
            <a:pPr marL="114300" indent="0" eaLnBrk="1" hangingPunct="1">
              <a:buFont typeface="Arial" charset="0"/>
              <a:buNone/>
            </a:pPr>
            <a:endParaRPr lang="hu-HU" altLang="hu-HU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Negyed fék</a:t>
            </a:r>
            <a:endParaRPr lang="hu-HU" dirty="0"/>
          </a:p>
        </p:txBody>
      </p:sp>
      <p:sp>
        <p:nvSpPr>
          <p:cNvPr id="17411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 eaLnBrk="1" hangingPunct="1">
              <a:buFont typeface="Arial" charset="0"/>
              <a:buNone/>
            </a:pPr>
            <a:r>
              <a:rPr lang="hu-HU" altLang="hu-HU" sz="2000" smtClean="0">
                <a:cs typeface="Times New Roman" pitchFamily="18" charset="0"/>
              </a:rPr>
              <a:t>A fékezés a kupola feletti légáramlás megváltoztatása révén hat. Ezt a kilépőél eltorzítása valósítja meg, hasonló módon, ahogy ezt a repülőgépek fékszárnyai is teszik. Teljes siklásban lassan vállmagasságig húzzuk le a fogantyúkat. Ez az állás biztosítja a legjobb siklószöget szélmentes viszonyok között, vagy hátszélben</a:t>
            </a:r>
            <a:r>
              <a:rPr lang="hu-HU" altLang="hu-HU" sz="2000" smtClean="0"/>
              <a:t> </a:t>
            </a:r>
            <a:r>
              <a:rPr lang="hu-HU" altLang="hu-HU" sz="2000" smtClean="0">
                <a:cs typeface="Times New Roman" pitchFamily="18" charset="0"/>
              </a:rPr>
              <a:t>repülve. </a:t>
            </a:r>
          </a:p>
          <a:p>
            <a:pPr marL="114300" indent="0" eaLnBrk="1" hangingPunct="1">
              <a:buFont typeface="Arial" charset="0"/>
              <a:buNone/>
            </a:pPr>
            <a:endParaRPr lang="hu-HU" altLang="hu-HU" sz="2000" smtClean="0"/>
          </a:p>
        </p:txBody>
      </p:sp>
      <p:pic>
        <p:nvPicPr>
          <p:cNvPr id="17412" name="Picture 205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100" y="3789363"/>
            <a:ext cx="5667375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Fél fék</a:t>
            </a:r>
            <a:endParaRPr lang="hu-HU" dirty="0"/>
          </a:p>
        </p:txBody>
      </p:sp>
      <p:sp>
        <p:nvSpPr>
          <p:cNvPr id="18435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hu-HU" altLang="hu-HU" dirty="0" smtClean="0"/>
              <a:t>	</a:t>
            </a:r>
            <a:r>
              <a:rPr lang="hu-HU" altLang="hu-HU" dirty="0" smtClean="0">
                <a:cs typeface="Times New Roman" pitchFamily="18" charset="0"/>
              </a:rPr>
              <a:t>Teljes siklásból, körülbelül a mellkas magasságáig húzzuk le az</a:t>
            </a:r>
            <a:r>
              <a:rPr lang="hu-HU" altLang="hu-HU" dirty="0" smtClean="0"/>
              <a:t> </a:t>
            </a:r>
            <a:r>
              <a:rPr lang="hu-HU" altLang="hu-HU" dirty="0" smtClean="0">
                <a:cs typeface="Times New Roman" pitchFamily="18" charset="0"/>
              </a:rPr>
              <a:t>irányítófogantyúkat. Ennél a pontnál, a vízszintes sebesség körülbelül a teljes siklás 60%-át adja. A</a:t>
            </a:r>
            <a:r>
              <a:rPr lang="hu-HU" altLang="hu-HU" dirty="0" smtClean="0"/>
              <a:t> </a:t>
            </a:r>
            <a:r>
              <a:rPr lang="hu-HU" altLang="hu-HU" dirty="0" smtClean="0">
                <a:cs typeface="Times New Roman" pitchFamily="18" charset="0"/>
              </a:rPr>
              <a:t>merülési sebesség valamelyest kevesebb lesz, mint a teljes siklásnál.</a:t>
            </a:r>
          </a:p>
          <a:p>
            <a:pPr eaLnBrk="1" hangingPunct="1"/>
            <a:endParaRPr lang="hu-HU" altLang="hu-HU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Teljes fék</a:t>
            </a:r>
            <a:endParaRPr lang="hu-HU" dirty="0"/>
          </a:p>
        </p:txBody>
      </p:sp>
      <p:sp>
        <p:nvSpPr>
          <p:cNvPr id="19459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Arial" charset="0"/>
              <a:buNone/>
            </a:pPr>
            <a:r>
              <a:rPr lang="hu-HU" altLang="hu-HU" dirty="0" smtClean="0">
                <a:cs typeface="Times New Roman" pitchFamily="18" charset="0"/>
              </a:rPr>
              <a:t>	Normális repülési viszonyok között a teljesen fékezést úgy érjük el, hogy mindkét fogantyút lassan addig </a:t>
            </a:r>
            <a:r>
              <a:rPr lang="hu-HU" altLang="hu-HU" dirty="0" smtClean="0"/>
              <a:t>húzzuk</a:t>
            </a:r>
            <a:r>
              <a:rPr lang="hu-HU" altLang="hu-HU" dirty="0" smtClean="0">
                <a:cs typeface="Times New Roman" pitchFamily="18" charset="0"/>
              </a:rPr>
              <a:t> le, amíg a vízszintes sebesség a minimumra nem csökken. A vízszintes sebesség kb. 4-5 m/s lesz, az ereszkedési sebesség pedig minimális. Az iránystabilitást 75-100%-os fékezési állapotban is megtartható.</a:t>
            </a:r>
          </a:p>
          <a:p>
            <a:pPr algn="just" eaLnBrk="1" hangingPunct="1">
              <a:buFont typeface="Arial" charset="0"/>
              <a:buNone/>
            </a:pPr>
            <a:r>
              <a:rPr lang="hu-HU" altLang="hu-HU" b="1" dirty="0" smtClean="0"/>
              <a:t>	</a:t>
            </a:r>
            <a:r>
              <a:rPr lang="hu-HU" altLang="hu-HU" b="1" dirty="0" smtClean="0">
                <a:cs typeface="Times New Roman" pitchFamily="18" charset="0"/>
              </a:rPr>
              <a:t>A további fékezés, megsüllyedést vagy hatástalan kormányműködést eredményez, amely egy átesési állapotot hoz létre. A függőleges sebesség ilyenkor jelentősen megnő. Talaj közelben szigorúan tilos a kupolát átejteni!</a:t>
            </a:r>
          </a:p>
          <a:p>
            <a:pPr eaLnBrk="1" hangingPunct="1"/>
            <a:endParaRPr lang="hu-HU" altLang="hu-HU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Tartós átesés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>
                <a:cs typeface="Times New Roman" pitchFamily="18" charset="0"/>
              </a:rPr>
              <a:t>	</a:t>
            </a:r>
            <a:r>
              <a:rPr lang="hu-HU" dirty="0" smtClean="0">
                <a:cs typeface="Times New Roman" pitchFamily="18" charset="0"/>
              </a:rPr>
              <a:t>A </a:t>
            </a:r>
            <a:r>
              <a:rPr lang="hu-HU" dirty="0">
                <a:cs typeface="Times New Roman" pitchFamily="18" charset="0"/>
              </a:rPr>
              <a:t>tartós átesést a fogantyúk lassú, teljes fékezésbe történő lenyomásával érjük el, majd a teljesen fékezett állapoton túli további 7-10 cm továbbhúzással.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/>
              <a:t>	</a:t>
            </a:r>
            <a:r>
              <a:rPr lang="hu-HU" dirty="0">
                <a:cs typeface="Times New Roman" pitchFamily="18" charset="0"/>
              </a:rPr>
              <a:t>Ilyenkor a szárnyszelvény elveszíti felhajtóerő keltő hatékonyságát. A vízszintes sebesség nullára </a:t>
            </a:r>
            <a:r>
              <a:rPr lang="hu-HU" dirty="0" smtClean="0">
                <a:cs typeface="Times New Roman" pitchFamily="18" charset="0"/>
              </a:rPr>
              <a:t>csökken, </a:t>
            </a:r>
            <a:r>
              <a:rPr lang="hu-HU" dirty="0">
                <a:cs typeface="Times New Roman" pitchFamily="18" charset="0"/>
              </a:rPr>
              <a:t>ahogy a kupola megsüllyed, majd utána hátra lendül.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/>
              <a:t>	</a:t>
            </a:r>
            <a:r>
              <a:rPr lang="hu-HU" dirty="0">
                <a:cs typeface="Times New Roman" pitchFamily="18" charset="0"/>
              </a:rPr>
              <a:t>Az ejtőernyő hátrafelé repülést, vagy az egyik oldalra való lefordulást kísérelhet meg. Az ilyen típusú átesésből való kijövetelt egyszerűen a fogantyúk lassú, 15-20 cm- es, a 75-80</a:t>
            </a:r>
            <a:r>
              <a:rPr lang="hu-HU" dirty="0" smtClean="0">
                <a:cs typeface="Times New Roman" pitchFamily="18" charset="0"/>
              </a:rPr>
              <a:t>%-os </a:t>
            </a:r>
            <a:r>
              <a:rPr lang="hu-HU" dirty="0">
                <a:cs typeface="Times New Roman" pitchFamily="18" charset="0"/>
              </a:rPr>
              <a:t>fékezési állapotba való felengedésével lehet megvalósítani. Az ejtőernyő ekkor lassan </a:t>
            </a:r>
            <a:r>
              <a:rPr lang="hu-HU" dirty="0" smtClean="0">
                <a:cs typeface="Times New Roman" pitchFamily="18" charset="0"/>
              </a:rPr>
              <a:t>feltöltődik, majd felgyorsul </a:t>
            </a:r>
            <a:r>
              <a:rPr lang="hu-HU" dirty="0">
                <a:cs typeface="Times New Roman" pitchFamily="18" charset="0"/>
              </a:rPr>
              <a:t>az átesésből</a:t>
            </a:r>
            <a:r>
              <a:rPr lang="hu-HU" dirty="0" smtClean="0">
                <a:cs typeface="Times New Roman" pitchFamily="18" charset="0"/>
              </a:rPr>
              <a:t>.</a:t>
            </a:r>
          </a:p>
          <a:p>
            <a:pPr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sz="2000" b="1" dirty="0">
                <a:cs typeface="Times New Roman" pitchFamily="18" charset="0"/>
              </a:rPr>
              <a:t>	</a:t>
            </a:r>
            <a:r>
              <a:rPr lang="hu-HU" sz="2000" b="1" dirty="0" smtClean="0">
                <a:cs typeface="Times New Roman" pitchFamily="18" charset="0"/>
              </a:rPr>
              <a:t>Sose </a:t>
            </a:r>
            <a:r>
              <a:rPr lang="hu-HU" sz="2000" b="1" dirty="0">
                <a:cs typeface="Times New Roman" pitchFamily="18" charset="0"/>
              </a:rPr>
              <a:t>eresszük fel teljesen a fogantyúkat, és sose engedjük </a:t>
            </a:r>
            <a:r>
              <a:rPr lang="hu-HU" sz="2000" b="1" dirty="0" smtClean="0">
                <a:cs typeface="Times New Roman" pitchFamily="18" charset="0"/>
              </a:rPr>
              <a:t>fel a fékeket hirtelen</a:t>
            </a:r>
            <a:r>
              <a:rPr lang="hu-HU" sz="2000" b="1" dirty="0">
                <a:cs typeface="Times New Roman" pitchFamily="18" charset="0"/>
              </a:rPr>
              <a:t>. </a:t>
            </a:r>
            <a:r>
              <a:rPr lang="hu-HU" sz="2000" b="1" dirty="0" smtClean="0">
                <a:cs typeface="Times New Roman" pitchFamily="18" charset="0"/>
              </a:rPr>
              <a:t>Ha így tennénk, </a:t>
            </a:r>
            <a:r>
              <a:rPr lang="hu-HU" sz="2000" b="1" dirty="0">
                <a:cs typeface="Times New Roman" pitchFamily="18" charset="0"/>
              </a:rPr>
              <a:t>a</a:t>
            </a:r>
            <a:r>
              <a:rPr lang="hu-HU" sz="2000" b="1" dirty="0"/>
              <a:t> kupola</a:t>
            </a:r>
            <a:r>
              <a:rPr lang="hu-HU" sz="2000" b="1" dirty="0">
                <a:cs typeface="Times New Roman" pitchFamily="18" charset="0"/>
              </a:rPr>
              <a:t> drámai módon </a:t>
            </a:r>
            <a:r>
              <a:rPr lang="hu-HU" sz="2000" b="1" dirty="0" smtClean="0"/>
              <a:t>előrelendülne</a:t>
            </a:r>
            <a:r>
              <a:rPr lang="hu-HU" sz="2000" b="1" dirty="0" smtClean="0">
                <a:cs typeface="Times New Roman" pitchFamily="18" charset="0"/>
              </a:rPr>
              <a:t> </a:t>
            </a:r>
            <a:r>
              <a:rPr lang="hu-HU" sz="2000" b="1" dirty="0">
                <a:cs typeface="Times New Roman" pitchFamily="18" charset="0"/>
              </a:rPr>
              <a:t>és </a:t>
            </a:r>
            <a:r>
              <a:rPr lang="hu-HU" sz="2000" b="1" dirty="0" smtClean="0">
                <a:cs typeface="Times New Roman" pitchFamily="18" charset="0"/>
              </a:rPr>
              <a:t> hirtelen magasságot veszítene. Ez kis magasságon fájdalmas következményekkel jár.</a:t>
            </a:r>
            <a:endParaRPr lang="hu-HU" sz="2000" b="1" dirty="0"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lum bright="20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557338"/>
            <a:ext cx="7845425" cy="3527425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Dinamikus átesés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11430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sz="2400" dirty="0">
                <a:cs typeface="Times New Roman" pitchFamily="18" charset="0"/>
              </a:rPr>
              <a:t>A dinamikus átesést a fogantyúk hirtelen lehúzásával indítjuk el, ezáltal további ellenállás képződik a kupolán. A kupola ezért hirtelen lelassul, miközben az ugró teste, tehetetlenségének köszönhetően, sokkal lassabban reagál, így az  ugró a kupola elé lendül</a:t>
            </a:r>
            <a:r>
              <a:rPr lang="hu-HU" sz="2400" dirty="0" smtClean="0">
                <a:cs typeface="Times New Roman" pitchFamily="18" charset="0"/>
              </a:rPr>
              <a:t>. Az </a:t>
            </a:r>
            <a:r>
              <a:rPr lang="hu-HU" sz="2400" dirty="0">
                <a:cs typeface="Times New Roman" pitchFamily="18" charset="0"/>
              </a:rPr>
              <a:t>ugró előre lendülése miatt az állásszögben hirtelen megnő.</a:t>
            </a:r>
            <a:r>
              <a:rPr lang="hu-HU" sz="2400" dirty="0"/>
              <a:t> </a:t>
            </a:r>
            <a:r>
              <a:rPr lang="hu-HU" sz="2400" dirty="0" smtClean="0">
                <a:cs typeface="Times New Roman" pitchFamily="18" charset="0"/>
              </a:rPr>
              <a:t>Az </a:t>
            </a:r>
            <a:r>
              <a:rPr lang="hu-HU" sz="2400" dirty="0"/>
              <a:t>ú</a:t>
            </a:r>
            <a:r>
              <a:rPr lang="hu-HU" sz="2400" dirty="0">
                <a:cs typeface="Times New Roman" pitchFamily="18" charset="0"/>
              </a:rPr>
              <a:t>j állásszög</a:t>
            </a:r>
            <a:r>
              <a:rPr lang="hu-HU" sz="2400" dirty="0"/>
              <a:t> </a:t>
            </a:r>
            <a:r>
              <a:rPr lang="hu-HU" sz="2400" dirty="0">
                <a:cs typeface="Times New Roman" pitchFamily="18" charset="0"/>
              </a:rPr>
              <a:t>egy igen rövid id</a:t>
            </a:r>
            <a:r>
              <a:rPr lang="hu-HU" sz="2400" dirty="0"/>
              <a:t>ő</a:t>
            </a:r>
            <a:r>
              <a:rPr lang="hu-HU" sz="2400" dirty="0">
                <a:cs typeface="Times New Roman" pitchFamily="18" charset="0"/>
              </a:rPr>
              <a:t>re nagy felhajtóer</a:t>
            </a:r>
            <a:r>
              <a:rPr lang="hu-HU" sz="2400" dirty="0"/>
              <a:t>ő</a:t>
            </a:r>
            <a:r>
              <a:rPr lang="hu-HU" sz="2400" dirty="0">
                <a:cs typeface="Times New Roman" pitchFamily="18" charset="0"/>
              </a:rPr>
              <a:t>t teremt, amit a kupola hirtelen felhajtóerő</a:t>
            </a:r>
            <a:r>
              <a:rPr lang="hu-HU" sz="2400" dirty="0"/>
              <a:t> </a:t>
            </a:r>
            <a:r>
              <a:rPr lang="hu-HU" sz="2400" dirty="0">
                <a:cs typeface="Times New Roman" pitchFamily="18" charset="0"/>
              </a:rPr>
              <a:t>vesztése, vagy ‘átesése’ követ a vízszintes sebesség elvesztése miatt. Mivel a </a:t>
            </a:r>
            <a:r>
              <a:rPr lang="hu-HU" sz="2400" dirty="0" err="1">
                <a:cs typeface="Times New Roman" pitchFamily="18" charset="0"/>
              </a:rPr>
              <a:t>kilép</a:t>
            </a:r>
            <a:r>
              <a:rPr lang="hu-HU" sz="2400" dirty="0" err="1"/>
              <a:t>ő</a:t>
            </a:r>
            <a:r>
              <a:rPr lang="hu-HU" sz="2400" dirty="0" err="1">
                <a:cs typeface="Times New Roman" pitchFamily="18" charset="0"/>
              </a:rPr>
              <a:t>él</a:t>
            </a:r>
            <a:r>
              <a:rPr lang="hu-HU" sz="2400" dirty="0"/>
              <a:t> </a:t>
            </a:r>
            <a:r>
              <a:rPr lang="hu-HU" sz="2400" dirty="0">
                <a:cs typeface="Times New Roman" pitchFamily="18" charset="0"/>
              </a:rPr>
              <a:t>alaposan lefelé térítődött el, a kupola most hátrafelé próbál repülni</a:t>
            </a:r>
            <a:r>
              <a:rPr lang="hu-HU" sz="2400" dirty="0"/>
              <a:t>.</a:t>
            </a:r>
            <a:r>
              <a:rPr lang="hu-HU" sz="2400" dirty="0">
                <a:cs typeface="Times New Roman" pitchFamily="18" charset="0"/>
              </a:rPr>
              <a:t> </a:t>
            </a:r>
            <a:endParaRPr lang="hu-HU" sz="2400" dirty="0" smtClean="0">
              <a:cs typeface="Times New Roman" pitchFamily="18" charset="0"/>
            </a:endParaRPr>
          </a:p>
          <a:p>
            <a:pPr marL="11430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sz="2400" dirty="0" smtClean="0">
                <a:cs typeface="Times New Roman" pitchFamily="18" charset="0"/>
              </a:rPr>
              <a:t>A </a:t>
            </a:r>
            <a:r>
              <a:rPr lang="hu-HU" sz="2400" dirty="0">
                <a:cs typeface="Times New Roman" pitchFamily="18" charset="0"/>
              </a:rPr>
              <a:t>dinamikus átesésből való kivételt a fogantyúk egyenletes 75-80% fékezett állásba való felengedésével valósítjuk meg. </a:t>
            </a:r>
            <a:r>
              <a:rPr lang="hu-HU" sz="2400" dirty="0"/>
              <a:t>J</a:t>
            </a:r>
            <a:r>
              <a:rPr lang="hu-HU" sz="2400" dirty="0">
                <a:cs typeface="Times New Roman" pitchFamily="18" charset="0"/>
              </a:rPr>
              <a:t>avasolt az 150 méteres magasság </a:t>
            </a:r>
            <a:r>
              <a:rPr lang="hu-HU" sz="2400" dirty="0" smtClean="0">
                <a:cs typeface="Times New Roman" pitchFamily="18" charset="0"/>
              </a:rPr>
              <a:t>alatt a </a:t>
            </a:r>
            <a:r>
              <a:rPr lang="hu-HU" sz="2400" dirty="0">
                <a:cs typeface="Times New Roman" pitchFamily="18" charset="0"/>
              </a:rPr>
              <a:t>dinamikus átesés elkerülése</a:t>
            </a:r>
            <a:r>
              <a:rPr lang="hu-HU" sz="2400" dirty="0" smtClean="0">
                <a:cs typeface="Times New Roman" pitchFamily="18" charset="0"/>
              </a:rPr>
              <a:t>.</a:t>
            </a:r>
          </a:p>
          <a:p>
            <a:pPr marL="11430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sz="2400" b="1" dirty="0" smtClean="0">
                <a:cs typeface="Times New Roman" pitchFamily="18" charset="0"/>
              </a:rPr>
              <a:t>Ne </a:t>
            </a:r>
            <a:r>
              <a:rPr lang="hu-HU" sz="2400" b="1" dirty="0">
                <a:cs typeface="Times New Roman" pitchFamily="18" charset="0"/>
              </a:rPr>
              <a:t>engedjük fel az irányítófogantyúkat a mellkas szintjénél magasabb állásba, máskülönben a kupola előrelendül. </a:t>
            </a:r>
          </a:p>
          <a:p>
            <a:pPr marL="11430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hu-HU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 cstate="print">
            <a:lum bright="20000" contras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8" y="1557338"/>
            <a:ext cx="8288337" cy="324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Ismétlő definíciók</a:t>
            </a:r>
            <a:endParaRPr lang="hu-HU" dirty="0"/>
          </a:p>
        </p:txBody>
      </p:sp>
      <p:sp>
        <p:nvSpPr>
          <p:cNvPr id="24579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 smtClean="0"/>
              <a:t>Húr – A belépőélt és kilépőélt összekötő egyenest a szárnyszelvény húrjának nevezzük.</a:t>
            </a:r>
          </a:p>
          <a:p>
            <a:pPr eaLnBrk="1" hangingPunct="1"/>
            <a:r>
              <a:rPr lang="hu-HU" altLang="hu-HU" smtClean="0"/>
              <a:t>Állásszög – A szárnyszelvény húrja és a levegő fő áramlási iránya által bezárt szöget állásszögnek nevezzük.</a:t>
            </a:r>
          </a:p>
          <a:p>
            <a:pPr eaLnBrk="1" hangingPunct="1"/>
            <a:r>
              <a:rPr lang="hu-HU" altLang="hu-HU" smtClean="0"/>
              <a:t>Felhajtó erő – A vízszintes előrehaladási sebesség a szárnyszelvény felső és alsó felülete között nyomáskülönbséget indukál, mely eredménye egy a súlyerővel (gravitációs erővel) ellentétes irányú eredő légerő. Ezt az eredő légerőt felhajtó erőnek nevezünk.</a:t>
            </a:r>
          </a:p>
          <a:p>
            <a:pPr eaLnBrk="1" hangingPunct="1"/>
            <a:r>
              <a:rPr lang="hu-HU" altLang="hu-HU" smtClean="0"/>
              <a:t>Átesés – Azt az állásszöget, melynél a felhajtó erő nem növekszik tovább, valamint későbbi drasztikus visszaesése tapasztalható átesési pontnak, magát a folyamatot átesésnek nevezzük.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Ereszkedés a célterületre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1430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/>
              <a:t>Ereszkedés közben a célterület megközelítésekor figyelnünk kell arra, hogy mindig az úgynevezett szélcsatornában tartózkodjunk. Ha jelentősen kimegyünk oldalirányba a hátszeles szakaszon történő repüléskor lehet, hogy nem érjük el a célterületet.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/>
          </a:p>
        </p:txBody>
      </p:sp>
      <p:pic>
        <p:nvPicPr>
          <p:cNvPr id="25604" name="Picture 2" descr="F:\Swartzy\Swartzy Downloads\Ejtoernyo\Ea\szelcsatorna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" y="3149600"/>
            <a:ext cx="4176713" cy="357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Szövegdoboz 3"/>
          <p:cNvSpPr txBox="1">
            <a:spLocks noChangeArrowheads="1"/>
          </p:cNvSpPr>
          <p:nvPr/>
        </p:nvSpPr>
        <p:spPr bwMode="auto">
          <a:xfrm>
            <a:off x="1908175" y="3357563"/>
            <a:ext cx="1368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/>
              <a:t>nyitási pont</a:t>
            </a:r>
          </a:p>
        </p:txBody>
      </p:sp>
      <p:sp>
        <p:nvSpPr>
          <p:cNvPr id="25606" name="Szövegdoboz 5"/>
          <p:cNvSpPr txBox="1">
            <a:spLocks noChangeArrowheads="1"/>
          </p:cNvSpPr>
          <p:nvPr/>
        </p:nvSpPr>
        <p:spPr bwMode="auto">
          <a:xfrm>
            <a:off x="2147888" y="6353175"/>
            <a:ext cx="19446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/>
              <a:t>cél kereszt</a:t>
            </a:r>
          </a:p>
        </p:txBody>
      </p:sp>
      <p:sp>
        <p:nvSpPr>
          <p:cNvPr id="4" name="Szövegdoboz 3"/>
          <p:cNvSpPr txBox="1"/>
          <p:nvPr/>
        </p:nvSpPr>
        <p:spPr>
          <a:xfrm>
            <a:off x="4273374" y="3357561"/>
            <a:ext cx="3792538" cy="2124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hu-HU" sz="2200" dirty="0"/>
              <a:t>Szél irány meghatározás:</a:t>
            </a:r>
          </a:p>
          <a:p>
            <a:pPr marL="285750" indent="-285750">
              <a:buFontTx/>
              <a:buChar char="-"/>
              <a:defRPr/>
            </a:pPr>
            <a:r>
              <a:rPr lang="hu-HU" sz="2200" dirty="0"/>
              <a:t>szélzászló</a:t>
            </a:r>
          </a:p>
          <a:p>
            <a:pPr marL="285750" indent="-285750">
              <a:buFontTx/>
              <a:buChar char="-"/>
              <a:defRPr/>
            </a:pPr>
            <a:r>
              <a:rPr lang="hu-HU" sz="2200" dirty="0"/>
              <a:t>szélzsák</a:t>
            </a:r>
          </a:p>
          <a:p>
            <a:pPr marL="285750" indent="-285750">
              <a:buFontTx/>
              <a:buChar char="-"/>
              <a:defRPr/>
            </a:pPr>
            <a:r>
              <a:rPr lang="hu-HU" sz="2200" dirty="0"/>
              <a:t>füst</a:t>
            </a:r>
          </a:p>
          <a:p>
            <a:pPr marL="285750" indent="-285750">
              <a:buFontTx/>
              <a:buChar char="-"/>
              <a:defRPr/>
            </a:pPr>
            <a:r>
              <a:rPr lang="hu-HU" sz="2200" dirty="0"/>
              <a:t>fák mozgása</a:t>
            </a:r>
          </a:p>
          <a:p>
            <a:pPr marL="285750" indent="-285750">
              <a:buFontTx/>
              <a:buChar char="-"/>
              <a:defRPr/>
            </a:pPr>
            <a:r>
              <a:rPr lang="hu-HU" sz="2200" dirty="0"/>
              <a:t>szélszalag (rétegszelek)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/>
              <a:t>Ereszkedés a célterületre</a:t>
            </a:r>
          </a:p>
        </p:txBody>
      </p:sp>
      <p:pic>
        <p:nvPicPr>
          <p:cNvPr id="26628" name="Picture 2" descr="F:\Swartzy\Swartzy Downloads\Ejtoernyo\Ea\szelcsatorna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060575"/>
            <a:ext cx="7983538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Szövegdoboz 3"/>
          <p:cNvSpPr txBox="1">
            <a:spLocks noChangeArrowheads="1"/>
          </p:cNvSpPr>
          <p:nvPr/>
        </p:nvSpPr>
        <p:spPr bwMode="auto">
          <a:xfrm>
            <a:off x="1349375" y="4924425"/>
            <a:ext cx="1073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/>
              <a:t>szélcsend</a:t>
            </a:r>
          </a:p>
        </p:txBody>
      </p:sp>
      <p:sp>
        <p:nvSpPr>
          <p:cNvPr id="26630" name="Szövegdoboz 4"/>
          <p:cNvSpPr txBox="1">
            <a:spLocks noChangeArrowheads="1"/>
          </p:cNvSpPr>
          <p:nvPr/>
        </p:nvSpPr>
        <p:spPr bwMode="auto">
          <a:xfrm>
            <a:off x="3851275" y="4786313"/>
            <a:ext cx="10620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/>
              <a:t>konstans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/>
              <a:t>szélirány</a:t>
            </a:r>
          </a:p>
        </p:txBody>
      </p:sp>
      <p:sp>
        <p:nvSpPr>
          <p:cNvPr id="26631" name="Szövegdoboz 5"/>
          <p:cNvSpPr txBox="1">
            <a:spLocks noChangeArrowheads="1"/>
          </p:cNvSpPr>
          <p:nvPr/>
        </p:nvSpPr>
        <p:spPr bwMode="auto">
          <a:xfrm>
            <a:off x="6443663" y="4786313"/>
            <a:ext cx="9874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/>
              <a:t>változó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/>
              <a:t>szélirány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Iskolakör felépítése</a:t>
            </a:r>
            <a:endParaRPr lang="hu-HU" dirty="0"/>
          </a:p>
        </p:txBody>
      </p:sp>
      <p:sp>
        <p:nvSpPr>
          <p:cNvPr id="27651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 eaLnBrk="1" hangingPunct="1">
              <a:buFont typeface="Cambria" pitchFamily="18" charset="0"/>
              <a:buAutoNum type="arabicPeriod"/>
              <a:defRPr/>
            </a:pPr>
            <a:r>
              <a:rPr lang="hu-HU" altLang="hu-HU" dirty="0" smtClean="0"/>
              <a:t>iskolakör kezdési pontja (300 m)</a:t>
            </a:r>
          </a:p>
          <a:p>
            <a:pPr marL="571500" indent="-457200" eaLnBrk="1" hangingPunct="1">
              <a:buFont typeface="Cambria" pitchFamily="18" charset="0"/>
              <a:buAutoNum type="arabicPeriod"/>
              <a:defRPr/>
            </a:pPr>
            <a:r>
              <a:rPr lang="hu-HU" altLang="hu-HU" dirty="0" smtClean="0"/>
              <a:t>hosszú fal (hátszeles szakasz) – a tengellyel párhuzamos</a:t>
            </a:r>
          </a:p>
          <a:p>
            <a:pPr marL="571500" indent="-457200" eaLnBrk="1" hangingPunct="1">
              <a:buFont typeface="Cambria" pitchFamily="18" charset="0"/>
              <a:buAutoNum type="arabicPeriod"/>
              <a:defRPr/>
            </a:pPr>
            <a:r>
              <a:rPr lang="hu-HU" altLang="hu-HU" dirty="0" smtClean="0"/>
              <a:t>ellenőrzési pont (200 m) – bal kéz felől a célkereszt</a:t>
            </a:r>
          </a:p>
          <a:p>
            <a:pPr marL="571500" indent="-457200" eaLnBrk="1" hangingPunct="1">
              <a:buFont typeface="Cambria" pitchFamily="18" charset="0"/>
              <a:buAutoNum type="arabicPeriod"/>
              <a:defRPr/>
            </a:pPr>
            <a:r>
              <a:rPr lang="hu-HU" altLang="hu-HU" dirty="0" smtClean="0"/>
              <a:t>első fordulópont (150 m)</a:t>
            </a:r>
          </a:p>
          <a:p>
            <a:pPr marL="571500" indent="-457200" eaLnBrk="1" hangingPunct="1">
              <a:buFont typeface="Cambria" pitchFamily="18" charset="0"/>
              <a:buAutoNum type="arabicPeriod"/>
              <a:defRPr/>
            </a:pPr>
            <a:r>
              <a:rPr lang="hu-HU" altLang="hu-HU" dirty="0" smtClean="0"/>
              <a:t>rövid fal (oldalszeles szakasz) – a tengelyre merőleges</a:t>
            </a:r>
          </a:p>
          <a:p>
            <a:pPr marL="571500" indent="-457200" eaLnBrk="1" hangingPunct="1">
              <a:buFont typeface="Cambria" pitchFamily="18" charset="0"/>
              <a:buAutoNum type="arabicPeriod"/>
              <a:defRPr/>
            </a:pPr>
            <a:r>
              <a:rPr lang="hu-HU" altLang="hu-HU" dirty="0" smtClean="0"/>
              <a:t>második fordulópont (80-100 m) </a:t>
            </a:r>
          </a:p>
          <a:p>
            <a:pPr marL="571500" indent="-457200" eaLnBrk="1" hangingPunct="1">
              <a:buFont typeface="Cambria" pitchFamily="18" charset="0"/>
              <a:buAutoNum type="arabicPeriod"/>
              <a:defRPr/>
            </a:pPr>
            <a:r>
              <a:rPr lang="hu-HU" altLang="hu-HU" dirty="0" smtClean="0"/>
              <a:t>végső megközelítés szakasza (széllel szemben)</a:t>
            </a:r>
          </a:p>
          <a:p>
            <a:pPr marL="571500" indent="-457200" eaLnBrk="1" hangingPunct="1">
              <a:buFont typeface="Cambria" pitchFamily="18" charset="0"/>
              <a:buAutoNum type="arabicPeriod"/>
              <a:defRPr/>
            </a:pPr>
            <a:endParaRPr lang="hu-HU" altLang="hu-HU" dirty="0"/>
          </a:p>
          <a:p>
            <a:pPr marL="114300" indent="0" eaLnBrk="1" hangingPunct="1">
              <a:buFont typeface="Arial" charset="0"/>
              <a:buNone/>
              <a:defRPr/>
            </a:pPr>
            <a:r>
              <a:rPr lang="hu-HU" altLang="hu-HU" dirty="0" smtClean="0"/>
              <a:t>Meghatározó tényezők:</a:t>
            </a:r>
          </a:p>
          <a:p>
            <a:pPr eaLnBrk="1" hangingPunct="1">
              <a:defRPr/>
            </a:pPr>
            <a:r>
              <a:rPr lang="hu-HU" altLang="hu-HU" dirty="0" smtClean="0"/>
              <a:t>szél iránya (iskolakör felépítésének módját)</a:t>
            </a:r>
          </a:p>
          <a:p>
            <a:pPr eaLnBrk="1" hangingPunct="1">
              <a:defRPr/>
            </a:pPr>
            <a:r>
              <a:rPr lang="hu-HU" altLang="hu-HU" dirty="0" smtClean="0"/>
              <a:t>szél erőssége (rövidfal hosszát)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 smtClean="0"/>
              <a:t>Iskolakör felépítése</a:t>
            </a:r>
            <a:endParaRPr lang="hu-HU" dirty="0"/>
          </a:p>
        </p:txBody>
      </p:sp>
      <p:pic>
        <p:nvPicPr>
          <p:cNvPr id="1027" name="Picture 3" descr="C:\Users\Kata\Downloads\Iskolakör_3D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56" y="1600200"/>
            <a:ext cx="7263288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22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11430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 smtClean="0"/>
              <a:t>Különböző erősségű szelek esetén, különböző oldaltávolságot tartunk a célkereszttől így változik a rövid fal hossza.</a:t>
            </a:r>
          </a:p>
          <a:p>
            <a:pPr marL="11430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 smtClean="0"/>
              <a:t>A végső megközelítés szakaszán a szélerősségtől függően változik a besiklási szög  (</a:t>
            </a:r>
            <a:r>
              <a:rPr lang="el-GR" dirty="0"/>
              <a:t>α</a:t>
            </a:r>
            <a:r>
              <a:rPr lang="hu-HU" dirty="0" smtClean="0"/>
              <a:t>).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0-3 m/s – rövid fal </a:t>
            </a:r>
            <a:r>
              <a:rPr lang="hu-HU" dirty="0" err="1" smtClean="0"/>
              <a:t>max</a:t>
            </a:r>
            <a:r>
              <a:rPr lang="hu-HU" dirty="0" smtClean="0"/>
              <a:t>. 150 m (végső megközelítésen </a:t>
            </a:r>
            <a:r>
              <a:rPr lang="el-GR" dirty="0" smtClean="0"/>
              <a:t>α</a:t>
            </a:r>
            <a:r>
              <a:rPr lang="hu-HU" dirty="0" smtClean="0"/>
              <a:t> &lt; 45 °)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4-5 m/s – 100 m </a:t>
            </a:r>
            <a:r>
              <a:rPr lang="hu-HU" dirty="0"/>
              <a:t>(</a:t>
            </a:r>
            <a:r>
              <a:rPr lang="el-GR" dirty="0"/>
              <a:t>α</a:t>
            </a:r>
            <a:r>
              <a:rPr lang="hu-HU" dirty="0"/>
              <a:t> </a:t>
            </a:r>
            <a:r>
              <a:rPr lang="hu-HU" dirty="0" smtClean="0"/>
              <a:t>= </a:t>
            </a:r>
            <a:r>
              <a:rPr lang="hu-HU" dirty="0"/>
              <a:t>45 </a:t>
            </a:r>
            <a:r>
              <a:rPr lang="hu-HU" dirty="0" smtClean="0"/>
              <a:t>°)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6-7 m/s – </a:t>
            </a:r>
            <a:r>
              <a:rPr lang="hu-HU" dirty="0" err="1" smtClean="0"/>
              <a:t>max</a:t>
            </a:r>
            <a:r>
              <a:rPr lang="hu-HU" dirty="0" smtClean="0"/>
              <a:t>. 50 m (</a:t>
            </a:r>
            <a:r>
              <a:rPr lang="el-GR" dirty="0" smtClean="0"/>
              <a:t>α</a:t>
            </a:r>
            <a:r>
              <a:rPr lang="hu-HU" dirty="0" smtClean="0"/>
              <a:t> &gt; </a:t>
            </a:r>
            <a:r>
              <a:rPr lang="hu-HU" dirty="0"/>
              <a:t>45 °)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dirty="0" smtClean="0"/>
              <a:t>7 m/s felett nem ugrunk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dirty="0"/>
          </a:p>
          <a:p>
            <a:pPr marL="777240" lvl="2" indent="0" eaLnBrk="1" fontAlgn="auto" hangingPunct="1"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hu-HU" dirty="0" smtClean="0"/>
              <a:t>    </a:t>
            </a:r>
            <a:r>
              <a:rPr lang="el-GR" dirty="0" smtClean="0"/>
              <a:t>α</a:t>
            </a:r>
            <a:r>
              <a:rPr lang="hu-HU" dirty="0" smtClean="0"/>
              <a:t> &lt; </a:t>
            </a:r>
            <a:r>
              <a:rPr lang="hu-HU" dirty="0"/>
              <a:t>45 </a:t>
            </a:r>
            <a:r>
              <a:rPr lang="hu-HU" dirty="0" smtClean="0"/>
              <a:t>°			    </a:t>
            </a:r>
            <a:r>
              <a:rPr lang="el-GR" dirty="0" smtClean="0"/>
              <a:t> </a:t>
            </a:r>
            <a:r>
              <a:rPr lang="el-GR" dirty="0"/>
              <a:t>α</a:t>
            </a:r>
            <a:r>
              <a:rPr lang="hu-HU" dirty="0"/>
              <a:t> </a:t>
            </a:r>
            <a:r>
              <a:rPr lang="hu-HU" dirty="0" smtClean="0"/>
              <a:t>= </a:t>
            </a:r>
            <a:r>
              <a:rPr lang="hu-HU" dirty="0"/>
              <a:t>45 </a:t>
            </a:r>
            <a:r>
              <a:rPr lang="hu-HU" dirty="0" smtClean="0"/>
              <a:t>°	            </a:t>
            </a:r>
            <a:r>
              <a:rPr lang="el-GR" dirty="0" smtClean="0"/>
              <a:t> </a:t>
            </a:r>
            <a:r>
              <a:rPr lang="el-GR" dirty="0"/>
              <a:t>α</a:t>
            </a:r>
            <a:r>
              <a:rPr lang="hu-HU" dirty="0"/>
              <a:t> &gt;</a:t>
            </a:r>
            <a:r>
              <a:rPr lang="hu-HU" dirty="0" smtClean="0"/>
              <a:t> </a:t>
            </a:r>
            <a:r>
              <a:rPr lang="hu-HU" dirty="0"/>
              <a:t>45 </a:t>
            </a:r>
            <a:r>
              <a:rPr lang="hu-HU" dirty="0" smtClean="0"/>
              <a:t>°</a:t>
            </a:r>
            <a:endParaRPr lang="hu-HU" dirty="0"/>
          </a:p>
        </p:txBody>
      </p:sp>
      <p:cxnSp>
        <p:nvCxnSpPr>
          <p:cNvPr id="9" name="Egyenes összekötő 8"/>
          <p:cNvCxnSpPr/>
          <p:nvPr/>
        </p:nvCxnSpPr>
        <p:spPr>
          <a:xfrm>
            <a:off x="1116013" y="5788025"/>
            <a:ext cx="20875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Egyenes összekötő 4"/>
          <p:cNvCxnSpPr/>
          <p:nvPr/>
        </p:nvCxnSpPr>
        <p:spPr>
          <a:xfrm>
            <a:off x="1116013" y="4867275"/>
            <a:ext cx="0" cy="936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7" name="Szövegdoboz 67"/>
          <p:cNvSpPr txBox="1">
            <a:spLocks noChangeArrowheads="1"/>
          </p:cNvSpPr>
          <p:nvPr/>
        </p:nvSpPr>
        <p:spPr bwMode="auto">
          <a:xfrm>
            <a:off x="2627313" y="5507038"/>
            <a:ext cx="3889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l-GR" altLang="hu-HU" sz="1800"/>
              <a:t>α</a:t>
            </a:r>
            <a:endParaRPr lang="hu-HU" altLang="hu-HU" sz="1800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Iskolakör felépítése</a:t>
            </a:r>
            <a:endParaRPr lang="hu-HU" dirty="0"/>
          </a:p>
        </p:txBody>
      </p:sp>
      <p:cxnSp>
        <p:nvCxnSpPr>
          <p:cNvPr id="6" name="Egyenes összekötő 5"/>
          <p:cNvCxnSpPr/>
          <p:nvPr/>
        </p:nvCxnSpPr>
        <p:spPr>
          <a:xfrm>
            <a:off x="1116013" y="4867275"/>
            <a:ext cx="2087562" cy="936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/>
          <p:cNvCxnSpPr/>
          <p:nvPr/>
        </p:nvCxnSpPr>
        <p:spPr>
          <a:xfrm>
            <a:off x="4356100" y="4835525"/>
            <a:ext cx="0" cy="936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16"/>
          <p:cNvCxnSpPr/>
          <p:nvPr/>
        </p:nvCxnSpPr>
        <p:spPr>
          <a:xfrm>
            <a:off x="4356100" y="4835525"/>
            <a:ext cx="936625" cy="936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/>
          <p:cNvCxnSpPr/>
          <p:nvPr/>
        </p:nvCxnSpPr>
        <p:spPr>
          <a:xfrm>
            <a:off x="4356100" y="5772150"/>
            <a:ext cx="9366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gyenes összekötő 33"/>
          <p:cNvCxnSpPr/>
          <p:nvPr/>
        </p:nvCxnSpPr>
        <p:spPr>
          <a:xfrm>
            <a:off x="6732588" y="4851400"/>
            <a:ext cx="0" cy="936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gyenes összekötő 34"/>
          <p:cNvCxnSpPr/>
          <p:nvPr/>
        </p:nvCxnSpPr>
        <p:spPr>
          <a:xfrm>
            <a:off x="6732588" y="4867275"/>
            <a:ext cx="315912" cy="928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35"/>
          <p:cNvCxnSpPr/>
          <p:nvPr/>
        </p:nvCxnSpPr>
        <p:spPr>
          <a:xfrm>
            <a:off x="6732588" y="5788025"/>
            <a:ext cx="315912" cy="158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86" name="Szövegdoboz 69"/>
          <p:cNvSpPr txBox="1">
            <a:spLocks noChangeArrowheads="1"/>
          </p:cNvSpPr>
          <p:nvPr/>
        </p:nvSpPr>
        <p:spPr bwMode="auto">
          <a:xfrm>
            <a:off x="6804025" y="5516563"/>
            <a:ext cx="388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l-GR" altLang="hu-HU" sz="1800"/>
              <a:t>α</a:t>
            </a:r>
            <a:endParaRPr lang="hu-HU" altLang="hu-HU" sz="1800"/>
          </a:p>
        </p:txBody>
      </p:sp>
      <p:sp>
        <p:nvSpPr>
          <p:cNvPr id="28687" name="Szövegdoboz 69"/>
          <p:cNvSpPr txBox="1">
            <a:spLocks noChangeArrowheads="1"/>
          </p:cNvSpPr>
          <p:nvPr/>
        </p:nvSpPr>
        <p:spPr bwMode="auto">
          <a:xfrm>
            <a:off x="4975225" y="5507038"/>
            <a:ext cx="388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l-GR" altLang="hu-HU" sz="1800"/>
              <a:t>α</a:t>
            </a:r>
            <a:endParaRPr lang="hu-HU" altLang="hu-HU" sz="18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Iskolakör felépítése</a:t>
            </a:r>
            <a:endParaRPr lang="hu-HU" dirty="0"/>
          </a:p>
        </p:txBody>
      </p:sp>
      <p:pic>
        <p:nvPicPr>
          <p:cNvPr id="29699" name="Picture 2" descr="F:\Swartzy\Swartzy Downloads\Ejtoernyo\Ea\iskolakör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341438"/>
            <a:ext cx="5616575" cy="530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Szövegdoboz 3"/>
          <p:cNvSpPr txBox="1">
            <a:spLocks noChangeArrowheads="1"/>
          </p:cNvSpPr>
          <p:nvPr/>
        </p:nvSpPr>
        <p:spPr bwMode="auto">
          <a:xfrm>
            <a:off x="6418263" y="1773238"/>
            <a:ext cx="8905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Bajai út</a:t>
            </a:r>
          </a:p>
        </p:txBody>
      </p:sp>
      <p:sp>
        <p:nvSpPr>
          <p:cNvPr id="5" name="Ellipszis 4"/>
          <p:cNvSpPr/>
          <p:nvPr/>
        </p:nvSpPr>
        <p:spPr>
          <a:xfrm>
            <a:off x="2889250" y="1943100"/>
            <a:ext cx="217488" cy="1857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/>
          </a:p>
        </p:txBody>
      </p:sp>
      <p:cxnSp>
        <p:nvCxnSpPr>
          <p:cNvPr id="7" name="Egyenes összekötő 6"/>
          <p:cNvCxnSpPr>
            <a:stCxn id="5" idx="4"/>
          </p:cNvCxnSpPr>
          <p:nvPr/>
        </p:nvCxnSpPr>
        <p:spPr>
          <a:xfrm>
            <a:off x="2997200" y="2128838"/>
            <a:ext cx="0" cy="3748087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lipszis 11"/>
          <p:cNvSpPr/>
          <p:nvPr/>
        </p:nvSpPr>
        <p:spPr>
          <a:xfrm>
            <a:off x="2879725" y="5784850"/>
            <a:ext cx="215900" cy="1841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/>
          </a:p>
        </p:txBody>
      </p:sp>
      <p:cxnSp>
        <p:nvCxnSpPr>
          <p:cNvPr id="13" name="Egyenes összekötő 12"/>
          <p:cNvCxnSpPr/>
          <p:nvPr/>
        </p:nvCxnSpPr>
        <p:spPr>
          <a:xfrm>
            <a:off x="4257675" y="4941888"/>
            <a:ext cx="0" cy="1027112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lipszis 16"/>
          <p:cNvSpPr/>
          <p:nvPr/>
        </p:nvSpPr>
        <p:spPr>
          <a:xfrm>
            <a:off x="4149725" y="5789613"/>
            <a:ext cx="215900" cy="1857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/>
          </a:p>
        </p:txBody>
      </p:sp>
      <p:cxnSp>
        <p:nvCxnSpPr>
          <p:cNvPr id="18" name="Egyenes összekötő 17"/>
          <p:cNvCxnSpPr/>
          <p:nvPr/>
        </p:nvCxnSpPr>
        <p:spPr>
          <a:xfrm flipV="1">
            <a:off x="2906713" y="5876925"/>
            <a:ext cx="1423987" cy="635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Háromszög 20"/>
          <p:cNvSpPr/>
          <p:nvPr/>
        </p:nvSpPr>
        <p:spPr>
          <a:xfrm>
            <a:off x="4187825" y="4857750"/>
            <a:ext cx="139700" cy="2032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/>
          </a:p>
        </p:txBody>
      </p:sp>
      <p:sp>
        <p:nvSpPr>
          <p:cNvPr id="26" name="Lefelé nyíl 25"/>
          <p:cNvSpPr/>
          <p:nvPr/>
        </p:nvSpPr>
        <p:spPr>
          <a:xfrm>
            <a:off x="1894758" y="3247074"/>
            <a:ext cx="720080" cy="111803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tx1"/>
                </a:solidFill>
              </a:rPr>
              <a:t>6 m/s</a:t>
            </a:r>
          </a:p>
        </p:txBody>
      </p:sp>
      <p:cxnSp>
        <p:nvCxnSpPr>
          <p:cNvPr id="28" name="Egyenes összekötő 27"/>
          <p:cNvCxnSpPr/>
          <p:nvPr/>
        </p:nvCxnSpPr>
        <p:spPr>
          <a:xfrm>
            <a:off x="4257675" y="2300288"/>
            <a:ext cx="0" cy="4224337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10" name="Szövegdoboz 29"/>
          <p:cNvSpPr txBox="1">
            <a:spLocks noChangeArrowheads="1"/>
          </p:cNvSpPr>
          <p:nvPr/>
        </p:nvSpPr>
        <p:spPr bwMode="auto">
          <a:xfrm>
            <a:off x="2124075" y="1562100"/>
            <a:ext cx="2393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iskolakör kezdési pontja</a:t>
            </a:r>
          </a:p>
        </p:txBody>
      </p:sp>
      <p:sp>
        <p:nvSpPr>
          <p:cNvPr id="31" name="Szövegdoboz 30"/>
          <p:cNvSpPr txBox="1"/>
          <p:nvPr/>
        </p:nvSpPr>
        <p:spPr>
          <a:xfrm>
            <a:off x="2915816" y="3284984"/>
            <a:ext cx="461665" cy="1009122"/>
          </a:xfrm>
          <a:prstGeom prst="rect">
            <a:avLst/>
          </a:prstGeom>
          <a:noFill/>
        </p:spPr>
        <p:txBody>
          <a:bodyPr vert="vert270"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bg1"/>
                </a:solidFill>
                <a:latin typeface="+mn-lt"/>
                <a:cs typeface="+mn-cs"/>
              </a:rPr>
              <a:t>hosszú fal</a:t>
            </a:r>
          </a:p>
        </p:txBody>
      </p:sp>
      <p:sp>
        <p:nvSpPr>
          <p:cNvPr id="29712" name="Szövegdoboz 31"/>
          <p:cNvSpPr txBox="1">
            <a:spLocks noChangeArrowheads="1"/>
          </p:cNvSpPr>
          <p:nvPr/>
        </p:nvSpPr>
        <p:spPr bwMode="auto">
          <a:xfrm>
            <a:off x="3197225" y="5580063"/>
            <a:ext cx="942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rövid fal</a:t>
            </a:r>
          </a:p>
        </p:txBody>
      </p:sp>
      <p:sp>
        <p:nvSpPr>
          <p:cNvPr id="34" name="Szövegdoboz 33"/>
          <p:cNvSpPr txBox="1"/>
          <p:nvPr/>
        </p:nvSpPr>
        <p:spPr>
          <a:xfrm>
            <a:off x="4211960" y="4665019"/>
            <a:ext cx="1015663" cy="1356269"/>
          </a:xfrm>
          <a:prstGeom prst="rect">
            <a:avLst/>
          </a:prstGeom>
          <a:noFill/>
        </p:spPr>
        <p:txBody>
          <a:bodyPr vert="vert270"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bg1"/>
                </a:solidFill>
                <a:latin typeface="+mn-lt"/>
                <a:cs typeface="+mn-cs"/>
              </a:rPr>
              <a:t>végső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bg1"/>
                </a:solidFill>
                <a:latin typeface="+mn-lt"/>
                <a:cs typeface="+mn-cs"/>
              </a:rPr>
              <a:t>megközelítés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bg1"/>
                </a:solidFill>
                <a:latin typeface="+mn-lt"/>
                <a:cs typeface="+mn-cs"/>
              </a:rPr>
              <a:t>szakasza</a:t>
            </a:r>
          </a:p>
        </p:txBody>
      </p:sp>
      <p:sp>
        <p:nvSpPr>
          <p:cNvPr id="29714" name="Szövegdoboz 34"/>
          <p:cNvSpPr txBox="1">
            <a:spLocks noChangeArrowheads="1"/>
          </p:cNvSpPr>
          <p:nvPr/>
        </p:nvSpPr>
        <p:spPr bwMode="auto">
          <a:xfrm>
            <a:off x="2555875" y="5951538"/>
            <a:ext cx="8667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első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forduló</a:t>
            </a:r>
          </a:p>
        </p:txBody>
      </p:sp>
      <p:sp>
        <p:nvSpPr>
          <p:cNvPr id="29715" name="Szövegdoboz 35"/>
          <p:cNvSpPr txBox="1">
            <a:spLocks noChangeArrowheads="1"/>
          </p:cNvSpPr>
          <p:nvPr/>
        </p:nvSpPr>
        <p:spPr bwMode="auto">
          <a:xfrm>
            <a:off x="3779838" y="5876925"/>
            <a:ext cx="969962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második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forduló</a:t>
            </a:r>
          </a:p>
        </p:txBody>
      </p:sp>
      <p:sp>
        <p:nvSpPr>
          <p:cNvPr id="38" name="Szövegdoboz 37"/>
          <p:cNvSpPr txBox="1"/>
          <p:nvPr/>
        </p:nvSpPr>
        <p:spPr>
          <a:xfrm>
            <a:off x="4139952" y="2204864"/>
            <a:ext cx="461665" cy="783612"/>
          </a:xfrm>
          <a:prstGeom prst="rect">
            <a:avLst/>
          </a:prstGeom>
          <a:noFill/>
        </p:spPr>
        <p:txBody>
          <a:bodyPr vert="vert270"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bg1"/>
                </a:solidFill>
                <a:latin typeface="+mn-lt"/>
                <a:cs typeface="+mn-cs"/>
              </a:rPr>
              <a:t>tengely</a:t>
            </a:r>
          </a:p>
        </p:txBody>
      </p:sp>
      <p:sp>
        <p:nvSpPr>
          <p:cNvPr id="39" name="Szövegdoboz 38"/>
          <p:cNvSpPr txBox="1"/>
          <p:nvPr/>
        </p:nvSpPr>
        <p:spPr>
          <a:xfrm>
            <a:off x="1703396" y="1196752"/>
            <a:ext cx="461665" cy="2767389"/>
          </a:xfrm>
          <a:prstGeom prst="rect">
            <a:avLst/>
          </a:prstGeom>
          <a:noFill/>
        </p:spPr>
        <p:txBody>
          <a:bodyPr vert="vert27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bg1"/>
                </a:solidFill>
                <a:latin typeface="+mn-lt"/>
                <a:cs typeface="+mn-cs"/>
              </a:rPr>
              <a:t>szélirány (kb. 340°  ÉSZAKI)</a:t>
            </a:r>
          </a:p>
        </p:txBody>
      </p:sp>
      <p:sp>
        <p:nvSpPr>
          <p:cNvPr id="40" name="Ellipszis 39"/>
          <p:cNvSpPr/>
          <p:nvPr/>
        </p:nvSpPr>
        <p:spPr>
          <a:xfrm>
            <a:off x="2895600" y="4572000"/>
            <a:ext cx="215900" cy="1857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/>
          </a:p>
        </p:txBody>
      </p:sp>
      <p:sp>
        <p:nvSpPr>
          <p:cNvPr id="29719" name="Szövegdoboz 41"/>
          <p:cNvSpPr txBox="1">
            <a:spLocks noChangeArrowheads="1"/>
          </p:cNvSpPr>
          <p:nvPr/>
        </p:nvSpPr>
        <p:spPr bwMode="auto">
          <a:xfrm>
            <a:off x="1817688" y="4292600"/>
            <a:ext cx="1241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ellenőrzési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pont</a:t>
            </a:r>
          </a:p>
        </p:txBody>
      </p:sp>
      <p:cxnSp>
        <p:nvCxnSpPr>
          <p:cNvPr id="43" name="Egyenes összekötő nyíllal 42"/>
          <p:cNvCxnSpPr/>
          <p:nvPr/>
        </p:nvCxnSpPr>
        <p:spPr>
          <a:xfrm>
            <a:off x="3111500" y="5343525"/>
            <a:ext cx="1038225" cy="0"/>
          </a:xfrm>
          <a:prstGeom prst="straightConnector1">
            <a:avLst/>
          </a:prstGeom>
          <a:ln>
            <a:solidFill>
              <a:schemeClr val="bg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21" name="Szövegdoboz 45"/>
          <p:cNvSpPr txBox="1">
            <a:spLocks noChangeArrowheads="1"/>
          </p:cNvSpPr>
          <p:nvPr/>
        </p:nvSpPr>
        <p:spPr bwMode="auto">
          <a:xfrm>
            <a:off x="3319463" y="5041900"/>
            <a:ext cx="6556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50 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Iskolakör felépítése</a:t>
            </a:r>
            <a:endParaRPr lang="hu-HU" dirty="0"/>
          </a:p>
        </p:txBody>
      </p:sp>
      <p:pic>
        <p:nvPicPr>
          <p:cNvPr id="30723" name="Picture 2" descr="F:\Swartzy\Swartzy Downloads\Ejtoernyo\Ea\iskolakör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1412875"/>
            <a:ext cx="5616575" cy="530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Egyenes összekötő 6"/>
          <p:cNvCxnSpPr/>
          <p:nvPr/>
        </p:nvCxnSpPr>
        <p:spPr>
          <a:xfrm flipH="1">
            <a:off x="1536700" y="1557338"/>
            <a:ext cx="2435225" cy="239712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12"/>
          <p:cNvCxnSpPr/>
          <p:nvPr/>
        </p:nvCxnSpPr>
        <p:spPr>
          <a:xfrm flipH="1">
            <a:off x="3203575" y="5026025"/>
            <a:ext cx="655638" cy="706438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/>
          <p:cNvCxnSpPr/>
          <p:nvPr/>
        </p:nvCxnSpPr>
        <p:spPr>
          <a:xfrm>
            <a:off x="1544638" y="3962400"/>
            <a:ext cx="1658937" cy="1770063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Háromszög 20"/>
          <p:cNvSpPr/>
          <p:nvPr/>
        </p:nvSpPr>
        <p:spPr>
          <a:xfrm rot="2700000">
            <a:off x="3863975" y="4862513"/>
            <a:ext cx="139700" cy="2032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/>
          </a:p>
        </p:txBody>
      </p:sp>
      <p:sp>
        <p:nvSpPr>
          <p:cNvPr id="26" name="Lefelé nyíl 25"/>
          <p:cNvSpPr/>
          <p:nvPr/>
        </p:nvSpPr>
        <p:spPr>
          <a:xfrm rot="2700000">
            <a:off x="3611458" y="3396165"/>
            <a:ext cx="720080" cy="111803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tx1"/>
                </a:solidFill>
              </a:rPr>
              <a:t>1 m/s</a:t>
            </a:r>
          </a:p>
        </p:txBody>
      </p:sp>
      <p:cxnSp>
        <p:nvCxnSpPr>
          <p:cNvPr id="28" name="Egyenes összekötő 27"/>
          <p:cNvCxnSpPr/>
          <p:nvPr/>
        </p:nvCxnSpPr>
        <p:spPr>
          <a:xfrm rot="2700000">
            <a:off x="4044157" y="2736056"/>
            <a:ext cx="0" cy="4224337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zövegdoboz 38"/>
          <p:cNvSpPr txBox="1"/>
          <p:nvPr/>
        </p:nvSpPr>
        <p:spPr>
          <a:xfrm rot="2700000">
            <a:off x="4196144" y="1535840"/>
            <a:ext cx="461665" cy="2767389"/>
          </a:xfrm>
          <a:prstGeom prst="rect">
            <a:avLst/>
          </a:prstGeom>
          <a:noFill/>
        </p:spPr>
        <p:txBody>
          <a:bodyPr vert="vert27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bg1"/>
                </a:solidFill>
                <a:latin typeface="+mn-lt"/>
                <a:cs typeface="+mn-cs"/>
              </a:rPr>
              <a:t>szélirány (kb. 20°  ÉSZAKI)</a:t>
            </a:r>
          </a:p>
        </p:txBody>
      </p:sp>
      <p:cxnSp>
        <p:nvCxnSpPr>
          <p:cNvPr id="43" name="Egyenes összekötő nyíllal 42"/>
          <p:cNvCxnSpPr/>
          <p:nvPr/>
        </p:nvCxnSpPr>
        <p:spPr>
          <a:xfrm>
            <a:off x="1816100" y="3824288"/>
            <a:ext cx="1504950" cy="1555750"/>
          </a:xfrm>
          <a:prstGeom prst="straightConnector1">
            <a:avLst/>
          </a:prstGeom>
          <a:ln>
            <a:solidFill>
              <a:schemeClr val="bg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32" name="Szövegdoboz 45"/>
          <p:cNvSpPr txBox="1">
            <a:spLocks noChangeArrowheads="1"/>
          </p:cNvSpPr>
          <p:nvPr/>
        </p:nvSpPr>
        <p:spPr bwMode="auto">
          <a:xfrm rot="2700000">
            <a:off x="2413000" y="4310063"/>
            <a:ext cx="773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150 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Iskolakör felépítése</a:t>
            </a:r>
            <a:endParaRPr lang="hu-HU" dirty="0"/>
          </a:p>
        </p:txBody>
      </p:sp>
      <p:pic>
        <p:nvPicPr>
          <p:cNvPr id="31747" name="Picture 2" descr="F:\Swartzy\Swartzy Downloads\Ejtoernyo\Ea\iskolakör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50" y="1412875"/>
            <a:ext cx="5616575" cy="530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Egyenes összekötő 6"/>
          <p:cNvCxnSpPr/>
          <p:nvPr/>
        </p:nvCxnSpPr>
        <p:spPr>
          <a:xfrm>
            <a:off x="1530350" y="6308725"/>
            <a:ext cx="3978275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12"/>
          <p:cNvCxnSpPr/>
          <p:nvPr/>
        </p:nvCxnSpPr>
        <p:spPr>
          <a:xfrm>
            <a:off x="4275138" y="4724400"/>
            <a:ext cx="1233487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17"/>
          <p:cNvCxnSpPr/>
          <p:nvPr/>
        </p:nvCxnSpPr>
        <p:spPr>
          <a:xfrm flipV="1">
            <a:off x="5508625" y="4724400"/>
            <a:ext cx="0" cy="160020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Lefelé nyíl 25"/>
          <p:cNvSpPr/>
          <p:nvPr/>
        </p:nvSpPr>
        <p:spPr>
          <a:xfrm rot="16200000">
            <a:off x="2013744" y="3144044"/>
            <a:ext cx="719138" cy="111760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tx1"/>
                </a:solidFill>
              </a:rPr>
              <a:t>4 m/s</a:t>
            </a:r>
          </a:p>
        </p:txBody>
      </p:sp>
      <p:sp>
        <p:nvSpPr>
          <p:cNvPr id="39" name="Szövegdoboz 38"/>
          <p:cNvSpPr txBox="1"/>
          <p:nvPr/>
        </p:nvSpPr>
        <p:spPr>
          <a:xfrm rot="16200000">
            <a:off x="3036093" y="1389857"/>
            <a:ext cx="461963" cy="3473450"/>
          </a:xfrm>
          <a:prstGeom prst="rect">
            <a:avLst/>
          </a:prstGeom>
          <a:noFill/>
        </p:spPr>
        <p:txBody>
          <a:bodyPr vert="vert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bg1"/>
                </a:solidFill>
                <a:latin typeface="+mn-lt"/>
                <a:cs typeface="+mn-cs"/>
              </a:rPr>
              <a:t>szélirány (kb. 220°  DÉLNYUGATI)</a:t>
            </a:r>
          </a:p>
        </p:txBody>
      </p:sp>
      <p:cxnSp>
        <p:nvCxnSpPr>
          <p:cNvPr id="43" name="Egyenes összekötő nyíllal 42"/>
          <p:cNvCxnSpPr/>
          <p:nvPr/>
        </p:nvCxnSpPr>
        <p:spPr>
          <a:xfrm rot="16200000">
            <a:off x="4556918" y="5444332"/>
            <a:ext cx="1039813" cy="0"/>
          </a:xfrm>
          <a:prstGeom prst="straightConnector1">
            <a:avLst/>
          </a:prstGeom>
          <a:ln>
            <a:solidFill>
              <a:schemeClr val="bg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4" name="Szövegdoboz 45"/>
          <p:cNvSpPr txBox="1">
            <a:spLocks noChangeArrowheads="1"/>
          </p:cNvSpPr>
          <p:nvPr/>
        </p:nvSpPr>
        <p:spPr bwMode="auto">
          <a:xfrm rot="-5400000">
            <a:off x="4794250" y="5259388"/>
            <a:ext cx="7731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800">
                <a:solidFill>
                  <a:schemeClr val="bg1"/>
                </a:solidFill>
              </a:rPr>
              <a:t>100 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Iskolakör, </a:t>
            </a:r>
            <a:r>
              <a:rPr lang="hu-HU" dirty="0" err="1" smtClean="0"/>
              <a:t>földetérés</a:t>
            </a:r>
            <a:endParaRPr lang="hu-HU" dirty="0"/>
          </a:p>
        </p:txBody>
      </p:sp>
      <p:sp>
        <p:nvSpPr>
          <p:cNvPr id="32771" name="Tartalom helye 2"/>
          <p:cNvSpPr>
            <a:spLocks noGrp="1"/>
          </p:cNvSpPr>
          <p:nvPr>
            <p:ph idx="1"/>
          </p:nvPr>
        </p:nvSpPr>
        <p:spPr>
          <a:xfrm>
            <a:off x="467544" y="1412776"/>
            <a:ext cx="7620000" cy="4800600"/>
          </a:xfrm>
        </p:spPr>
        <p:txBody>
          <a:bodyPr/>
          <a:lstStyle/>
          <a:p>
            <a:pPr eaLnBrk="1" hangingPunct="1"/>
            <a:r>
              <a:rPr lang="hu-HU" altLang="hu-HU" dirty="0" smtClean="0"/>
              <a:t>Tengely: a széliránnyal párhuzamos célkereszten áthaladó egyenes</a:t>
            </a:r>
          </a:p>
          <a:p>
            <a:pPr eaLnBrk="1" hangingPunct="1"/>
            <a:r>
              <a:rPr lang="hu-HU" altLang="hu-HU" dirty="0" smtClean="0"/>
              <a:t>Iskolakör </a:t>
            </a:r>
            <a:r>
              <a:rPr lang="hu-HU" altLang="hu-HU" dirty="0" smtClean="0"/>
              <a:t>jelentősége</a:t>
            </a:r>
            <a:r>
              <a:rPr lang="hu-HU" altLang="hu-HU" dirty="0" smtClean="0"/>
              <a:t>, a földfeletti összeütközések </a:t>
            </a:r>
            <a:r>
              <a:rPr lang="hu-HU" altLang="hu-HU" dirty="0" smtClean="0"/>
              <a:t>elkerülése és a mozgásunk </a:t>
            </a:r>
            <a:r>
              <a:rPr lang="hu-HU" altLang="hu-HU" dirty="0"/>
              <a:t>kiszámíthatósága. </a:t>
            </a:r>
            <a:r>
              <a:rPr lang="hu-HU" altLang="hu-HU" dirty="0" smtClean="0"/>
              <a:t>Iránya fő </a:t>
            </a:r>
            <a:r>
              <a:rPr lang="hu-HU" altLang="hu-HU" dirty="0"/>
              <a:t>szabály szerint </a:t>
            </a:r>
            <a:r>
              <a:rPr lang="hu-HU" altLang="hu-HU" dirty="0" smtClean="0"/>
              <a:t>balkezes, de egyes ugróterületeken biztonsági okokból kérhetnek jobbkezes iskolakört.</a:t>
            </a:r>
            <a:endParaRPr lang="hu-HU" altLang="hu-HU" dirty="0" smtClean="0"/>
          </a:p>
          <a:p>
            <a:pPr eaLnBrk="1" hangingPunct="1"/>
            <a:r>
              <a:rPr lang="hu-HU" altLang="hu-HU" dirty="0" smtClean="0"/>
              <a:t>Földet érni </a:t>
            </a:r>
            <a:r>
              <a:rPr lang="hu-HU" altLang="hu-HU" dirty="0" smtClean="0"/>
              <a:t>fő szabály szerint </a:t>
            </a:r>
            <a:r>
              <a:rPr lang="hu-HU" altLang="hu-HU" dirty="0" smtClean="0"/>
              <a:t>széllel </a:t>
            </a:r>
            <a:r>
              <a:rPr lang="hu-HU" altLang="hu-HU" dirty="0" smtClean="0"/>
              <a:t>szemben kell.</a:t>
            </a:r>
          </a:p>
          <a:p>
            <a:pPr eaLnBrk="1" hangingPunct="1"/>
            <a:r>
              <a:rPr lang="hu-HU" altLang="hu-HU" dirty="0" smtClean="0"/>
              <a:t>Az </a:t>
            </a:r>
            <a:r>
              <a:rPr lang="hu-HU" altLang="hu-HU" dirty="0" smtClean="0"/>
              <a:t>iskolakörön fél fékkel repülünk, hogy tudjunk gyorsítani illetve lassítani, ha rosszul mértük fel a </a:t>
            </a:r>
            <a:r>
              <a:rPr lang="hu-HU" altLang="hu-HU" dirty="0" smtClean="0"/>
              <a:t>távolságot. A végső megközelítés szakaszán legkésőbb 30-50m magasan teljes siklásban repülünk.</a:t>
            </a:r>
            <a:endParaRPr lang="hu-HU" altLang="hu-HU" dirty="0" smtClean="0"/>
          </a:p>
          <a:p>
            <a:pPr eaLnBrk="1" hangingPunct="1"/>
            <a:r>
              <a:rPr lang="hu-HU" altLang="hu-HU" dirty="0" smtClean="0"/>
              <a:t>7 m/s feletti szélben nem </a:t>
            </a:r>
            <a:r>
              <a:rPr lang="hu-HU" altLang="hu-HU" dirty="0" smtClean="0"/>
              <a:t>ugrunk</a:t>
            </a:r>
            <a:endParaRPr lang="hu-HU" altLang="hu-HU" dirty="0" smtClean="0"/>
          </a:p>
          <a:p>
            <a:pPr eaLnBrk="1" hangingPunct="1"/>
            <a:r>
              <a:rPr lang="hu-HU" altLang="hu-HU" dirty="0" smtClean="0"/>
              <a:t>A végső megközelítési szakaszon turbulenciát keltő tereptárgyak, fák, épületek közelében nem repülünk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7620000" cy="1143000"/>
          </a:xfrm>
        </p:spPr>
        <p:txBody>
          <a:bodyPr/>
          <a:lstStyle/>
          <a:p>
            <a:pPr algn="ctr"/>
            <a:r>
              <a:rPr lang="hu-HU" dirty="0" smtClean="0"/>
              <a:t>Iskolakör, </a:t>
            </a:r>
            <a:r>
              <a:rPr lang="hu-HU" dirty="0" err="1" smtClean="0"/>
              <a:t>földetérés</a:t>
            </a:r>
            <a:r>
              <a:rPr lang="hu-HU" dirty="0"/>
              <a:t> </a:t>
            </a:r>
            <a:r>
              <a:rPr lang="hu-HU" dirty="0" smtClean="0"/>
              <a:t>–</a:t>
            </a:r>
            <a:br>
              <a:rPr lang="hu-HU" dirty="0" smtClean="0"/>
            </a:br>
            <a:r>
              <a:rPr lang="hu-HU" dirty="0" smtClean="0"/>
              <a:t> végső megközelítés szakasza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619672" y="1772816"/>
            <a:ext cx="7620000" cy="4800600"/>
          </a:xfrm>
        </p:spPr>
        <p:txBody>
          <a:bodyPr/>
          <a:lstStyle/>
          <a:p>
            <a:pPr lvl="1"/>
            <a:endParaRPr lang="hu-HU" dirty="0" smtClean="0"/>
          </a:p>
          <a:p>
            <a:r>
              <a:rPr lang="hu-HU" b="1" dirty="0" smtClean="0"/>
              <a:t>1. A kupola normál, egyenes vonalú siklásban repül </a:t>
            </a:r>
            <a:r>
              <a:rPr lang="hu-HU" dirty="0" smtClean="0"/>
              <a:t>(Alacsonyan már nem fordulsz, de a kupoládat irányban tartod!)</a:t>
            </a:r>
          </a:p>
          <a:p>
            <a:endParaRPr lang="hu-HU" dirty="0" smtClean="0"/>
          </a:p>
          <a:p>
            <a:r>
              <a:rPr lang="hu-HU" b="1" dirty="0" smtClean="0"/>
              <a:t>2. Szabad, akadálymentes területre érsz földet</a:t>
            </a:r>
          </a:p>
          <a:p>
            <a:endParaRPr lang="hu-HU" b="1" dirty="0" smtClean="0"/>
          </a:p>
          <a:p>
            <a:r>
              <a:rPr lang="hu-HU" b="1" dirty="0" smtClean="0"/>
              <a:t>3. Lebegtetsz </a:t>
            </a:r>
            <a:r>
              <a:rPr lang="hu-HU" dirty="0" smtClean="0"/>
              <a:t>(5-7m magasan kezded)</a:t>
            </a:r>
          </a:p>
          <a:p>
            <a:endParaRPr lang="hu-HU" dirty="0" smtClean="0"/>
          </a:p>
          <a:p>
            <a:r>
              <a:rPr lang="hu-HU" b="1" dirty="0" smtClean="0"/>
              <a:t>4. Széllel szemben érsz földet</a:t>
            </a:r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1757141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Iskolakör, </a:t>
            </a:r>
            <a:r>
              <a:rPr lang="hu-HU" dirty="0" err="1" smtClean="0"/>
              <a:t>földetérés</a:t>
            </a:r>
            <a:endParaRPr lang="hu-HU" dirty="0"/>
          </a:p>
        </p:txBody>
      </p:sp>
      <p:sp>
        <p:nvSpPr>
          <p:cNvPr id="33795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u-HU" altLang="hu-HU" smtClean="0"/>
              <a:t>Lebegtetett földetérés - főleg szélcsendben és gyenge szeles időben</a:t>
            </a:r>
          </a:p>
          <a:p>
            <a:pPr eaLnBrk="1" hangingPunct="1"/>
            <a:r>
              <a:rPr lang="hu-HU" altLang="hu-HU" smtClean="0"/>
              <a:t>A lebegtetett földetérés dinamikus átesés, ha túl magasan hajtják végre komoly sérüléseket okozhat</a:t>
            </a:r>
          </a:p>
          <a:p>
            <a:pPr eaLnBrk="1" hangingPunct="1"/>
            <a:r>
              <a:rPr lang="hu-HU" altLang="hu-HU" b="1" smtClean="0">
                <a:solidFill>
                  <a:schemeClr val="tx2"/>
                </a:solidFill>
                <a:cs typeface="Arial" charset="0"/>
              </a:rPr>
              <a:t>Ne végezzünk éles fordulókat és ne kíséreljünk meg 360 fokos mentő fordulókat sem. A légcellás ejtőernyő éles fordulókban nagyon gyorsan veszti a</a:t>
            </a:r>
            <a:r>
              <a:rPr lang="hu-HU" altLang="hu-HU" b="1" smtClean="0">
                <a:solidFill>
                  <a:schemeClr val="tx2"/>
                </a:solidFill>
              </a:rPr>
              <a:t> </a:t>
            </a:r>
            <a:r>
              <a:rPr lang="hu-HU" altLang="hu-HU" b="1" smtClean="0">
                <a:solidFill>
                  <a:schemeClr val="tx2"/>
                </a:solidFill>
                <a:cs typeface="Arial" charset="0"/>
              </a:rPr>
              <a:t>magasságot.</a:t>
            </a:r>
          </a:p>
          <a:p>
            <a:pPr eaLnBrk="1" hangingPunct="1"/>
            <a:r>
              <a:rPr lang="hu-HU" altLang="hu-HU" b="1" smtClean="0"/>
              <a:t>Tilos befordulni közvetlenül a másik kupola mögé, vagy elé, mert a kupola mögötti turbulens áramlásba érkező ernyő összeomlását okozhatja, ami jelentős magasságvesztést okozhat és ez talajközelben rendkívüli következményekkel járhat!</a:t>
            </a:r>
            <a:endParaRPr lang="hu-HU" altLang="hu-HU" b="1" smtClean="0">
              <a:solidFill>
                <a:schemeClr val="tx2"/>
              </a:solidFill>
              <a:latin typeface="Arial Black" pitchFamily="34" charset="0"/>
            </a:endParaRPr>
          </a:p>
          <a:p>
            <a:pPr eaLnBrk="1" hangingPunct="1"/>
            <a:endParaRPr lang="hu-HU" altLang="hu-HU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err="1" smtClean="0"/>
              <a:t>Földetérés</a:t>
            </a:r>
            <a:r>
              <a:rPr lang="hu-HU" dirty="0" smtClean="0"/>
              <a:t> különböző szélviszonyok mellett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3754438" cy="4800600"/>
          </a:xfrm>
        </p:spPr>
        <p:txBody>
          <a:bodyPr rtlCol="0">
            <a:normAutofit fontScale="92500" lnSpcReduction="10000"/>
          </a:bodyPr>
          <a:lstStyle/>
          <a:p>
            <a:pPr marL="11430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 smtClean="0"/>
              <a:t>Teljes siklásból</a:t>
            </a:r>
          </a:p>
          <a:p>
            <a:pPr marL="114300" indent="0" algn="just" eaLnBrk="1" fontAlgn="auto" hangingPunct="1">
              <a:spcBef>
                <a:spcPct val="5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 smtClean="0"/>
              <a:t>A </a:t>
            </a:r>
            <a:r>
              <a:rPr lang="hu-HU" dirty="0"/>
              <a:t>legtöbb légcellás kupolával lebegtetés nélkül biztonságosan földet lehet érni. A végső megközelítéskor, egyszerűen </a:t>
            </a:r>
            <a:r>
              <a:rPr lang="hu-HU" dirty="0" smtClean="0"/>
              <a:t>repülhetünk teljes sikláson, majd </a:t>
            </a:r>
            <a:r>
              <a:rPr lang="hu-HU" dirty="0"/>
              <a:t>a végleges fékezést éppen a </a:t>
            </a:r>
            <a:r>
              <a:rPr lang="hu-HU" dirty="0" err="1"/>
              <a:t>földetérés</a:t>
            </a:r>
            <a:r>
              <a:rPr lang="hu-HU" dirty="0"/>
              <a:t> </a:t>
            </a:r>
            <a:r>
              <a:rPr lang="hu-HU" dirty="0" smtClean="0"/>
              <a:t>előtt ~2-3 méterrel </a:t>
            </a:r>
            <a:r>
              <a:rPr lang="hu-HU" dirty="0"/>
              <a:t>növeljük </a:t>
            </a:r>
            <a:r>
              <a:rPr lang="hu-HU" dirty="0" smtClean="0"/>
              <a:t>meg, hármas </a:t>
            </a:r>
            <a:r>
              <a:rPr lang="hu-HU" dirty="0"/>
              <a:t>ü</a:t>
            </a:r>
            <a:r>
              <a:rPr lang="hu-HU" dirty="0" smtClean="0"/>
              <a:t>temben.  </a:t>
            </a:r>
            <a:r>
              <a:rPr lang="hu-HU" dirty="0"/>
              <a:t>(Minden légcellás </a:t>
            </a:r>
            <a:r>
              <a:rPr lang="hu-HU" dirty="0" err="1"/>
              <a:t>földetérés</a:t>
            </a:r>
            <a:r>
              <a:rPr lang="hu-HU" dirty="0"/>
              <a:t> széllel szemben történik).</a:t>
            </a:r>
          </a:p>
          <a:p>
            <a:pPr marL="114300" indent="0" algn="just" eaLnBrk="1" fontAlgn="auto" hangingPunct="1">
              <a:spcBef>
                <a:spcPct val="5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/>
              <a:t>Ez hasonlatos a hagyományos ejtőernyőkkel való </a:t>
            </a:r>
            <a:r>
              <a:rPr lang="hu-HU" dirty="0" err="1"/>
              <a:t>földetéréshez</a:t>
            </a:r>
            <a:r>
              <a:rPr lang="hu-HU" dirty="0"/>
              <a:t>, és a föld feletti sebesség a szélsebességtől függ.</a:t>
            </a:r>
          </a:p>
          <a:p>
            <a:pPr marL="114300" indent="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hu-HU" dirty="0"/>
          </a:p>
        </p:txBody>
      </p:sp>
      <p:pic>
        <p:nvPicPr>
          <p:cNvPr id="34820" name="Picture 8" descr="ff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484313"/>
            <a:ext cx="3332162" cy="535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err="1" smtClean="0"/>
              <a:t>Földetérés</a:t>
            </a:r>
            <a:r>
              <a:rPr lang="hu-HU" dirty="0" smtClean="0"/>
              <a:t> különböző szélviszonyok mellett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3754438" cy="4800600"/>
          </a:xfrm>
        </p:spPr>
        <p:txBody>
          <a:bodyPr rtlCol="0">
            <a:normAutofit fontScale="85000" lnSpcReduction="20000"/>
          </a:bodyPr>
          <a:lstStyle/>
          <a:p>
            <a:pPr marL="114300" indent="0" algn="just" eaLnBrk="1" fontAlgn="auto" hangingPunct="1">
              <a:spcBef>
                <a:spcPct val="5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 smtClean="0"/>
              <a:t>Fél féken, túlfékezett állapotban</a:t>
            </a:r>
          </a:p>
          <a:p>
            <a:pPr marL="114300" indent="0" algn="just" eaLnBrk="1" fontAlgn="auto" hangingPunct="1">
              <a:spcBef>
                <a:spcPct val="5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 smtClean="0"/>
              <a:t>A </a:t>
            </a:r>
            <a:r>
              <a:rPr lang="hu-HU" dirty="0"/>
              <a:t>legtöbb légcellás kupolával lebegtetés nélkül biztonságosan földet lehet érni. A végső megközelítéskor, egyszerűen repüljünk 50-75%-os fékkel úgy, hogy a végleges fékezést éppen a </a:t>
            </a:r>
            <a:r>
              <a:rPr lang="hu-HU" dirty="0" err="1"/>
              <a:t>földetérés</a:t>
            </a:r>
            <a:r>
              <a:rPr lang="hu-HU" dirty="0"/>
              <a:t> előtt növeljük meg. (Minden légcellás </a:t>
            </a:r>
            <a:r>
              <a:rPr lang="hu-HU" dirty="0" err="1"/>
              <a:t>földetérés</a:t>
            </a:r>
            <a:r>
              <a:rPr lang="hu-HU" dirty="0"/>
              <a:t> széllel szemben történik).</a:t>
            </a:r>
          </a:p>
          <a:p>
            <a:pPr marL="114300" indent="0" algn="just" eaLnBrk="1" fontAlgn="auto" hangingPunct="1">
              <a:spcBef>
                <a:spcPct val="5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/>
              <a:t>Ez hasonlatos a hagyományos ejtőernyőkkel való </a:t>
            </a:r>
            <a:r>
              <a:rPr lang="hu-HU" dirty="0" err="1"/>
              <a:t>földetéréshez</a:t>
            </a:r>
            <a:r>
              <a:rPr lang="hu-HU" dirty="0"/>
              <a:t>, és a föld feletti sebesség a szélsebességtől függ</a:t>
            </a:r>
            <a:r>
              <a:rPr lang="hu-HU" dirty="0" smtClean="0"/>
              <a:t>.</a:t>
            </a:r>
          </a:p>
          <a:p>
            <a:pPr marL="114300" indent="0" eaLnBrk="1" fontAlgn="auto" hangingPunct="1">
              <a:spcBef>
                <a:spcPct val="5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>
                <a:cs typeface="Arial" charset="0"/>
              </a:rPr>
              <a:t>A lebegtetett </a:t>
            </a:r>
            <a:r>
              <a:rPr lang="hu-HU" dirty="0" err="1">
                <a:cs typeface="Arial" charset="0"/>
              </a:rPr>
              <a:t>földetérés</a:t>
            </a:r>
            <a:r>
              <a:rPr lang="hu-HU" dirty="0">
                <a:cs typeface="Arial" charset="0"/>
              </a:rPr>
              <a:t> lényegében dinamikus átesés és ha túl nagy magasságon hajtják végre, komoly sérülést okozhat.</a:t>
            </a:r>
            <a:endParaRPr lang="hu-HU" dirty="0"/>
          </a:p>
          <a:p>
            <a:pPr marL="114300" indent="0" algn="just" eaLnBrk="1" fontAlgn="auto" hangingPunct="1">
              <a:spcBef>
                <a:spcPct val="5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hu-HU" dirty="0"/>
          </a:p>
        </p:txBody>
      </p:sp>
      <p:pic>
        <p:nvPicPr>
          <p:cNvPr id="35844" name="Picture 4" descr="f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441450"/>
            <a:ext cx="3384550" cy="541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err="1" smtClean="0"/>
              <a:t>Földetérés</a:t>
            </a:r>
            <a:r>
              <a:rPr lang="hu-HU" dirty="0" smtClean="0"/>
              <a:t> különböző tereptárgyak közelében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 algn="just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u-HU" dirty="0">
                <a:cs typeface="Arial" charset="0"/>
              </a:rPr>
              <a:t>A turbulencia, erősségét amely az ejtőernyőre hatással lehet, a következők </a:t>
            </a:r>
            <a:r>
              <a:rPr lang="hu-HU" dirty="0" smtClean="0">
                <a:cs typeface="Arial" charset="0"/>
              </a:rPr>
              <a:t>okozhatják:</a:t>
            </a:r>
            <a:endParaRPr lang="hu-HU" dirty="0"/>
          </a:p>
          <a:p>
            <a:pPr marL="457200" indent="-457200" algn="just" eaLnBrk="1" fontAlgn="auto" hangingPunct="1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dirty="0">
                <a:cs typeface="Arial" charset="0"/>
              </a:rPr>
              <a:t>Szilárd, légáramlást (szelet) akadályozó tárgyak, p</a:t>
            </a:r>
            <a:r>
              <a:rPr lang="hu-HU" dirty="0"/>
              <a:t>l</a:t>
            </a:r>
            <a:r>
              <a:rPr lang="hu-HU" dirty="0">
                <a:cs typeface="Arial" charset="0"/>
              </a:rPr>
              <a:t>. fák, dombok, épületek, stb</a:t>
            </a:r>
            <a:r>
              <a:rPr lang="hu-HU" dirty="0" smtClean="0">
                <a:cs typeface="Arial" charset="0"/>
              </a:rPr>
              <a:t>.</a:t>
            </a:r>
            <a:endParaRPr lang="hu-HU" dirty="0"/>
          </a:p>
          <a:p>
            <a:pPr marL="457200" indent="-457200" algn="just" eaLnBrk="1" fontAlgn="auto" hangingPunct="1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dirty="0">
                <a:cs typeface="Arial" charset="0"/>
              </a:rPr>
              <a:t> A levegő statikus instabi</a:t>
            </a:r>
            <a:r>
              <a:rPr lang="hu-HU" dirty="0"/>
              <a:t>li</a:t>
            </a:r>
            <a:r>
              <a:rPr lang="hu-HU" dirty="0">
                <a:cs typeface="Arial" charset="0"/>
              </a:rPr>
              <a:t>tása, (termikus tevékenység</a:t>
            </a:r>
            <a:r>
              <a:rPr lang="hu-HU" dirty="0" smtClean="0">
                <a:cs typeface="Arial" charset="0"/>
              </a:rPr>
              <a:t>).</a:t>
            </a:r>
            <a:endParaRPr lang="hu-HU" dirty="0"/>
          </a:p>
          <a:p>
            <a:pPr marL="457200" indent="-457200" algn="just" eaLnBrk="1" fontAlgn="auto" hangingPunct="1">
              <a:spcAft>
                <a:spcPts val="0"/>
              </a:spcAft>
              <a:buClr>
                <a:schemeClr val="tx1"/>
              </a:buClr>
              <a:buFont typeface="+mj-lt"/>
              <a:buAutoNum type="arabicPeriod"/>
              <a:defRPr/>
            </a:pPr>
            <a:r>
              <a:rPr lang="hu-HU" dirty="0">
                <a:cs typeface="Arial" charset="0"/>
              </a:rPr>
              <a:t> Szélnyírás (két légréteg közötti szélsebess</a:t>
            </a:r>
            <a:r>
              <a:rPr lang="hu-HU" dirty="0"/>
              <a:t>é</a:t>
            </a:r>
            <a:r>
              <a:rPr lang="hu-HU" dirty="0">
                <a:cs typeface="Arial" charset="0"/>
              </a:rPr>
              <a:t>g különbség).</a:t>
            </a:r>
            <a:endParaRPr lang="hu-HU" sz="1600" dirty="0"/>
          </a:p>
          <a:p>
            <a:pPr marL="0" indent="0" algn="just" eaLnBrk="1" fontAlgn="auto" hangingPunct="1">
              <a:spcAft>
                <a:spcPts val="0"/>
              </a:spcAft>
              <a:buFont typeface="Arial" charset="0"/>
              <a:buNone/>
              <a:defRPr/>
            </a:pPr>
            <a:r>
              <a:rPr lang="hu-HU" sz="2000" b="1" dirty="0"/>
              <a:t>T</a:t>
            </a:r>
            <a:r>
              <a:rPr lang="hu-HU" sz="2000" b="1" dirty="0" smtClean="0"/>
              <a:t>urbulens áramlás a levegő részecskék rendezetlen örvényszerű </a:t>
            </a:r>
            <a:r>
              <a:rPr lang="hu-HU" sz="2000" b="1" dirty="0" err="1" smtClean="0"/>
              <a:t>mozgasá</a:t>
            </a:r>
            <a:r>
              <a:rPr lang="hu-HU" sz="2000" b="1" dirty="0" smtClean="0"/>
              <a:t>, mely során a fő áramlási irányra merőleges mozgást is végeznek.</a:t>
            </a:r>
          </a:p>
        </p:txBody>
      </p:sp>
      <p:pic>
        <p:nvPicPr>
          <p:cNvPr id="36868" name="Picture 5" descr="t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4792663"/>
            <a:ext cx="2968625" cy="202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6" descr="t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5175250"/>
            <a:ext cx="3363912" cy="159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alphaModFix amt="70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hu-HU" dirty="0" smtClean="0"/>
              <a:t>Kézjelek ugrók irányításához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01650" y="1663700"/>
            <a:ext cx="7620000" cy="48006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sz="2400" dirty="0" smtClean="0"/>
              <a:t>teljes siklás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sz="24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sz="2400" dirty="0" smtClean="0"/>
              <a:t>negyed fék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sz="24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sz="2400" dirty="0" smtClean="0"/>
              <a:t>fél fék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sz="24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sz="2400" dirty="0" smtClean="0"/>
              <a:t>teljes fék / lebegtetés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sz="2400" dirty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sz="2400" dirty="0" smtClean="0"/>
              <a:t>bal forduló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hu-HU" sz="2400" dirty="0" smtClean="0"/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hu-HU" sz="2400" dirty="0" smtClean="0"/>
              <a:t>jobb forduló</a:t>
            </a:r>
            <a:endParaRPr lang="hu-HU" sz="2400" dirty="0"/>
          </a:p>
        </p:txBody>
      </p:sp>
      <p:grpSp>
        <p:nvGrpSpPr>
          <p:cNvPr id="37892" name="Group 17"/>
          <p:cNvGrpSpPr>
            <a:grpSpLocks/>
          </p:cNvGrpSpPr>
          <p:nvPr/>
        </p:nvGrpSpPr>
        <p:grpSpPr bwMode="auto">
          <a:xfrm>
            <a:off x="2771775" y="1160463"/>
            <a:ext cx="719138" cy="1295400"/>
            <a:chOff x="5252" y="2024"/>
            <a:chExt cx="453" cy="816"/>
          </a:xfrm>
        </p:grpSpPr>
        <p:sp>
          <p:nvSpPr>
            <p:cNvPr id="37952" name="Rectangle 14"/>
            <p:cNvSpPr>
              <a:spLocks noChangeArrowheads="1"/>
            </p:cNvSpPr>
            <p:nvPr/>
          </p:nvSpPr>
          <p:spPr bwMode="auto">
            <a:xfrm>
              <a:off x="5252" y="2024"/>
              <a:ext cx="90" cy="45"/>
            </a:xfrm>
            <a:prstGeom prst="rect">
              <a:avLst/>
            </a:prstGeom>
            <a:solidFill>
              <a:srgbClr val="E6E6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hu-HU" altLang="hu-HU" sz="1800"/>
            </a:p>
          </p:txBody>
        </p:sp>
        <p:grpSp>
          <p:nvGrpSpPr>
            <p:cNvPr id="37953" name="Group 16"/>
            <p:cNvGrpSpPr>
              <a:grpSpLocks/>
            </p:cNvGrpSpPr>
            <p:nvPr/>
          </p:nvGrpSpPr>
          <p:grpSpPr bwMode="auto">
            <a:xfrm>
              <a:off x="5343" y="2024"/>
              <a:ext cx="362" cy="816"/>
              <a:chOff x="5343" y="2024"/>
              <a:chExt cx="362" cy="816"/>
            </a:xfrm>
          </p:grpSpPr>
          <p:sp>
            <p:nvSpPr>
              <p:cNvPr id="37954" name="Line 4"/>
              <p:cNvSpPr>
                <a:spLocks noChangeShapeType="1"/>
              </p:cNvSpPr>
              <p:nvPr/>
            </p:nvSpPr>
            <p:spPr bwMode="auto">
              <a:xfrm>
                <a:off x="5479" y="2341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55" name="Line 5"/>
              <p:cNvSpPr>
                <a:spLocks noChangeShapeType="1"/>
              </p:cNvSpPr>
              <p:nvPr/>
            </p:nvSpPr>
            <p:spPr bwMode="auto">
              <a:xfrm flipH="1">
                <a:off x="5388" y="2568"/>
                <a:ext cx="91" cy="2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56" name="Line 6"/>
              <p:cNvSpPr>
                <a:spLocks noChangeShapeType="1"/>
              </p:cNvSpPr>
              <p:nvPr/>
            </p:nvSpPr>
            <p:spPr bwMode="auto">
              <a:xfrm>
                <a:off x="5479" y="2568"/>
                <a:ext cx="90" cy="2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57" name="Line 8"/>
              <p:cNvSpPr>
                <a:spLocks noChangeShapeType="1"/>
              </p:cNvSpPr>
              <p:nvPr/>
            </p:nvSpPr>
            <p:spPr bwMode="auto">
              <a:xfrm flipV="1">
                <a:off x="5479" y="2205"/>
                <a:ext cx="136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58" name="Line 9"/>
              <p:cNvSpPr>
                <a:spLocks noChangeShapeType="1"/>
              </p:cNvSpPr>
              <p:nvPr/>
            </p:nvSpPr>
            <p:spPr bwMode="auto">
              <a:xfrm flipH="1" flipV="1">
                <a:off x="5343" y="2205"/>
                <a:ext cx="136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59" name="Oval 10"/>
              <p:cNvSpPr>
                <a:spLocks noChangeArrowheads="1"/>
              </p:cNvSpPr>
              <p:nvPr/>
            </p:nvSpPr>
            <p:spPr bwMode="auto">
              <a:xfrm>
                <a:off x="5433" y="2251"/>
                <a:ext cx="91" cy="9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hu-HU" altLang="hu-HU" sz="1800"/>
              </a:p>
            </p:txBody>
          </p:sp>
          <p:sp>
            <p:nvSpPr>
              <p:cNvPr id="37960" name="Line 12"/>
              <p:cNvSpPr>
                <a:spLocks noChangeShapeType="1"/>
              </p:cNvSpPr>
              <p:nvPr/>
            </p:nvSpPr>
            <p:spPr bwMode="auto">
              <a:xfrm flipV="1">
                <a:off x="5615" y="2024"/>
                <a:ext cx="0" cy="181"/>
              </a:xfrm>
              <a:prstGeom prst="line">
                <a:avLst/>
              </a:prstGeom>
              <a:noFill/>
              <a:ln w="28575">
                <a:solidFill>
                  <a:srgbClr val="E6E61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61" name="Rectangle 13"/>
              <p:cNvSpPr>
                <a:spLocks noChangeArrowheads="1"/>
              </p:cNvSpPr>
              <p:nvPr/>
            </p:nvSpPr>
            <p:spPr bwMode="auto">
              <a:xfrm>
                <a:off x="5615" y="2024"/>
                <a:ext cx="90" cy="45"/>
              </a:xfrm>
              <a:prstGeom prst="rect">
                <a:avLst/>
              </a:prstGeom>
              <a:solidFill>
                <a:srgbClr val="E6E6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hu-HU" altLang="hu-HU" sz="1800"/>
              </a:p>
            </p:txBody>
          </p:sp>
          <p:sp>
            <p:nvSpPr>
              <p:cNvPr id="37962" name="Line 15"/>
              <p:cNvSpPr>
                <a:spLocks noChangeShapeType="1"/>
              </p:cNvSpPr>
              <p:nvPr/>
            </p:nvSpPr>
            <p:spPr bwMode="auto">
              <a:xfrm flipV="1">
                <a:off x="5343" y="2024"/>
                <a:ext cx="0" cy="181"/>
              </a:xfrm>
              <a:prstGeom prst="line">
                <a:avLst/>
              </a:prstGeom>
              <a:noFill/>
              <a:ln w="28575">
                <a:solidFill>
                  <a:srgbClr val="E6E61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</p:grpSp>
      </p:grpSp>
      <p:grpSp>
        <p:nvGrpSpPr>
          <p:cNvPr id="37893" name="Group 85"/>
          <p:cNvGrpSpPr>
            <a:grpSpLocks/>
          </p:cNvGrpSpPr>
          <p:nvPr/>
        </p:nvGrpSpPr>
        <p:grpSpPr bwMode="auto">
          <a:xfrm>
            <a:off x="3419475" y="2024063"/>
            <a:ext cx="1295400" cy="1008062"/>
            <a:chOff x="4526" y="2750"/>
            <a:chExt cx="816" cy="635"/>
          </a:xfrm>
        </p:grpSpPr>
        <p:sp>
          <p:nvSpPr>
            <p:cNvPr id="37943" name="Rectangle 19"/>
            <p:cNvSpPr>
              <a:spLocks noChangeArrowheads="1"/>
            </p:cNvSpPr>
            <p:nvPr/>
          </p:nvSpPr>
          <p:spPr bwMode="auto">
            <a:xfrm rot="2084092">
              <a:off x="4526" y="2750"/>
              <a:ext cx="87" cy="152"/>
            </a:xfrm>
            <a:prstGeom prst="rect">
              <a:avLst/>
            </a:prstGeom>
            <a:solidFill>
              <a:srgbClr val="E6E6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hu-HU" altLang="hu-HU" sz="1800"/>
            </a:p>
          </p:txBody>
        </p:sp>
        <p:sp>
          <p:nvSpPr>
            <p:cNvPr id="37944" name="Line 31"/>
            <p:cNvSpPr>
              <a:spLocks noChangeShapeType="1"/>
            </p:cNvSpPr>
            <p:nvPr/>
          </p:nvSpPr>
          <p:spPr bwMode="auto">
            <a:xfrm>
              <a:off x="4934" y="2886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45" name="Line 32"/>
            <p:cNvSpPr>
              <a:spLocks noChangeShapeType="1"/>
            </p:cNvSpPr>
            <p:nvPr/>
          </p:nvSpPr>
          <p:spPr bwMode="auto">
            <a:xfrm flipH="1">
              <a:off x="4843" y="3113"/>
              <a:ext cx="91" cy="27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46" name="Line 34"/>
            <p:cNvSpPr>
              <a:spLocks noChangeShapeType="1"/>
            </p:cNvSpPr>
            <p:nvPr/>
          </p:nvSpPr>
          <p:spPr bwMode="auto">
            <a:xfrm flipV="1">
              <a:off x="4934" y="2886"/>
              <a:ext cx="182" cy="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47" name="Line 35"/>
            <p:cNvSpPr>
              <a:spLocks noChangeShapeType="1"/>
            </p:cNvSpPr>
            <p:nvPr/>
          </p:nvSpPr>
          <p:spPr bwMode="auto">
            <a:xfrm flipH="1" flipV="1">
              <a:off x="4753" y="2886"/>
              <a:ext cx="181" cy="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48" name="Oval 36"/>
            <p:cNvSpPr>
              <a:spLocks noChangeArrowheads="1"/>
            </p:cNvSpPr>
            <p:nvPr/>
          </p:nvSpPr>
          <p:spPr bwMode="auto">
            <a:xfrm>
              <a:off x="4888" y="2796"/>
              <a:ext cx="91" cy="9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hu-HU" altLang="hu-HU" sz="1800"/>
            </a:p>
          </p:txBody>
        </p:sp>
        <p:sp>
          <p:nvSpPr>
            <p:cNvPr id="37949" name="Line 37"/>
            <p:cNvSpPr>
              <a:spLocks noChangeShapeType="1"/>
            </p:cNvSpPr>
            <p:nvPr/>
          </p:nvSpPr>
          <p:spPr bwMode="auto">
            <a:xfrm flipV="1">
              <a:off x="5116" y="2795"/>
              <a:ext cx="136" cy="91"/>
            </a:xfrm>
            <a:prstGeom prst="line">
              <a:avLst/>
            </a:prstGeom>
            <a:noFill/>
            <a:ln w="28575">
              <a:solidFill>
                <a:srgbClr val="E6E6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50" name="Rectangle 38"/>
            <p:cNvSpPr>
              <a:spLocks noChangeArrowheads="1"/>
            </p:cNvSpPr>
            <p:nvPr/>
          </p:nvSpPr>
          <p:spPr bwMode="auto">
            <a:xfrm rot="-2480473">
              <a:off x="5252" y="2750"/>
              <a:ext cx="90" cy="136"/>
            </a:xfrm>
            <a:prstGeom prst="rect">
              <a:avLst/>
            </a:prstGeom>
            <a:solidFill>
              <a:srgbClr val="E6E6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hu-HU" altLang="hu-HU" sz="1800"/>
            </a:p>
          </p:txBody>
        </p:sp>
        <p:sp>
          <p:nvSpPr>
            <p:cNvPr id="37951" name="Line 39"/>
            <p:cNvSpPr>
              <a:spLocks noChangeShapeType="1"/>
            </p:cNvSpPr>
            <p:nvPr/>
          </p:nvSpPr>
          <p:spPr bwMode="auto">
            <a:xfrm flipH="1" flipV="1">
              <a:off x="4617" y="2795"/>
              <a:ext cx="136" cy="90"/>
            </a:xfrm>
            <a:prstGeom prst="line">
              <a:avLst/>
            </a:prstGeom>
            <a:noFill/>
            <a:ln w="28575">
              <a:solidFill>
                <a:srgbClr val="E6E6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</p:grpSp>
      <p:sp>
        <p:nvSpPr>
          <p:cNvPr id="37894" name="Line 33"/>
          <p:cNvSpPr>
            <a:spLocks noChangeShapeType="1"/>
          </p:cNvSpPr>
          <p:nvPr/>
        </p:nvSpPr>
        <p:spPr bwMode="auto">
          <a:xfrm>
            <a:off x="4065588" y="2636838"/>
            <a:ext cx="142875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u-HU"/>
          </a:p>
        </p:txBody>
      </p:sp>
      <p:grpSp>
        <p:nvGrpSpPr>
          <p:cNvPr id="37895" name="Group 86"/>
          <p:cNvGrpSpPr>
            <a:grpSpLocks/>
          </p:cNvGrpSpPr>
          <p:nvPr/>
        </p:nvGrpSpPr>
        <p:grpSpPr bwMode="auto">
          <a:xfrm>
            <a:off x="4537075" y="2781300"/>
            <a:ext cx="1152525" cy="936625"/>
            <a:chOff x="5025" y="3566"/>
            <a:chExt cx="726" cy="590"/>
          </a:xfrm>
        </p:grpSpPr>
        <p:sp>
          <p:nvSpPr>
            <p:cNvPr id="37932" name="Line 76"/>
            <p:cNvSpPr>
              <a:spLocks noChangeShapeType="1"/>
            </p:cNvSpPr>
            <p:nvPr/>
          </p:nvSpPr>
          <p:spPr bwMode="auto">
            <a:xfrm flipV="1">
              <a:off x="5569" y="3748"/>
              <a:ext cx="182" cy="0"/>
            </a:xfrm>
            <a:prstGeom prst="line">
              <a:avLst/>
            </a:prstGeom>
            <a:noFill/>
            <a:ln w="28575">
              <a:solidFill>
                <a:srgbClr val="E6E6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33" name="Line 71"/>
            <p:cNvSpPr>
              <a:spLocks noChangeShapeType="1"/>
            </p:cNvSpPr>
            <p:nvPr/>
          </p:nvSpPr>
          <p:spPr bwMode="auto">
            <a:xfrm>
              <a:off x="5388" y="3657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grpSp>
          <p:nvGrpSpPr>
            <p:cNvPr id="37934" name="Group 84"/>
            <p:cNvGrpSpPr>
              <a:grpSpLocks/>
            </p:cNvGrpSpPr>
            <p:nvPr/>
          </p:nvGrpSpPr>
          <p:grpSpPr bwMode="auto">
            <a:xfrm>
              <a:off x="5025" y="3566"/>
              <a:ext cx="725" cy="590"/>
              <a:chOff x="5025" y="3566"/>
              <a:chExt cx="725" cy="590"/>
            </a:xfrm>
          </p:grpSpPr>
          <p:sp>
            <p:nvSpPr>
              <p:cNvPr id="37935" name="Line 73"/>
              <p:cNvSpPr>
                <a:spLocks noChangeShapeType="1"/>
              </p:cNvSpPr>
              <p:nvPr/>
            </p:nvSpPr>
            <p:spPr bwMode="auto">
              <a:xfrm>
                <a:off x="5388" y="3884"/>
                <a:ext cx="90" cy="2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36" name="Rectangle 70"/>
              <p:cNvSpPr>
                <a:spLocks noChangeArrowheads="1"/>
              </p:cNvSpPr>
              <p:nvPr/>
            </p:nvSpPr>
            <p:spPr bwMode="auto">
              <a:xfrm>
                <a:off x="5025" y="3748"/>
                <a:ext cx="90" cy="136"/>
              </a:xfrm>
              <a:prstGeom prst="rect">
                <a:avLst/>
              </a:prstGeom>
              <a:solidFill>
                <a:srgbClr val="E6E6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hu-HU" altLang="hu-HU" sz="1800"/>
              </a:p>
            </p:txBody>
          </p:sp>
          <p:sp>
            <p:nvSpPr>
              <p:cNvPr id="37937" name="Line 72"/>
              <p:cNvSpPr>
                <a:spLocks noChangeShapeType="1"/>
              </p:cNvSpPr>
              <p:nvPr/>
            </p:nvSpPr>
            <p:spPr bwMode="auto">
              <a:xfrm flipH="1">
                <a:off x="5297" y="3884"/>
                <a:ext cx="91" cy="2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38" name="Line 74"/>
              <p:cNvSpPr>
                <a:spLocks noChangeShapeType="1"/>
              </p:cNvSpPr>
              <p:nvPr/>
            </p:nvSpPr>
            <p:spPr bwMode="auto">
              <a:xfrm flipV="1">
                <a:off x="5388" y="3748"/>
                <a:ext cx="18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39" name="Line 75"/>
              <p:cNvSpPr>
                <a:spLocks noChangeShapeType="1"/>
              </p:cNvSpPr>
              <p:nvPr/>
            </p:nvSpPr>
            <p:spPr bwMode="auto">
              <a:xfrm flipH="1" flipV="1">
                <a:off x="5207" y="3748"/>
                <a:ext cx="18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40" name="Rectangle 77"/>
              <p:cNvSpPr>
                <a:spLocks noChangeArrowheads="1"/>
              </p:cNvSpPr>
              <p:nvPr/>
            </p:nvSpPr>
            <p:spPr bwMode="auto">
              <a:xfrm>
                <a:off x="5660" y="3748"/>
                <a:ext cx="90" cy="136"/>
              </a:xfrm>
              <a:prstGeom prst="rect">
                <a:avLst/>
              </a:prstGeom>
              <a:solidFill>
                <a:srgbClr val="E6E6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hu-HU" altLang="hu-HU" sz="1800"/>
              </a:p>
            </p:txBody>
          </p:sp>
          <p:sp>
            <p:nvSpPr>
              <p:cNvPr id="37941" name="Line 78"/>
              <p:cNvSpPr>
                <a:spLocks noChangeShapeType="1"/>
              </p:cNvSpPr>
              <p:nvPr/>
            </p:nvSpPr>
            <p:spPr bwMode="auto">
              <a:xfrm flipH="1">
                <a:off x="5025" y="3747"/>
                <a:ext cx="181" cy="1"/>
              </a:xfrm>
              <a:prstGeom prst="line">
                <a:avLst/>
              </a:prstGeom>
              <a:noFill/>
              <a:ln w="28575">
                <a:solidFill>
                  <a:srgbClr val="E6E61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42" name="Oval 79"/>
              <p:cNvSpPr>
                <a:spLocks noChangeArrowheads="1"/>
              </p:cNvSpPr>
              <p:nvPr/>
            </p:nvSpPr>
            <p:spPr bwMode="auto">
              <a:xfrm>
                <a:off x="5343" y="3566"/>
                <a:ext cx="91" cy="9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hu-HU" altLang="hu-HU" sz="1800"/>
              </a:p>
            </p:txBody>
          </p:sp>
        </p:grpSp>
      </p:grpSp>
      <p:grpSp>
        <p:nvGrpSpPr>
          <p:cNvPr id="37896" name="Group 109"/>
          <p:cNvGrpSpPr>
            <a:grpSpLocks/>
          </p:cNvGrpSpPr>
          <p:nvPr/>
        </p:nvGrpSpPr>
        <p:grpSpPr bwMode="auto">
          <a:xfrm>
            <a:off x="5419725" y="3522663"/>
            <a:ext cx="1079500" cy="936625"/>
            <a:chOff x="4979" y="300"/>
            <a:chExt cx="680" cy="590"/>
          </a:xfrm>
        </p:grpSpPr>
        <p:sp>
          <p:nvSpPr>
            <p:cNvPr id="37922" name="Line 49"/>
            <p:cNvSpPr>
              <a:spLocks noChangeShapeType="1"/>
            </p:cNvSpPr>
            <p:nvPr/>
          </p:nvSpPr>
          <p:spPr bwMode="auto">
            <a:xfrm>
              <a:off x="5297" y="391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grpSp>
          <p:nvGrpSpPr>
            <p:cNvPr id="37923" name="Group 108"/>
            <p:cNvGrpSpPr>
              <a:grpSpLocks/>
            </p:cNvGrpSpPr>
            <p:nvPr/>
          </p:nvGrpSpPr>
          <p:grpSpPr bwMode="auto">
            <a:xfrm>
              <a:off x="4979" y="300"/>
              <a:ext cx="680" cy="590"/>
              <a:chOff x="4979" y="300"/>
              <a:chExt cx="680" cy="590"/>
            </a:xfrm>
          </p:grpSpPr>
          <p:sp>
            <p:nvSpPr>
              <p:cNvPr id="37924" name="Line 96"/>
              <p:cNvSpPr>
                <a:spLocks noChangeShapeType="1"/>
              </p:cNvSpPr>
              <p:nvPr/>
            </p:nvSpPr>
            <p:spPr bwMode="auto">
              <a:xfrm flipH="1">
                <a:off x="5160" y="482"/>
                <a:ext cx="137" cy="1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25" name="Line 48"/>
              <p:cNvSpPr>
                <a:spLocks noChangeShapeType="1"/>
              </p:cNvSpPr>
              <p:nvPr/>
            </p:nvSpPr>
            <p:spPr bwMode="auto">
              <a:xfrm>
                <a:off x="5478" y="618"/>
                <a:ext cx="181" cy="136"/>
              </a:xfrm>
              <a:prstGeom prst="line">
                <a:avLst/>
              </a:prstGeom>
              <a:noFill/>
              <a:ln w="28575">
                <a:solidFill>
                  <a:srgbClr val="E6E61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26" name="Line 92"/>
              <p:cNvSpPr>
                <a:spLocks noChangeShapeType="1"/>
              </p:cNvSpPr>
              <p:nvPr/>
            </p:nvSpPr>
            <p:spPr bwMode="auto">
              <a:xfrm>
                <a:off x="5297" y="618"/>
                <a:ext cx="90" cy="2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27" name="Rectangle 93"/>
              <p:cNvSpPr>
                <a:spLocks noChangeArrowheads="1"/>
              </p:cNvSpPr>
              <p:nvPr/>
            </p:nvSpPr>
            <p:spPr bwMode="auto">
              <a:xfrm rot="-1672530">
                <a:off x="4979" y="709"/>
                <a:ext cx="100" cy="137"/>
              </a:xfrm>
              <a:prstGeom prst="rect">
                <a:avLst/>
              </a:prstGeom>
              <a:solidFill>
                <a:srgbClr val="E6E6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hu-HU" altLang="hu-HU" sz="1800"/>
              </a:p>
            </p:txBody>
          </p:sp>
          <p:sp>
            <p:nvSpPr>
              <p:cNvPr id="37928" name="Line 94"/>
              <p:cNvSpPr>
                <a:spLocks noChangeShapeType="1"/>
              </p:cNvSpPr>
              <p:nvPr/>
            </p:nvSpPr>
            <p:spPr bwMode="auto">
              <a:xfrm flipH="1">
                <a:off x="5206" y="618"/>
                <a:ext cx="91" cy="2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29" name="Rectangle 97"/>
              <p:cNvSpPr>
                <a:spLocks noChangeArrowheads="1"/>
              </p:cNvSpPr>
              <p:nvPr/>
            </p:nvSpPr>
            <p:spPr bwMode="auto">
              <a:xfrm rot="2058335">
                <a:off x="5537" y="698"/>
                <a:ext cx="91" cy="136"/>
              </a:xfrm>
              <a:prstGeom prst="rect">
                <a:avLst/>
              </a:prstGeom>
              <a:solidFill>
                <a:srgbClr val="E6E6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hu-HU" altLang="hu-HU" sz="1800"/>
              </a:p>
            </p:txBody>
          </p:sp>
          <p:sp>
            <p:nvSpPr>
              <p:cNvPr id="37930" name="Line 98"/>
              <p:cNvSpPr>
                <a:spLocks noChangeShapeType="1"/>
              </p:cNvSpPr>
              <p:nvPr/>
            </p:nvSpPr>
            <p:spPr bwMode="auto">
              <a:xfrm flipH="1">
                <a:off x="4979" y="618"/>
                <a:ext cx="181" cy="136"/>
              </a:xfrm>
              <a:prstGeom prst="line">
                <a:avLst/>
              </a:prstGeom>
              <a:noFill/>
              <a:ln w="28575">
                <a:solidFill>
                  <a:srgbClr val="E6E61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31" name="Oval 99"/>
              <p:cNvSpPr>
                <a:spLocks noChangeArrowheads="1"/>
              </p:cNvSpPr>
              <p:nvPr/>
            </p:nvSpPr>
            <p:spPr bwMode="auto">
              <a:xfrm>
                <a:off x="5252" y="300"/>
                <a:ext cx="91" cy="9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hu-HU" altLang="hu-HU" sz="1800"/>
              </a:p>
            </p:txBody>
          </p:sp>
        </p:grpSp>
      </p:grpSp>
      <p:sp>
        <p:nvSpPr>
          <p:cNvPr id="37897" name="Line 95"/>
          <p:cNvSpPr>
            <a:spLocks noChangeShapeType="1"/>
          </p:cNvSpPr>
          <p:nvPr/>
        </p:nvSpPr>
        <p:spPr bwMode="auto">
          <a:xfrm>
            <a:off x="5905500" y="3825875"/>
            <a:ext cx="287338" cy="215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u-HU"/>
          </a:p>
        </p:txBody>
      </p:sp>
      <p:grpSp>
        <p:nvGrpSpPr>
          <p:cNvPr id="37898" name="Group 100"/>
          <p:cNvGrpSpPr>
            <a:grpSpLocks/>
          </p:cNvGrpSpPr>
          <p:nvPr/>
        </p:nvGrpSpPr>
        <p:grpSpPr bwMode="auto">
          <a:xfrm>
            <a:off x="6192838" y="4259263"/>
            <a:ext cx="1150937" cy="1223962"/>
            <a:chOff x="4844" y="1298"/>
            <a:chExt cx="725" cy="771"/>
          </a:xfrm>
        </p:grpSpPr>
        <p:sp>
          <p:nvSpPr>
            <p:cNvPr id="37910" name="Line 30"/>
            <p:cNvSpPr>
              <a:spLocks noChangeShapeType="1"/>
            </p:cNvSpPr>
            <p:nvPr/>
          </p:nvSpPr>
          <p:spPr bwMode="auto">
            <a:xfrm flipV="1">
              <a:off x="5252" y="1480"/>
              <a:ext cx="136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grpSp>
          <p:nvGrpSpPr>
            <p:cNvPr id="37911" name="Group 90"/>
            <p:cNvGrpSpPr>
              <a:grpSpLocks/>
            </p:cNvGrpSpPr>
            <p:nvPr/>
          </p:nvGrpSpPr>
          <p:grpSpPr bwMode="auto">
            <a:xfrm>
              <a:off x="4844" y="1298"/>
              <a:ext cx="725" cy="771"/>
              <a:chOff x="4890" y="1344"/>
              <a:chExt cx="680" cy="771"/>
            </a:xfrm>
          </p:grpSpPr>
          <p:sp>
            <p:nvSpPr>
              <p:cNvPr id="37912" name="Line 25"/>
              <p:cNvSpPr>
                <a:spLocks noChangeShapeType="1"/>
              </p:cNvSpPr>
              <p:nvPr/>
            </p:nvSpPr>
            <p:spPr bwMode="auto">
              <a:xfrm>
                <a:off x="5252" y="1616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13" name="Line 27"/>
              <p:cNvSpPr>
                <a:spLocks noChangeShapeType="1"/>
              </p:cNvSpPr>
              <p:nvPr/>
            </p:nvSpPr>
            <p:spPr bwMode="auto">
              <a:xfrm>
                <a:off x="5253" y="1843"/>
                <a:ext cx="90" cy="2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14" name="Rectangle 28"/>
              <p:cNvSpPr>
                <a:spLocks noChangeArrowheads="1"/>
              </p:cNvSpPr>
              <p:nvPr/>
            </p:nvSpPr>
            <p:spPr bwMode="auto">
              <a:xfrm>
                <a:off x="4890" y="1707"/>
                <a:ext cx="90" cy="136"/>
              </a:xfrm>
              <a:prstGeom prst="rect">
                <a:avLst/>
              </a:prstGeom>
              <a:solidFill>
                <a:srgbClr val="E6E6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hu-HU" altLang="hu-HU" sz="1800"/>
              </a:p>
            </p:txBody>
          </p:sp>
          <p:sp>
            <p:nvSpPr>
              <p:cNvPr id="37915" name="Line 29"/>
              <p:cNvSpPr>
                <a:spLocks noChangeShapeType="1"/>
              </p:cNvSpPr>
              <p:nvPr/>
            </p:nvSpPr>
            <p:spPr bwMode="auto">
              <a:xfrm flipH="1">
                <a:off x="5162" y="1843"/>
                <a:ext cx="91" cy="2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16" name="Line 31"/>
              <p:cNvSpPr>
                <a:spLocks noChangeShapeType="1"/>
              </p:cNvSpPr>
              <p:nvPr/>
            </p:nvSpPr>
            <p:spPr bwMode="auto">
              <a:xfrm flipH="1" flipV="1">
                <a:off x="5072" y="1707"/>
                <a:ext cx="18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grpSp>
            <p:nvGrpSpPr>
              <p:cNvPr id="37917" name="Group 89"/>
              <p:cNvGrpSpPr>
                <a:grpSpLocks/>
              </p:cNvGrpSpPr>
              <p:nvPr/>
            </p:nvGrpSpPr>
            <p:grpSpPr bwMode="auto">
              <a:xfrm>
                <a:off x="5388" y="1344"/>
                <a:ext cx="182" cy="181"/>
                <a:chOff x="5388" y="1344"/>
                <a:chExt cx="182" cy="181"/>
              </a:xfrm>
            </p:grpSpPr>
            <p:sp>
              <p:nvSpPr>
                <p:cNvPr id="37920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5388" y="1344"/>
                  <a:ext cx="0" cy="181"/>
                </a:xfrm>
                <a:prstGeom prst="line">
                  <a:avLst/>
                </a:prstGeom>
                <a:noFill/>
                <a:ln w="28575">
                  <a:solidFill>
                    <a:srgbClr val="E6E61A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hu-HU"/>
                </a:p>
              </p:txBody>
            </p:sp>
            <p:sp>
              <p:nvSpPr>
                <p:cNvPr id="37921" name="Rectangle 32"/>
                <p:cNvSpPr>
                  <a:spLocks noChangeArrowheads="1"/>
                </p:cNvSpPr>
                <p:nvPr/>
              </p:nvSpPr>
              <p:spPr bwMode="auto">
                <a:xfrm rot="5988545">
                  <a:off x="5433" y="1299"/>
                  <a:ext cx="92" cy="182"/>
                </a:xfrm>
                <a:prstGeom prst="rect">
                  <a:avLst/>
                </a:prstGeom>
                <a:solidFill>
                  <a:srgbClr val="E6E6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2200">
                      <a:solidFill>
                        <a:schemeClr val="tx1"/>
                      </a:solidFill>
                      <a:latin typeface="Calibri" pitchFamily="34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accent2"/>
                    </a:buClr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Calibri" pitchFamily="34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rgbClr val="000000"/>
                    </a:buClr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Calibri" pitchFamily="34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rgbClr val="000000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Calibri" pitchFamily="34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rgbClr val="000000"/>
                    </a:buClr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Calibri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Calibri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Calibri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Calibri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Calibri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hu-HU" altLang="hu-HU" sz="1800"/>
                </a:p>
              </p:txBody>
            </p:sp>
          </p:grpSp>
          <p:sp>
            <p:nvSpPr>
              <p:cNvPr id="37918" name="Line 33"/>
              <p:cNvSpPr>
                <a:spLocks noChangeShapeType="1"/>
              </p:cNvSpPr>
              <p:nvPr/>
            </p:nvSpPr>
            <p:spPr bwMode="auto">
              <a:xfrm flipH="1">
                <a:off x="4890" y="1706"/>
                <a:ext cx="181" cy="1"/>
              </a:xfrm>
              <a:prstGeom prst="line">
                <a:avLst/>
              </a:prstGeom>
              <a:noFill/>
              <a:ln w="28575">
                <a:solidFill>
                  <a:srgbClr val="E6E61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37919" name="Oval 34"/>
              <p:cNvSpPr>
                <a:spLocks noChangeArrowheads="1"/>
              </p:cNvSpPr>
              <p:nvPr/>
            </p:nvSpPr>
            <p:spPr bwMode="auto">
              <a:xfrm>
                <a:off x="5208" y="1525"/>
                <a:ext cx="91" cy="9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2200">
                    <a:solidFill>
                      <a:schemeClr val="tx1"/>
                    </a:solidFill>
                    <a:latin typeface="Calibri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accent2"/>
                  </a:buClr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Calibri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Calibri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Calibri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Calibri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hu-HU" altLang="hu-HU" sz="1800"/>
              </a:p>
            </p:txBody>
          </p:sp>
        </p:grpSp>
      </p:grpSp>
      <p:sp>
        <p:nvSpPr>
          <p:cNvPr id="37899" name="Line 39"/>
          <p:cNvSpPr>
            <a:spLocks noChangeShapeType="1"/>
          </p:cNvSpPr>
          <p:nvPr/>
        </p:nvSpPr>
        <p:spPr bwMode="auto">
          <a:xfrm>
            <a:off x="7699375" y="5943600"/>
            <a:ext cx="134938" cy="4333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hu-HU"/>
          </a:p>
        </p:txBody>
      </p:sp>
      <p:grpSp>
        <p:nvGrpSpPr>
          <p:cNvPr id="37900" name="Group 71"/>
          <p:cNvGrpSpPr>
            <a:grpSpLocks/>
          </p:cNvGrpSpPr>
          <p:nvPr/>
        </p:nvGrpSpPr>
        <p:grpSpPr bwMode="auto">
          <a:xfrm>
            <a:off x="7185025" y="5153025"/>
            <a:ext cx="1081088" cy="1225550"/>
            <a:chOff x="4934" y="2432"/>
            <a:chExt cx="681" cy="772"/>
          </a:xfrm>
        </p:grpSpPr>
        <p:sp>
          <p:nvSpPr>
            <p:cNvPr id="37901" name="Line 36"/>
            <p:cNvSpPr>
              <a:spLocks noChangeShapeType="1"/>
            </p:cNvSpPr>
            <p:nvPr/>
          </p:nvSpPr>
          <p:spPr bwMode="auto">
            <a:xfrm flipV="1">
              <a:off x="5433" y="2796"/>
              <a:ext cx="182" cy="0"/>
            </a:xfrm>
            <a:prstGeom prst="line">
              <a:avLst/>
            </a:prstGeom>
            <a:noFill/>
            <a:ln w="28575">
              <a:solidFill>
                <a:srgbClr val="E6E6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02" name="Line 37"/>
            <p:cNvSpPr>
              <a:spLocks noChangeShapeType="1"/>
            </p:cNvSpPr>
            <p:nvPr/>
          </p:nvSpPr>
          <p:spPr bwMode="auto">
            <a:xfrm>
              <a:off x="5252" y="2705"/>
              <a:ext cx="0" cy="22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03" name="Rectangle 40"/>
            <p:cNvSpPr>
              <a:spLocks noChangeArrowheads="1"/>
            </p:cNvSpPr>
            <p:nvPr/>
          </p:nvSpPr>
          <p:spPr bwMode="auto">
            <a:xfrm rot="15310835" flipH="1">
              <a:off x="4973" y="2393"/>
              <a:ext cx="87" cy="166"/>
            </a:xfrm>
            <a:prstGeom prst="rect">
              <a:avLst/>
            </a:prstGeom>
            <a:solidFill>
              <a:srgbClr val="E6E6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hu-HU" altLang="hu-HU" sz="1800"/>
            </a:p>
          </p:txBody>
        </p:sp>
        <p:sp>
          <p:nvSpPr>
            <p:cNvPr id="37904" name="Line 41"/>
            <p:cNvSpPr>
              <a:spLocks noChangeShapeType="1"/>
            </p:cNvSpPr>
            <p:nvPr/>
          </p:nvSpPr>
          <p:spPr bwMode="auto">
            <a:xfrm flipH="1">
              <a:off x="5161" y="2930"/>
              <a:ext cx="92" cy="27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05" name="Line 42"/>
            <p:cNvSpPr>
              <a:spLocks noChangeShapeType="1"/>
            </p:cNvSpPr>
            <p:nvPr/>
          </p:nvSpPr>
          <p:spPr bwMode="auto">
            <a:xfrm flipV="1">
              <a:off x="5252" y="2796"/>
              <a:ext cx="183" cy="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06" name="Line 43"/>
            <p:cNvSpPr>
              <a:spLocks noChangeShapeType="1"/>
            </p:cNvSpPr>
            <p:nvPr/>
          </p:nvSpPr>
          <p:spPr bwMode="auto">
            <a:xfrm flipH="1" flipV="1">
              <a:off x="5116" y="2566"/>
              <a:ext cx="138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07" name="Rectangle 44"/>
            <p:cNvSpPr>
              <a:spLocks noChangeArrowheads="1"/>
            </p:cNvSpPr>
            <p:nvPr/>
          </p:nvSpPr>
          <p:spPr bwMode="auto">
            <a:xfrm>
              <a:off x="5524" y="2795"/>
              <a:ext cx="91" cy="137"/>
            </a:xfrm>
            <a:prstGeom prst="rect">
              <a:avLst/>
            </a:prstGeom>
            <a:solidFill>
              <a:srgbClr val="E6E6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hu-HU" altLang="hu-HU" sz="1800"/>
            </a:p>
          </p:txBody>
        </p:sp>
        <p:sp>
          <p:nvSpPr>
            <p:cNvPr id="37908" name="Line 45"/>
            <p:cNvSpPr>
              <a:spLocks noChangeShapeType="1"/>
            </p:cNvSpPr>
            <p:nvPr/>
          </p:nvSpPr>
          <p:spPr bwMode="auto">
            <a:xfrm flipH="1" flipV="1">
              <a:off x="5070" y="2432"/>
              <a:ext cx="46" cy="136"/>
            </a:xfrm>
            <a:prstGeom prst="line">
              <a:avLst/>
            </a:prstGeom>
            <a:noFill/>
            <a:ln w="28575">
              <a:solidFill>
                <a:srgbClr val="E6E6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hu-HU"/>
            </a:p>
          </p:txBody>
        </p:sp>
        <p:sp>
          <p:nvSpPr>
            <p:cNvPr id="37909" name="Oval 46"/>
            <p:cNvSpPr>
              <a:spLocks noChangeArrowheads="1"/>
            </p:cNvSpPr>
            <p:nvPr/>
          </p:nvSpPr>
          <p:spPr bwMode="auto">
            <a:xfrm>
              <a:off x="5207" y="2613"/>
              <a:ext cx="92" cy="9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2200"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hu-HU" altLang="hu-HU" sz="18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Kiugrási pont meghatározás</a:t>
            </a:r>
            <a:endParaRPr lang="hu-HU" dirty="0"/>
          </a:p>
        </p:txBody>
      </p:sp>
      <p:cxnSp>
        <p:nvCxnSpPr>
          <p:cNvPr id="7" name="Egyenes összekötő 6"/>
          <p:cNvCxnSpPr/>
          <p:nvPr/>
        </p:nvCxnSpPr>
        <p:spPr>
          <a:xfrm>
            <a:off x="4035425" y="5229225"/>
            <a:ext cx="0" cy="431800"/>
          </a:xfrm>
          <a:prstGeom prst="line">
            <a:avLst/>
          </a:prstGeom>
          <a:ln w="889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/>
          <p:cNvCxnSpPr/>
          <p:nvPr/>
        </p:nvCxnSpPr>
        <p:spPr>
          <a:xfrm>
            <a:off x="3779838" y="5445125"/>
            <a:ext cx="512762" cy="0"/>
          </a:xfrm>
          <a:prstGeom prst="line">
            <a:avLst/>
          </a:prstGeom>
          <a:ln w="889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efelé nyíl 11"/>
          <p:cNvSpPr/>
          <p:nvPr/>
        </p:nvSpPr>
        <p:spPr>
          <a:xfrm>
            <a:off x="683568" y="2060848"/>
            <a:ext cx="720080" cy="111803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tx1"/>
                </a:solidFill>
              </a:rPr>
              <a:t>6 m/s</a:t>
            </a:r>
          </a:p>
        </p:txBody>
      </p:sp>
      <p:sp>
        <p:nvSpPr>
          <p:cNvPr id="13" name="Ellipszis 12"/>
          <p:cNvSpPr/>
          <p:nvPr/>
        </p:nvSpPr>
        <p:spPr>
          <a:xfrm>
            <a:off x="5353050" y="3178175"/>
            <a:ext cx="179388" cy="163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>
              <a:ln>
                <a:solidFill>
                  <a:srgbClr val="92D050"/>
                </a:solidFill>
              </a:ln>
            </a:endParaRPr>
          </a:p>
        </p:txBody>
      </p:sp>
      <p:cxnSp>
        <p:nvCxnSpPr>
          <p:cNvPr id="15" name="Egyenes összekötő 14"/>
          <p:cNvCxnSpPr/>
          <p:nvPr/>
        </p:nvCxnSpPr>
        <p:spPr>
          <a:xfrm>
            <a:off x="250825" y="6572250"/>
            <a:ext cx="22447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16"/>
          <p:cNvCxnSpPr/>
          <p:nvPr/>
        </p:nvCxnSpPr>
        <p:spPr>
          <a:xfrm>
            <a:off x="250825" y="64881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19"/>
          <p:cNvCxnSpPr/>
          <p:nvPr/>
        </p:nvCxnSpPr>
        <p:spPr>
          <a:xfrm>
            <a:off x="684213" y="64881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20"/>
          <p:cNvCxnSpPr/>
          <p:nvPr/>
        </p:nvCxnSpPr>
        <p:spPr>
          <a:xfrm>
            <a:off x="1116013" y="65008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21"/>
          <p:cNvCxnSpPr/>
          <p:nvPr/>
        </p:nvCxnSpPr>
        <p:spPr>
          <a:xfrm>
            <a:off x="1619250" y="65008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22"/>
          <p:cNvCxnSpPr/>
          <p:nvPr/>
        </p:nvCxnSpPr>
        <p:spPr>
          <a:xfrm>
            <a:off x="2051050" y="65008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gyenes összekötő 23"/>
          <p:cNvCxnSpPr/>
          <p:nvPr/>
        </p:nvCxnSpPr>
        <p:spPr>
          <a:xfrm>
            <a:off x="2484438" y="64881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26" name="Szövegdoboz 24"/>
          <p:cNvSpPr txBox="1">
            <a:spLocks noChangeArrowheads="1"/>
          </p:cNvSpPr>
          <p:nvPr/>
        </p:nvSpPr>
        <p:spPr bwMode="auto">
          <a:xfrm>
            <a:off x="107950" y="6284913"/>
            <a:ext cx="30956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000"/>
              <a:t>100       200        300          400          500         600 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églalap 35"/>
          <p:cNvSpPr/>
          <p:nvPr/>
        </p:nvSpPr>
        <p:spPr>
          <a:xfrm>
            <a:off x="1042988" y="5445125"/>
            <a:ext cx="6192837" cy="1223963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/>
          </a:p>
        </p:txBody>
      </p:sp>
      <p:sp>
        <p:nvSpPr>
          <p:cNvPr id="33" name="Téglalap 32"/>
          <p:cNvSpPr/>
          <p:nvPr/>
        </p:nvSpPr>
        <p:spPr>
          <a:xfrm>
            <a:off x="1042988" y="2205038"/>
            <a:ext cx="6192837" cy="3240087"/>
          </a:xfrm>
          <a:prstGeom prst="rect">
            <a:avLst/>
          </a:prstGeom>
          <a:solidFill>
            <a:srgbClr val="1EB41E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Kiugrási pont meghatározás</a:t>
            </a:r>
            <a:endParaRPr lang="hu-HU" dirty="0"/>
          </a:p>
        </p:txBody>
      </p:sp>
      <p:cxnSp>
        <p:nvCxnSpPr>
          <p:cNvPr id="7" name="Egyenes összekötő 6"/>
          <p:cNvCxnSpPr/>
          <p:nvPr/>
        </p:nvCxnSpPr>
        <p:spPr>
          <a:xfrm>
            <a:off x="4035425" y="5229225"/>
            <a:ext cx="0" cy="431800"/>
          </a:xfrm>
          <a:prstGeom prst="line">
            <a:avLst/>
          </a:prstGeom>
          <a:ln w="889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/>
          <p:cNvCxnSpPr/>
          <p:nvPr/>
        </p:nvCxnSpPr>
        <p:spPr>
          <a:xfrm>
            <a:off x="3779838" y="5445125"/>
            <a:ext cx="512762" cy="0"/>
          </a:xfrm>
          <a:prstGeom prst="line">
            <a:avLst/>
          </a:prstGeom>
          <a:ln w="889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efelé nyíl 11"/>
          <p:cNvSpPr/>
          <p:nvPr/>
        </p:nvSpPr>
        <p:spPr>
          <a:xfrm>
            <a:off x="683568" y="2060848"/>
            <a:ext cx="720080" cy="111803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tx1"/>
                </a:solidFill>
              </a:rPr>
              <a:t>6 m/s</a:t>
            </a:r>
          </a:p>
        </p:txBody>
      </p:sp>
      <p:sp>
        <p:nvSpPr>
          <p:cNvPr id="13" name="Ellipszis 12"/>
          <p:cNvSpPr/>
          <p:nvPr/>
        </p:nvSpPr>
        <p:spPr>
          <a:xfrm>
            <a:off x="5353050" y="3178175"/>
            <a:ext cx="179388" cy="163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>
              <a:ln>
                <a:solidFill>
                  <a:srgbClr val="92D050"/>
                </a:solidFill>
              </a:ln>
            </a:endParaRPr>
          </a:p>
        </p:txBody>
      </p:sp>
      <p:cxnSp>
        <p:nvCxnSpPr>
          <p:cNvPr id="15" name="Egyenes összekötő 14"/>
          <p:cNvCxnSpPr/>
          <p:nvPr/>
        </p:nvCxnSpPr>
        <p:spPr>
          <a:xfrm>
            <a:off x="250825" y="6572250"/>
            <a:ext cx="22447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16"/>
          <p:cNvCxnSpPr/>
          <p:nvPr/>
        </p:nvCxnSpPr>
        <p:spPr>
          <a:xfrm>
            <a:off x="250825" y="64881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19"/>
          <p:cNvCxnSpPr/>
          <p:nvPr/>
        </p:nvCxnSpPr>
        <p:spPr>
          <a:xfrm>
            <a:off x="684213" y="64881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20"/>
          <p:cNvCxnSpPr/>
          <p:nvPr/>
        </p:nvCxnSpPr>
        <p:spPr>
          <a:xfrm>
            <a:off x="1116013" y="65008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21"/>
          <p:cNvCxnSpPr/>
          <p:nvPr/>
        </p:nvCxnSpPr>
        <p:spPr>
          <a:xfrm>
            <a:off x="1619250" y="65008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22"/>
          <p:cNvCxnSpPr/>
          <p:nvPr/>
        </p:nvCxnSpPr>
        <p:spPr>
          <a:xfrm>
            <a:off x="2051050" y="65008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gyenes összekötő 23"/>
          <p:cNvCxnSpPr/>
          <p:nvPr/>
        </p:nvCxnSpPr>
        <p:spPr>
          <a:xfrm>
            <a:off x="2484438" y="64881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52" name="Szövegdoboz 24"/>
          <p:cNvSpPr txBox="1">
            <a:spLocks noChangeArrowheads="1"/>
          </p:cNvSpPr>
          <p:nvPr/>
        </p:nvSpPr>
        <p:spPr bwMode="auto">
          <a:xfrm>
            <a:off x="107950" y="6284913"/>
            <a:ext cx="30956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000"/>
              <a:t>100       200        300          400          500         600 m</a:t>
            </a:r>
          </a:p>
        </p:txBody>
      </p:sp>
      <p:cxnSp>
        <p:nvCxnSpPr>
          <p:cNvPr id="27" name="Egyenes összekötő 26"/>
          <p:cNvCxnSpPr/>
          <p:nvPr/>
        </p:nvCxnSpPr>
        <p:spPr>
          <a:xfrm>
            <a:off x="4035425" y="1628775"/>
            <a:ext cx="6350" cy="50403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27"/>
          <p:cNvCxnSpPr/>
          <p:nvPr/>
        </p:nvCxnSpPr>
        <p:spPr>
          <a:xfrm>
            <a:off x="468313" y="5445125"/>
            <a:ext cx="77755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Kiugrási pont meghatározás</a:t>
            </a:r>
            <a:endParaRPr lang="hu-HU" dirty="0"/>
          </a:p>
        </p:txBody>
      </p:sp>
      <p:cxnSp>
        <p:nvCxnSpPr>
          <p:cNvPr id="7" name="Egyenes összekötő 6"/>
          <p:cNvCxnSpPr/>
          <p:nvPr/>
        </p:nvCxnSpPr>
        <p:spPr>
          <a:xfrm>
            <a:off x="4179888" y="3509963"/>
            <a:ext cx="0" cy="431800"/>
          </a:xfrm>
          <a:prstGeom prst="line">
            <a:avLst/>
          </a:prstGeom>
          <a:ln w="889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/>
          <p:cNvCxnSpPr/>
          <p:nvPr/>
        </p:nvCxnSpPr>
        <p:spPr>
          <a:xfrm>
            <a:off x="3924300" y="3716338"/>
            <a:ext cx="512763" cy="0"/>
          </a:xfrm>
          <a:prstGeom prst="line">
            <a:avLst/>
          </a:prstGeom>
          <a:ln w="889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efelé nyíl 11"/>
          <p:cNvSpPr/>
          <p:nvPr/>
        </p:nvSpPr>
        <p:spPr>
          <a:xfrm rot="7200000">
            <a:off x="625038" y="1373064"/>
            <a:ext cx="720080" cy="111803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tx1"/>
                </a:solidFill>
              </a:rPr>
              <a:t>6 m/s</a:t>
            </a:r>
          </a:p>
        </p:txBody>
      </p:sp>
      <p:sp>
        <p:nvSpPr>
          <p:cNvPr id="13" name="Ellipszis 12"/>
          <p:cNvSpPr/>
          <p:nvPr/>
        </p:nvSpPr>
        <p:spPr>
          <a:xfrm>
            <a:off x="1439863" y="3489325"/>
            <a:ext cx="179387" cy="161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>
              <a:ln>
                <a:solidFill>
                  <a:srgbClr val="92D050"/>
                </a:solidFill>
              </a:ln>
            </a:endParaRPr>
          </a:p>
        </p:txBody>
      </p:sp>
      <p:cxnSp>
        <p:nvCxnSpPr>
          <p:cNvPr id="8" name="Egyenes összekötő 7"/>
          <p:cNvCxnSpPr/>
          <p:nvPr/>
        </p:nvCxnSpPr>
        <p:spPr>
          <a:xfrm>
            <a:off x="250825" y="6597650"/>
            <a:ext cx="22447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/>
          <p:cNvCxnSpPr/>
          <p:nvPr/>
        </p:nvCxnSpPr>
        <p:spPr>
          <a:xfrm>
            <a:off x="250825" y="65135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/>
          <p:cNvCxnSpPr/>
          <p:nvPr/>
        </p:nvCxnSpPr>
        <p:spPr>
          <a:xfrm>
            <a:off x="684213" y="65135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13"/>
          <p:cNvCxnSpPr/>
          <p:nvPr/>
        </p:nvCxnSpPr>
        <p:spPr>
          <a:xfrm>
            <a:off x="1116013" y="6524625"/>
            <a:ext cx="0" cy="169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/>
          <p:cNvCxnSpPr/>
          <p:nvPr/>
        </p:nvCxnSpPr>
        <p:spPr>
          <a:xfrm>
            <a:off x="1619250" y="6524625"/>
            <a:ext cx="0" cy="169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/>
          <p:cNvCxnSpPr/>
          <p:nvPr/>
        </p:nvCxnSpPr>
        <p:spPr>
          <a:xfrm>
            <a:off x="2051050" y="6524625"/>
            <a:ext cx="0" cy="169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16"/>
          <p:cNvCxnSpPr/>
          <p:nvPr/>
        </p:nvCxnSpPr>
        <p:spPr>
          <a:xfrm>
            <a:off x="2484438" y="65135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4" name="Szövegdoboz 17"/>
          <p:cNvSpPr txBox="1">
            <a:spLocks noChangeArrowheads="1"/>
          </p:cNvSpPr>
          <p:nvPr/>
        </p:nvSpPr>
        <p:spPr bwMode="auto">
          <a:xfrm>
            <a:off x="107950" y="6308725"/>
            <a:ext cx="30956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000"/>
              <a:t>100       200        300          400          500         600 m</a:t>
            </a:r>
          </a:p>
        </p:txBody>
      </p:sp>
      <p:cxnSp>
        <p:nvCxnSpPr>
          <p:cNvPr id="4" name="Egyenes összekötő 3"/>
          <p:cNvCxnSpPr/>
          <p:nvPr/>
        </p:nvCxnSpPr>
        <p:spPr>
          <a:xfrm>
            <a:off x="1530350" y="2276475"/>
            <a:ext cx="6065838" cy="3240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/>
          <p:cNvCxnSpPr/>
          <p:nvPr/>
        </p:nvCxnSpPr>
        <p:spPr>
          <a:xfrm flipH="1">
            <a:off x="2627313" y="1773238"/>
            <a:ext cx="2665412" cy="4535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églalap 27"/>
          <p:cNvSpPr/>
          <p:nvPr/>
        </p:nvSpPr>
        <p:spPr>
          <a:xfrm rot="7200000">
            <a:off x="2726531" y="3123407"/>
            <a:ext cx="5076825" cy="2617788"/>
          </a:xfrm>
          <a:prstGeom prst="rect">
            <a:avLst/>
          </a:prstGeom>
          <a:solidFill>
            <a:srgbClr val="1EB41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/>
          </a:p>
        </p:txBody>
      </p:sp>
      <p:sp>
        <p:nvSpPr>
          <p:cNvPr id="20" name="Téglalap 19"/>
          <p:cNvSpPr/>
          <p:nvPr/>
        </p:nvSpPr>
        <p:spPr>
          <a:xfrm rot="7200000">
            <a:off x="461963" y="1816100"/>
            <a:ext cx="5106988" cy="2617787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Kiugrási pont meghatározás</a:t>
            </a:r>
            <a:endParaRPr lang="hu-HU" dirty="0"/>
          </a:p>
        </p:txBody>
      </p:sp>
      <p:cxnSp>
        <p:nvCxnSpPr>
          <p:cNvPr id="7" name="Egyenes összekötő 6"/>
          <p:cNvCxnSpPr/>
          <p:nvPr/>
        </p:nvCxnSpPr>
        <p:spPr>
          <a:xfrm>
            <a:off x="4179888" y="3509963"/>
            <a:ext cx="0" cy="431800"/>
          </a:xfrm>
          <a:prstGeom prst="line">
            <a:avLst/>
          </a:prstGeom>
          <a:ln w="889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/>
          <p:cNvCxnSpPr/>
          <p:nvPr/>
        </p:nvCxnSpPr>
        <p:spPr>
          <a:xfrm>
            <a:off x="3924300" y="3716338"/>
            <a:ext cx="512763" cy="0"/>
          </a:xfrm>
          <a:prstGeom prst="line">
            <a:avLst/>
          </a:prstGeom>
          <a:ln w="889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Lefelé nyíl 11"/>
          <p:cNvSpPr/>
          <p:nvPr/>
        </p:nvSpPr>
        <p:spPr>
          <a:xfrm rot="7200000">
            <a:off x="625038" y="1373064"/>
            <a:ext cx="720080" cy="1118030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dirty="0">
                <a:solidFill>
                  <a:schemeClr val="tx1"/>
                </a:solidFill>
              </a:rPr>
              <a:t>6 m/s</a:t>
            </a:r>
          </a:p>
        </p:txBody>
      </p:sp>
      <p:sp>
        <p:nvSpPr>
          <p:cNvPr id="13" name="Ellipszis 12"/>
          <p:cNvSpPr/>
          <p:nvPr/>
        </p:nvSpPr>
        <p:spPr>
          <a:xfrm>
            <a:off x="1439863" y="3489325"/>
            <a:ext cx="179387" cy="1619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hu-HU">
              <a:ln>
                <a:solidFill>
                  <a:srgbClr val="92D050"/>
                </a:solidFill>
              </a:ln>
            </a:endParaRPr>
          </a:p>
        </p:txBody>
      </p:sp>
      <p:cxnSp>
        <p:nvCxnSpPr>
          <p:cNvPr id="8" name="Egyenes összekötő 7"/>
          <p:cNvCxnSpPr/>
          <p:nvPr/>
        </p:nvCxnSpPr>
        <p:spPr>
          <a:xfrm>
            <a:off x="250825" y="6597650"/>
            <a:ext cx="22447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/>
          <p:cNvCxnSpPr/>
          <p:nvPr/>
        </p:nvCxnSpPr>
        <p:spPr>
          <a:xfrm>
            <a:off x="250825" y="65135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/>
          <p:cNvCxnSpPr/>
          <p:nvPr/>
        </p:nvCxnSpPr>
        <p:spPr>
          <a:xfrm>
            <a:off x="684213" y="65135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13"/>
          <p:cNvCxnSpPr/>
          <p:nvPr/>
        </p:nvCxnSpPr>
        <p:spPr>
          <a:xfrm>
            <a:off x="1116013" y="6524625"/>
            <a:ext cx="0" cy="169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/>
          <p:cNvCxnSpPr/>
          <p:nvPr/>
        </p:nvCxnSpPr>
        <p:spPr>
          <a:xfrm>
            <a:off x="1619250" y="6524625"/>
            <a:ext cx="0" cy="169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15"/>
          <p:cNvCxnSpPr/>
          <p:nvPr/>
        </p:nvCxnSpPr>
        <p:spPr>
          <a:xfrm>
            <a:off x="2051050" y="6524625"/>
            <a:ext cx="0" cy="169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16"/>
          <p:cNvCxnSpPr/>
          <p:nvPr/>
        </p:nvCxnSpPr>
        <p:spPr>
          <a:xfrm>
            <a:off x="2484438" y="6513513"/>
            <a:ext cx="0" cy="16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00" name="Szövegdoboz 17"/>
          <p:cNvSpPr txBox="1">
            <a:spLocks noChangeArrowheads="1"/>
          </p:cNvSpPr>
          <p:nvPr/>
        </p:nvSpPr>
        <p:spPr bwMode="auto">
          <a:xfrm>
            <a:off x="107950" y="6308725"/>
            <a:ext cx="30956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Arial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hu-HU" altLang="hu-HU" sz="1000"/>
              <a:t>100       200        300          400          500         600 m</a:t>
            </a:r>
          </a:p>
        </p:txBody>
      </p:sp>
      <p:cxnSp>
        <p:nvCxnSpPr>
          <p:cNvPr id="4" name="Egyenes összekötő 3"/>
          <p:cNvCxnSpPr/>
          <p:nvPr/>
        </p:nvCxnSpPr>
        <p:spPr>
          <a:xfrm>
            <a:off x="1530350" y="2276475"/>
            <a:ext cx="6065838" cy="3240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5"/>
          <p:cNvCxnSpPr/>
          <p:nvPr/>
        </p:nvCxnSpPr>
        <p:spPr>
          <a:xfrm flipH="1">
            <a:off x="2627313" y="1773238"/>
            <a:ext cx="2665412" cy="4535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hu-HU" dirty="0" smtClean="0"/>
              <a:t>Köszönöm a figyelmet!</a:t>
            </a:r>
            <a:endParaRPr lang="hu-HU" dirty="0"/>
          </a:p>
        </p:txBody>
      </p:sp>
      <p:pic>
        <p:nvPicPr>
          <p:cNvPr id="43012" name="Picture 2" descr="F:\Swartzy\Swartzy Downloads\Fogpót\ok\dog-yawnin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8" y="2565400"/>
            <a:ext cx="4100512" cy="380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elhő 4"/>
          <p:cNvSpPr/>
          <p:nvPr/>
        </p:nvSpPr>
        <p:spPr>
          <a:xfrm>
            <a:off x="4427538" y="1628775"/>
            <a:ext cx="3671887" cy="2376488"/>
          </a:xfrm>
          <a:prstGeom prst="cloudCallout">
            <a:avLst>
              <a:gd name="adj1" fmla="val -70211"/>
              <a:gd name="adj2" fmla="val 5693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hu-HU" sz="2100" b="1" dirty="0">
                <a:ln w="17780" cmpd="sng">
                  <a:noFill/>
                  <a:prstDash val="solid"/>
                  <a:miter lim="800000"/>
                </a:ln>
                <a:solidFill>
                  <a:srgbClr val="000000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HA NAGY LESZEK HELIKOPTER LESZEK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imuló">
  <a:themeElements>
    <a:clrScheme name="Egyéni 3. sém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uló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513</TotalTime>
  <Words>1383</Words>
  <Application>Microsoft Office PowerPoint</Application>
  <PresentationFormat>Diavetítés a képernyőre (4:3 oldalarány)</PresentationFormat>
  <Paragraphs>176</Paragraphs>
  <Slides>32</Slides>
  <Notes>3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32</vt:i4>
      </vt:variant>
    </vt:vector>
  </HeadingPairs>
  <TitlesOfParts>
    <vt:vector size="33" baseType="lpstr">
      <vt:lpstr>Simuló</vt:lpstr>
      <vt:lpstr>Irányítástechnika  és az  iskolakör</vt:lpstr>
      <vt:lpstr>Irányítás technika</vt:lpstr>
      <vt:lpstr>Ernyő irányításának elmélete</vt:lpstr>
      <vt:lpstr>Teljes siklás</vt:lpstr>
      <vt:lpstr>Negyed fék</vt:lpstr>
      <vt:lpstr>Fél fék</vt:lpstr>
      <vt:lpstr>Teljes fék</vt:lpstr>
      <vt:lpstr>Tartós átesés</vt:lpstr>
      <vt:lpstr>PowerPoint bemutató</vt:lpstr>
      <vt:lpstr>Dinamikus átesés</vt:lpstr>
      <vt:lpstr>PowerPoint bemutató</vt:lpstr>
      <vt:lpstr>Ismétlő definíciók</vt:lpstr>
      <vt:lpstr>Ereszkedés a célterületre</vt:lpstr>
      <vt:lpstr>Ereszkedés a célterületre</vt:lpstr>
      <vt:lpstr>Iskolakör felépítése</vt:lpstr>
      <vt:lpstr>Iskolakör felépítése</vt:lpstr>
      <vt:lpstr>Iskolakör felépítése</vt:lpstr>
      <vt:lpstr>Iskolakör felépítése</vt:lpstr>
      <vt:lpstr>Iskolakör felépítése</vt:lpstr>
      <vt:lpstr>Iskolakör felépítése</vt:lpstr>
      <vt:lpstr>Iskolakör, földetérés</vt:lpstr>
      <vt:lpstr>Iskolakör, földetérés –  végső megközelítés szakasza</vt:lpstr>
      <vt:lpstr>Iskolakör, földetérés</vt:lpstr>
      <vt:lpstr>Földetérés különböző szélviszonyok mellett</vt:lpstr>
      <vt:lpstr>Földetérés különböző szélviszonyok mellett</vt:lpstr>
      <vt:lpstr>Földetérés különböző tereptárgyak közelében</vt:lpstr>
      <vt:lpstr>Kézjelek ugrók irányításához</vt:lpstr>
      <vt:lpstr>Kiugrási pont meghatározás</vt:lpstr>
      <vt:lpstr>Kiugrási pont meghatározás</vt:lpstr>
      <vt:lpstr>Kiugrási pont meghatározás</vt:lpstr>
      <vt:lpstr>Kiugrási pont meghatározás</vt:lpstr>
      <vt:lpstr>Köszönöm a figyelmet!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Ejtőernyős irányítástechnika és az  iskolakör</dc:title>
  <dc:creator>Csabi</dc:creator>
  <cp:lastModifiedBy>Kata</cp:lastModifiedBy>
  <cp:revision>76</cp:revision>
  <dcterms:created xsi:type="dcterms:W3CDTF">2014-10-29T18:26:54Z</dcterms:created>
  <dcterms:modified xsi:type="dcterms:W3CDTF">2025-09-09T04:17:54Z</dcterms:modified>
</cp:coreProperties>
</file>