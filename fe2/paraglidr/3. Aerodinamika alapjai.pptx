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06666"/>
    <a:srgbClr val="0099CC"/>
    <a:srgbClr val="660066"/>
    <a:srgbClr val="660033"/>
    <a:srgbClr val="1C1C1C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2" autoAdjust="0"/>
    <p:restoredTop sz="94652" autoAdjust="0"/>
  </p:normalViewPr>
  <p:slideViewPr>
    <p:cSldViewPr>
      <p:cViewPr varScale="1">
        <p:scale>
          <a:sx n="70" d="100"/>
          <a:sy n="70" d="100"/>
        </p:scale>
        <p:origin x="-133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34BC7-2A7B-4EC7-A3BD-02B6C188B6E2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330109935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3D9C85-D347-4CE4-A866-34DE18A34066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1758625117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00B9B-A8D5-4913-91E2-B2CCA1CECBF0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409486584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145DE-F52B-40FF-8C23-6CEBCDC838BE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2708454282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AB5B08-146F-4F4D-886B-F44C8445F383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99675697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59654-DB7C-4306-A794-516573965040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3724339456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113D22-F55A-4E72-9146-3988B4BF2A84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351280634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EE936-80F7-44E4-974D-F4C3AA61E8E9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417716317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FC5D4-0A68-4803-8AF6-CF4DAA7523E4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260950370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8FA3F-F7EC-47D6-AA4D-2D0FFBF8DB7C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746050471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12358-029F-4E80-AD54-383191B0424A}" type="slidenum">
              <a:rPr lang="es-ES" altLang="hu-HU"/>
              <a:pPr/>
              <a:t>‹#›</a:t>
            </a:fld>
            <a:endParaRPr lang="es-ES" altLang="hu-HU"/>
          </a:p>
        </p:txBody>
      </p:sp>
    </p:spTree>
    <p:extLst>
      <p:ext uri="{BB962C8B-B14F-4D97-AF65-F5344CB8AC3E}">
        <p14:creationId xmlns:p14="http://schemas.microsoft.com/office/powerpoint/2010/main" val="4053911754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hu-HU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hu-HU" smtClean="0"/>
              <a:t>Haga clic para modificar el estilo de texto del patrón</a:t>
            </a:r>
          </a:p>
          <a:p>
            <a:pPr lvl="1"/>
            <a:r>
              <a:rPr lang="es-ES" altLang="hu-HU" smtClean="0"/>
              <a:t>Segundo nivel</a:t>
            </a:r>
          </a:p>
          <a:p>
            <a:pPr lvl="2"/>
            <a:r>
              <a:rPr lang="es-ES" altLang="hu-HU" smtClean="0"/>
              <a:t>Tercer nivel</a:t>
            </a:r>
          </a:p>
          <a:p>
            <a:pPr lvl="3"/>
            <a:r>
              <a:rPr lang="es-ES" altLang="hu-HU" smtClean="0"/>
              <a:t>Cuarto nivel</a:t>
            </a:r>
          </a:p>
          <a:p>
            <a:pPr lvl="4"/>
            <a:r>
              <a:rPr lang="es-ES" altLang="hu-HU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endParaRPr lang="es-ES" altLang="hu-H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/>
            </a:lvl1pPr>
          </a:lstStyle>
          <a:p>
            <a:endParaRPr lang="es-ES" altLang="hu-H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62391A96-7DF1-4954-B534-7172CDA03BC9}" type="slidenum">
              <a:rPr lang="es-ES" altLang="hu-HU"/>
              <a:pPr/>
              <a:t>‹#›</a:t>
            </a:fld>
            <a:endParaRPr lang="es-ES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395288" y="2492375"/>
            <a:ext cx="6048920" cy="647700"/>
          </a:xfrm>
        </p:spPr>
        <p:txBody>
          <a:bodyPr/>
          <a:lstStyle/>
          <a:p>
            <a:pPr algn="l"/>
            <a:r>
              <a:rPr lang="hu-HU" dirty="0" smtClean="0">
                <a:solidFill>
                  <a:schemeClr val="bg1"/>
                </a:solidFill>
              </a:rPr>
              <a:t>Aerodinamika alapjai</a:t>
            </a:r>
            <a:endParaRPr lang="es-ES" altLang="hu-HU" dirty="0">
              <a:solidFill>
                <a:schemeClr val="bg1"/>
              </a:solidFill>
            </a:endParaRPr>
          </a:p>
        </p:txBody>
      </p:sp>
      <p:sp>
        <p:nvSpPr>
          <p:cNvPr id="2218" name="Rectangle 170"/>
          <p:cNvSpPr>
            <a:spLocks noChangeArrowheads="1"/>
          </p:cNvSpPr>
          <p:nvPr/>
        </p:nvSpPr>
        <p:spPr bwMode="auto">
          <a:xfrm>
            <a:off x="1835696" y="5734050"/>
            <a:ext cx="7344817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r>
              <a:rPr lang="hu-HU" sz="1800" dirty="0" smtClean="0">
                <a:solidFill>
                  <a:schemeClr val="bg1"/>
                </a:solidFill>
              </a:rPr>
              <a:t>Ajánlott irodalom:</a:t>
            </a:r>
          </a:p>
          <a:p>
            <a:pPr algn="r"/>
            <a:endParaRPr lang="hu-HU" sz="1800" dirty="0" smtClean="0">
              <a:solidFill>
                <a:schemeClr val="bg1"/>
              </a:solidFill>
            </a:endParaRPr>
          </a:p>
          <a:p>
            <a:pPr algn="r"/>
            <a:r>
              <a:rPr lang="hu-HU" sz="1800" dirty="0" err="1" smtClean="0">
                <a:solidFill>
                  <a:schemeClr val="bg1"/>
                </a:solidFill>
              </a:rPr>
              <a:t>Jereb</a:t>
            </a:r>
            <a:r>
              <a:rPr lang="hu-HU" sz="1800" dirty="0" smtClean="0">
                <a:solidFill>
                  <a:schemeClr val="bg1"/>
                </a:solidFill>
              </a:rPr>
              <a:t> Gábor: Aerodinamika és repüléselmélet I., Műszaki Kiadó, 1977</a:t>
            </a:r>
          </a:p>
          <a:p>
            <a:pPr algn="r"/>
            <a:r>
              <a:rPr lang="hu-HU" sz="1800" dirty="0" err="1" smtClean="0">
                <a:solidFill>
                  <a:schemeClr val="bg1"/>
                </a:solidFill>
              </a:rPr>
              <a:t>Jereb</a:t>
            </a:r>
            <a:r>
              <a:rPr lang="hu-HU" sz="1800" dirty="0" smtClean="0">
                <a:solidFill>
                  <a:schemeClr val="bg1"/>
                </a:solidFill>
              </a:rPr>
              <a:t> Gábor: Repülési alapismeretek, Műszaki Kiadó, 1980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Aerodinamika</a:t>
            </a:r>
            <a:r>
              <a:rPr lang="es-UY" altLang="hu-HU" dirty="0" smtClean="0">
                <a:solidFill>
                  <a:schemeClr val="tx1"/>
                </a:solidFill>
              </a:rPr>
              <a:t> 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r>
              <a:rPr lang="hu-HU" altLang="hu-HU" dirty="0" smtClean="0">
                <a:solidFill>
                  <a:schemeClr val="bg1"/>
                </a:solidFill>
              </a:rPr>
              <a:t>Az aerodinamika (</a:t>
            </a:r>
            <a:r>
              <a:rPr lang="hu-HU" altLang="hu-HU" dirty="0" err="1" smtClean="0">
                <a:solidFill>
                  <a:schemeClr val="bg1"/>
                </a:solidFill>
              </a:rPr>
              <a:t>légerőtan</a:t>
            </a:r>
            <a:r>
              <a:rPr lang="hu-HU" altLang="hu-HU" dirty="0" smtClean="0">
                <a:solidFill>
                  <a:schemeClr val="bg1"/>
                </a:solidFill>
              </a:rPr>
              <a:t>) az aeronautika (repüléstan) egyik legfontosabb tudományága, mely a levegő, illetve más gázok mozgásának, áramlásának törvényszerűségeivel foglalkozik. </a:t>
            </a:r>
            <a:endParaRPr lang="hu-HU" dirty="0" smtClean="0">
              <a:solidFill>
                <a:schemeClr val="bg1"/>
              </a:solidFill>
            </a:endParaRPr>
          </a:p>
          <a:p>
            <a:endParaRPr lang="hu-HU" altLang="hu-H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Levegő fizikai tulajdonságai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688" y="1268760"/>
            <a:ext cx="7200900" cy="5589240"/>
          </a:xfrm>
        </p:spPr>
        <p:txBody>
          <a:bodyPr/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hőmérséklet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Hőmérséklet </a:t>
            </a:r>
            <a:r>
              <a:rPr lang="hu-HU" sz="2000" dirty="0" err="1" smtClean="0">
                <a:solidFill>
                  <a:schemeClr val="bg1"/>
                </a:solidFill>
              </a:rPr>
              <a:t>grádiens</a:t>
            </a:r>
            <a:r>
              <a:rPr lang="hu-HU" sz="2000" dirty="0" smtClean="0">
                <a:solidFill>
                  <a:schemeClr val="bg1"/>
                </a:solidFill>
              </a:rPr>
              <a:t>: 1 km magasságváltozás során bekövetkező hőmérséklet változás (1000 m – 6,5 </a:t>
            </a:r>
            <a:r>
              <a:rPr lang="hu-HU" sz="2000" b="1" dirty="0" smtClean="0">
                <a:solidFill>
                  <a:schemeClr val="bg1"/>
                </a:solidFill>
              </a:rPr>
              <a:t>C°</a:t>
            </a:r>
            <a:r>
              <a:rPr lang="hu-HU" sz="2000" dirty="0" smtClean="0">
                <a:solidFill>
                  <a:schemeClr val="bg1"/>
                </a:solidFill>
              </a:rPr>
              <a:t>).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légnyomás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Normális légnyomás: tengerszinten 0 </a:t>
            </a:r>
            <a:r>
              <a:rPr lang="hu-HU" sz="2000" dirty="0" err="1" smtClean="0">
                <a:solidFill>
                  <a:schemeClr val="bg1"/>
                </a:solidFill>
              </a:rPr>
              <a:t>C°-on</a:t>
            </a:r>
            <a:r>
              <a:rPr lang="hu-HU" sz="2000" dirty="0" smtClean="0">
                <a:solidFill>
                  <a:schemeClr val="bg1"/>
                </a:solidFill>
              </a:rPr>
              <a:t>, a 45. szélességi fok mentén egyenlő 76 cm magas higanyoszlop nyomásával. Ez 1 </a:t>
            </a:r>
            <a:r>
              <a:rPr lang="hu-HU" sz="2000" dirty="0" err="1" smtClean="0">
                <a:solidFill>
                  <a:schemeClr val="bg1"/>
                </a:solidFill>
              </a:rPr>
              <a:t>atm</a:t>
            </a:r>
            <a:r>
              <a:rPr lang="hu-HU" sz="2000" dirty="0" smtClean="0">
                <a:solidFill>
                  <a:schemeClr val="bg1"/>
                </a:solidFill>
              </a:rPr>
              <a:t> </a:t>
            </a:r>
            <a:r>
              <a:rPr lang="hu-HU" sz="2000" dirty="0" smtClean="0">
                <a:solidFill>
                  <a:schemeClr val="bg1"/>
                </a:solidFill>
              </a:rPr>
              <a:t>= 760 Hgmm = 760 </a:t>
            </a:r>
            <a:r>
              <a:rPr lang="hu-HU" sz="2000" dirty="0" err="1" smtClean="0">
                <a:solidFill>
                  <a:schemeClr val="bg1"/>
                </a:solidFill>
              </a:rPr>
              <a:t>torr</a:t>
            </a:r>
            <a:r>
              <a:rPr lang="hu-HU" sz="2000" dirty="0" smtClean="0">
                <a:solidFill>
                  <a:schemeClr val="bg1"/>
                </a:solidFill>
              </a:rPr>
              <a:t> = 101 325 Pa. 1 bar = 100 000 </a:t>
            </a:r>
            <a:r>
              <a:rPr lang="hu-HU" sz="2000" dirty="0" smtClean="0">
                <a:solidFill>
                  <a:schemeClr val="bg1"/>
                </a:solidFill>
              </a:rPr>
              <a:t>Pa = 1 </a:t>
            </a:r>
            <a:r>
              <a:rPr lang="hu-HU" sz="2000" smtClean="0">
                <a:solidFill>
                  <a:schemeClr val="bg1"/>
                </a:solidFill>
              </a:rPr>
              <a:t>000 hPa. </a:t>
            </a:r>
            <a:r>
              <a:rPr lang="hu-HU" sz="2000" dirty="0" smtClean="0">
                <a:solidFill>
                  <a:schemeClr val="bg1"/>
                </a:solidFill>
              </a:rPr>
              <a:t>1 </a:t>
            </a:r>
            <a:r>
              <a:rPr lang="hu-HU" sz="2000" dirty="0" err="1" smtClean="0">
                <a:solidFill>
                  <a:schemeClr val="bg1"/>
                </a:solidFill>
              </a:rPr>
              <a:t>mb</a:t>
            </a:r>
            <a:r>
              <a:rPr lang="hu-HU" sz="2000" dirty="0" smtClean="0">
                <a:solidFill>
                  <a:schemeClr val="bg1"/>
                </a:solidFill>
              </a:rPr>
              <a:t> = 100 Pa = 1 hPa.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A légnyomás ~5500 m-enként feleződik.  11 méterenként 1 Hgmm-t csökken.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Függ a t</a:t>
            </a:r>
            <a:r>
              <a:rPr lang="hu-HU" altLang="hu-HU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engerszint feletti magasságtól, földrajzi szélességtől, évszaktól, hőmérséklettől, relatív páratartalomtól.</a:t>
            </a:r>
            <a:endParaRPr lang="hu-HU" sz="2000" dirty="0" smtClean="0">
              <a:solidFill>
                <a:schemeClr val="bg1"/>
              </a:solidFill>
            </a:endParaRPr>
          </a:p>
          <a:p>
            <a:r>
              <a:rPr lang="hu-HU" sz="2400" dirty="0" smtClean="0">
                <a:solidFill>
                  <a:schemeClr val="bg1"/>
                </a:solidFill>
              </a:rPr>
              <a:t>sűrűség, fajsúly </a:t>
            </a:r>
            <a:r>
              <a:rPr lang="hu-HU" sz="2000" dirty="0" smtClean="0">
                <a:solidFill>
                  <a:schemeClr val="bg1"/>
                </a:solidFill>
              </a:rPr>
              <a:t/>
            </a:r>
            <a:br>
              <a:rPr lang="hu-HU" sz="2000" dirty="0" smtClean="0">
                <a:solidFill>
                  <a:schemeClr val="bg1"/>
                </a:solidFill>
              </a:rPr>
            </a:br>
            <a:r>
              <a:rPr lang="hu-HU" sz="2000" dirty="0" smtClean="0">
                <a:solidFill>
                  <a:schemeClr val="bg1"/>
                </a:solidFill>
              </a:rPr>
              <a:t>Függ a hőmérséklettől és a légnyomástól. Troposzférában nagyságuk fordítottan arányos a magassággal.</a:t>
            </a:r>
          </a:p>
          <a:p>
            <a:endParaRPr lang="hu-HU" altLang="hu-H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hu-HU" sz="2800" dirty="0" smtClean="0"/>
              <a:t>Nemzetközi Egyezményes Légkör (NEL)</a:t>
            </a:r>
            <a:br>
              <a:rPr lang="hu-HU" sz="2800" dirty="0" smtClean="0"/>
            </a:br>
            <a:r>
              <a:rPr lang="hu-HU" sz="2800" dirty="0" smtClean="0"/>
              <a:t>International Standard </a:t>
            </a:r>
            <a:r>
              <a:rPr lang="hu-HU" sz="2800" dirty="0" err="1" smtClean="0"/>
              <a:t>Atmosphere</a:t>
            </a:r>
            <a:r>
              <a:rPr lang="hu-HU" sz="2800" dirty="0" smtClean="0"/>
              <a:t> (ISA)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 hőmérséklet, légnyomás, sűrűség, fajsúly a magasság függvényében változik, sőt a Föld különböző pontjain más és más, plusz az időjárás is befolyásolja.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 légi járművek tervezésének, mérő műszerek (különösen magasságmérő) beosztásának kialakításánál, kalibrálásánál fontos figyelembe veendő szempont, ezért  létrehozták (ICAO) a </a:t>
            </a:r>
            <a:r>
              <a:rPr lang="hu-HU" sz="2400" dirty="0" err="1" smtClean="0">
                <a:solidFill>
                  <a:schemeClr val="bg1"/>
                </a:solidFill>
              </a:rPr>
              <a:t>NEL-t</a:t>
            </a:r>
            <a:r>
              <a:rPr lang="hu-HU" sz="2400" dirty="0" smtClean="0">
                <a:solidFill>
                  <a:schemeClr val="bg1"/>
                </a:solidFill>
              </a:rPr>
              <a:t>, mely a levegő tulajdonságait 20 km magasságig egyesíti.</a:t>
            </a:r>
          </a:p>
          <a:p>
            <a:endParaRPr lang="hu-HU" altLang="hu-HU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28638" y="1341"/>
            <a:ext cx="8229600" cy="1143000"/>
          </a:xfrm>
        </p:spPr>
        <p:txBody>
          <a:bodyPr>
            <a:noAutofit/>
          </a:bodyPr>
          <a:lstStyle/>
          <a:p>
            <a:r>
              <a:rPr lang="hu-HU" sz="3600" dirty="0" smtClean="0"/>
              <a:t>Nemzetközi </a:t>
            </a:r>
            <a:r>
              <a:rPr lang="hu-HU" sz="3600" dirty="0"/>
              <a:t>E</a:t>
            </a:r>
            <a:r>
              <a:rPr lang="hu-HU" sz="3600" dirty="0" smtClean="0"/>
              <a:t>gyezményes Légkör szerepe a repülésben</a:t>
            </a:r>
            <a:endParaRPr lang="hu-HU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668381" y="1484784"/>
            <a:ext cx="7210425" cy="1252735"/>
          </a:xfrm>
        </p:spPr>
        <p:txBody>
          <a:bodyPr>
            <a:noAutofit/>
          </a:bodyPr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Két repülő ugyan azon a magasságon repül, pedig műszerük különböző magasságértéket jelez.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6" name="Freeform 24"/>
          <p:cNvSpPr>
            <a:spLocks/>
          </p:cNvSpPr>
          <p:nvPr/>
        </p:nvSpPr>
        <p:spPr bwMode="auto">
          <a:xfrm>
            <a:off x="2627784" y="5189800"/>
            <a:ext cx="6191250" cy="1223963"/>
          </a:xfrm>
          <a:custGeom>
            <a:avLst/>
            <a:gdLst>
              <a:gd name="T0" fmla="*/ 0 w 2177"/>
              <a:gd name="T1" fmla="*/ 1943042235 h 771"/>
              <a:gd name="T2" fmla="*/ 0 w 2177"/>
              <a:gd name="T3" fmla="*/ 1030745192 h 771"/>
              <a:gd name="T4" fmla="*/ 2147483647 w 2177"/>
              <a:gd name="T5" fmla="*/ 1030745192 h 771"/>
              <a:gd name="T6" fmla="*/ 2147483647 w 2177"/>
              <a:gd name="T7" fmla="*/ 0 h 771"/>
              <a:gd name="T8" fmla="*/ 2147483647 w 2177"/>
              <a:gd name="T9" fmla="*/ 0 h 771"/>
              <a:gd name="T10" fmla="*/ 2147483647 w 2177"/>
              <a:gd name="T11" fmla="*/ 1943042235 h 771"/>
              <a:gd name="T12" fmla="*/ 0 w 2177"/>
              <a:gd name="T13" fmla="*/ 1943042235 h 7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77"/>
              <a:gd name="T22" fmla="*/ 0 h 771"/>
              <a:gd name="T23" fmla="*/ 2177 w 2177"/>
              <a:gd name="T24" fmla="*/ 771 h 7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77" h="771">
                <a:moveTo>
                  <a:pt x="0" y="771"/>
                </a:moveTo>
                <a:lnTo>
                  <a:pt x="0" y="409"/>
                </a:lnTo>
                <a:lnTo>
                  <a:pt x="453" y="409"/>
                </a:lnTo>
                <a:lnTo>
                  <a:pt x="1814" y="0"/>
                </a:lnTo>
                <a:lnTo>
                  <a:pt x="2177" y="0"/>
                </a:lnTo>
                <a:lnTo>
                  <a:pt x="2177" y="771"/>
                </a:lnTo>
                <a:lnTo>
                  <a:pt x="0" y="771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hu-HU" altLang="hu-HU">
              <a:solidFill>
                <a:schemeClr val="bg1"/>
              </a:solidFill>
            </a:endParaRPr>
          </a:p>
        </p:txBody>
      </p:sp>
      <p:pic>
        <p:nvPicPr>
          <p:cNvPr id="7" name="Picture 25" descr="kis_ac_p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346" y="3130813"/>
            <a:ext cx="1584325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7" descr="kis_ac_pic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846" y="3099063"/>
            <a:ext cx="164623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28"/>
          <p:cNvSpPr>
            <a:spLocks noChangeShapeType="1"/>
          </p:cNvSpPr>
          <p:nvPr/>
        </p:nvSpPr>
        <p:spPr bwMode="auto">
          <a:xfrm>
            <a:off x="1980084" y="3965838"/>
            <a:ext cx="77041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0" name="Line 29"/>
          <p:cNvSpPr>
            <a:spLocks noChangeShapeType="1"/>
          </p:cNvSpPr>
          <p:nvPr/>
        </p:nvSpPr>
        <p:spPr bwMode="auto">
          <a:xfrm>
            <a:off x="1980084" y="5189800"/>
            <a:ext cx="77041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1" name="Line 30"/>
          <p:cNvSpPr>
            <a:spLocks noChangeShapeType="1"/>
          </p:cNvSpPr>
          <p:nvPr/>
        </p:nvSpPr>
        <p:spPr bwMode="auto">
          <a:xfrm>
            <a:off x="1980084" y="5839088"/>
            <a:ext cx="7704137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2" name="Line 31"/>
          <p:cNvSpPr>
            <a:spLocks noChangeShapeType="1"/>
          </p:cNvSpPr>
          <p:nvPr/>
        </p:nvSpPr>
        <p:spPr bwMode="auto">
          <a:xfrm>
            <a:off x="3275484" y="3965838"/>
            <a:ext cx="0" cy="18732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3" name="Line 32"/>
          <p:cNvSpPr>
            <a:spLocks noChangeShapeType="1"/>
          </p:cNvSpPr>
          <p:nvPr/>
        </p:nvSpPr>
        <p:spPr bwMode="auto">
          <a:xfrm>
            <a:off x="8028459" y="3965838"/>
            <a:ext cx="0" cy="12255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4" name="Line 33"/>
          <p:cNvSpPr>
            <a:spLocks noChangeShapeType="1"/>
          </p:cNvSpPr>
          <p:nvPr/>
        </p:nvSpPr>
        <p:spPr bwMode="auto">
          <a:xfrm>
            <a:off x="2338859" y="5189800"/>
            <a:ext cx="0" cy="64928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>
              <a:solidFill>
                <a:schemeClr val="bg1"/>
              </a:solidFill>
            </a:endParaRPr>
          </a:p>
        </p:txBody>
      </p:sp>
      <p:sp>
        <p:nvSpPr>
          <p:cNvPr id="15" name="Text Box 34"/>
          <p:cNvSpPr txBox="1">
            <a:spLocks noChangeArrowheads="1"/>
          </p:cNvSpPr>
          <p:nvPr/>
        </p:nvSpPr>
        <p:spPr bwMode="auto">
          <a:xfrm>
            <a:off x="613246" y="5331088"/>
            <a:ext cx="165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hu-HU" altLang="hu-HU">
                <a:solidFill>
                  <a:schemeClr val="bg1"/>
                </a:solidFill>
                <a:latin typeface="Times New Roman" pitchFamily="18" charset="0"/>
              </a:rPr>
              <a:t>100 ft</a:t>
            </a:r>
            <a:endParaRPr lang="en-US" altLang="hu-HU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1621309" y="4675450"/>
            <a:ext cx="165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hu-HU" altLang="hu-HU" dirty="0">
                <a:solidFill>
                  <a:schemeClr val="bg1"/>
                </a:solidFill>
                <a:latin typeface="Times New Roman" pitchFamily="18" charset="0"/>
              </a:rPr>
              <a:t>300 </a:t>
            </a:r>
            <a:r>
              <a:rPr lang="hu-HU" altLang="hu-HU" dirty="0" err="1">
                <a:solidFill>
                  <a:schemeClr val="bg1"/>
                </a:solidFill>
                <a:latin typeface="Times New Roman" pitchFamily="18" charset="0"/>
              </a:rPr>
              <a:t>ft</a:t>
            </a:r>
            <a:endParaRPr lang="en-US" altLang="hu-HU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6374284" y="4391288"/>
            <a:ext cx="1654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hu-HU" altLang="hu-HU">
                <a:solidFill>
                  <a:schemeClr val="bg1"/>
                </a:solidFill>
                <a:latin typeface="Times New Roman" pitchFamily="18" charset="0"/>
              </a:rPr>
              <a:t>200 ft</a:t>
            </a:r>
            <a:endParaRPr lang="en-US" altLang="hu-HU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8" name="Picture 37" descr="altimet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359" y="4610363"/>
            <a:ext cx="5016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8" descr="altime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334" y="4326200"/>
            <a:ext cx="5334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42"/>
          <p:cNvSpPr>
            <a:spLocks noChangeArrowheads="1"/>
          </p:cNvSpPr>
          <p:nvPr/>
        </p:nvSpPr>
        <p:spPr bwMode="auto">
          <a:xfrm>
            <a:off x="2772246" y="5834325"/>
            <a:ext cx="1008063" cy="73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hu-HU" altLang="hu-HU">
              <a:solidFill>
                <a:schemeClr val="bg1"/>
              </a:solidFill>
            </a:endParaRPr>
          </a:p>
        </p:txBody>
      </p:sp>
      <p:sp>
        <p:nvSpPr>
          <p:cNvPr id="21" name="Rectangle 43"/>
          <p:cNvSpPr>
            <a:spLocks noChangeArrowheads="1"/>
          </p:cNvSpPr>
          <p:nvPr/>
        </p:nvSpPr>
        <p:spPr bwMode="auto">
          <a:xfrm>
            <a:off x="7739534" y="5186625"/>
            <a:ext cx="1008062" cy="73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hu-HU" altLang="hu-HU">
              <a:solidFill>
                <a:schemeClr val="bg1"/>
              </a:solidFill>
            </a:endParaRPr>
          </a:p>
        </p:txBody>
      </p:sp>
      <p:sp>
        <p:nvSpPr>
          <p:cNvPr id="22" name="Text Box 44"/>
          <p:cNvSpPr txBox="1">
            <a:spLocks noChangeArrowheads="1"/>
          </p:cNvSpPr>
          <p:nvPr/>
        </p:nvSpPr>
        <p:spPr bwMode="auto">
          <a:xfrm>
            <a:off x="2483321" y="5907350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hu-HU" altLang="hu-HU">
                <a:latin typeface="Times New Roman" pitchFamily="18" charset="0"/>
              </a:rPr>
              <a:t>repülőtér A</a:t>
            </a:r>
            <a:endParaRPr lang="en-US" altLang="hu-HU">
              <a:latin typeface="Times New Roman" pitchFamily="18" charset="0"/>
            </a:endParaRPr>
          </a:p>
        </p:txBody>
      </p:sp>
      <p:sp>
        <p:nvSpPr>
          <p:cNvPr id="23" name="Text Box 45"/>
          <p:cNvSpPr txBox="1">
            <a:spLocks noChangeArrowheads="1"/>
          </p:cNvSpPr>
          <p:nvPr/>
        </p:nvSpPr>
        <p:spPr bwMode="auto">
          <a:xfrm>
            <a:off x="7525221" y="5258063"/>
            <a:ext cx="13668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hu-HU" altLang="hu-HU">
                <a:latin typeface="Times New Roman" pitchFamily="18" charset="0"/>
              </a:rPr>
              <a:t>repülőtér B</a:t>
            </a:r>
            <a:endParaRPr lang="en-US" altLang="hu-HU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4839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20" grpId="0" animBg="1"/>
      <p:bldP spid="21" grpId="0" animBg="1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sz="3600" dirty="0" smtClean="0"/>
              <a:t>Nemzetközi Egyezményes Légkör</a:t>
            </a:r>
            <a:endParaRPr lang="es-ES" altLang="hu-HU" sz="36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Azonos magasságon, azonos helyen az összes műszer ugyanazt az értéket mutatja.</a:t>
            </a:r>
          </a:p>
          <a:p>
            <a:pPr algn="just"/>
            <a:r>
              <a:rPr lang="hu-HU" sz="2400" dirty="0" err="1" smtClean="0">
                <a:solidFill>
                  <a:schemeClr val="bg1"/>
                </a:solidFill>
              </a:rPr>
              <a:t>Flight</a:t>
            </a:r>
            <a:r>
              <a:rPr lang="hu-HU" sz="2400" dirty="0" smtClean="0">
                <a:solidFill>
                  <a:schemeClr val="bg1"/>
                </a:solidFill>
              </a:rPr>
              <a:t> </a:t>
            </a:r>
            <a:r>
              <a:rPr lang="hu-HU" sz="2400" dirty="0" err="1" smtClean="0">
                <a:solidFill>
                  <a:schemeClr val="bg1"/>
                </a:solidFill>
              </a:rPr>
              <a:t>Level</a:t>
            </a:r>
            <a:r>
              <a:rPr lang="hu-HU" sz="2400" dirty="0" smtClean="0">
                <a:solidFill>
                  <a:schemeClr val="bg1"/>
                </a:solidFill>
              </a:rPr>
              <a:t> (FL): </a:t>
            </a: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ISA alapján számolt magassági érték 100-al osztva (lábban [1000 </a:t>
            </a:r>
            <a:r>
              <a:rPr lang="hu-HU" sz="2000" dirty="0" err="1" smtClean="0">
                <a:solidFill>
                  <a:schemeClr val="bg1"/>
                </a:solidFill>
              </a:rPr>
              <a:t>ft</a:t>
            </a:r>
            <a:r>
              <a:rPr lang="hu-HU" sz="2000" dirty="0" smtClean="0">
                <a:solidFill>
                  <a:schemeClr val="bg1"/>
                </a:solidFill>
              </a:rPr>
              <a:t> = 305 m])</a:t>
            </a: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A repülőtéri manőverezéseket kivéve a FL használatos</a:t>
            </a: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Repülőtér környezetében: a repülőtérhez viszonyított magasság alkalmazott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FL 100 = 10 000 </a:t>
            </a:r>
            <a:r>
              <a:rPr lang="hu-HU" sz="2000" dirty="0" err="1" smtClean="0">
                <a:solidFill>
                  <a:schemeClr val="bg1"/>
                </a:solidFill>
              </a:rPr>
              <a:t>ft</a:t>
            </a:r>
            <a:r>
              <a:rPr lang="hu-HU" sz="2000" dirty="0" smtClean="0">
                <a:solidFill>
                  <a:schemeClr val="bg1"/>
                </a:solidFill>
              </a:rPr>
              <a:t> = 3 048 m – maximum magasság Szegeden</a:t>
            </a:r>
          </a:p>
          <a:p>
            <a:pPr marL="457200" lvl="1" indent="0" algn="just">
              <a:buNone/>
            </a:pPr>
            <a:r>
              <a:rPr lang="hu-HU" sz="2000" dirty="0" smtClean="0">
                <a:solidFill>
                  <a:schemeClr val="bg1"/>
                </a:solidFill>
              </a:rPr>
              <a:t>FL 40 = 4 000 Ft = 1 200 m – első ejtőernyős ugrás</a:t>
            </a:r>
          </a:p>
          <a:p>
            <a:endParaRPr lang="hu-HU" alt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sz="3200" dirty="0" smtClean="0"/>
              <a:t>Magasság hatása az emberi szervezetre</a:t>
            </a:r>
            <a:endParaRPr lang="es-ES" altLang="hu-HU" sz="3200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Oxigéntartalom az egyes magasságokban:</a:t>
            </a: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tengerszinten 282 pond O</a:t>
            </a:r>
            <a:r>
              <a:rPr lang="hu-HU" sz="2000" baseline="-25000" dirty="0" smtClean="0">
                <a:solidFill>
                  <a:schemeClr val="bg1"/>
                </a:solidFill>
              </a:rPr>
              <a:t>2</a:t>
            </a:r>
            <a:r>
              <a:rPr lang="hu-HU" sz="2000" dirty="0" smtClean="0">
                <a:solidFill>
                  <a:schemeClr val="bg1"/>
                </a:solidFill>
              </a:rPr>
              <a:t> / m</a:t>
            </a:r>
            <a:r>
              <a:rPr lang="hu-HU" sz="2000" baseline="30000" dirty="0" smtClean="0">
                <a:solidFill>
                  <a:schemeClr val="bg1"/>
                </a:solidFill>
              </a:rPr>
              <a:t>3 </a:t>
            </a:r>
            <a:r>
              <a:rPr lang="hu-HU" sz="2000" dirty="0" smtClean="0">
                <a:solidFill>
                  <a:schemeClr val="bg1"/>
                </a:solidFill>
              </a:rPr>
              <a:t>(21 kPa)</a:t>
            </a:r>
            <a:endParaRPr lang="hu-HU" sz="2000" baseline="30000" dirty="0" smtClean="0">
              <a:solidFill>
                <a:schemeClr val="bg1"/>
              </a:solidFill>
            </a:endParaRP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10 km-en 95 pond O</a:t>
            </a:r>
            <a:r>
              <a:rPr lang="hu-HU" sz="2000" baseline="-25000" dirty="0" smtClean="0">
                <a:solidFill>
                  <a:schemeClr val="bg1"/>
                </a:solidFill>
              </a:rPr>
              <a:t>2</a:t>
            </a:r>
            <a:r>
              <a:rPr lang="hu-HU" sz="2000" dirty="0" smtClean="0">
                <a:solidFill>
                  <a:schemeClr val="bg1"/>
                </a:solidFill>
              </a:rPr>
              <a:t> / m</a:t>
            </a:r>
            <a:r>
              <a:rPr lang="hu-HU" sz="2000" baseline="30000" dirty="0" smtClean="0">
                <a:solidFill>
                  <a:schemeClr val="bg1"/>
                </a:solidFill>
              </a:rPr>
              <a:t>3 </a:t>
            </a:r>
            <a:endParaRPr lang="hu-HU" sz="2000" dirty="0" smtClean="0">
              <a:solidFill>
                <a:schemeClr val="bg1"/>
              </a:solidFill>
            </a:endParaRPr>
          </a:p>
          <a:p>
            <a:pPr lvl="1" algn="just"/>
            <a:r>
              <a:rPr lang="hu-HU" sz="2000" dirty="0" smtClean="0">
                <a:solidFill>
                  <a:schemeClr val="bg1"/>
                </a:solidFill>
              </a:rPr>
              <a:t>20 km-en 20 pond O</a:t>
            </a:r>
            <a:r>
              <a:rPr lang="hu-HU" sz="2000" baseline="-25000" dirty="0" smtClean="0">
                <a:solidFill>
                  <a:schemeClr val="bg1"/>
                </a:solidFill>
              </a:rPr>
              <a:t>2</a:t>
            </a:r>
            <a:r>
              <a:rPr lang="hu-HU" sz="2000" dirty="0" smtClean="0">
                <a:solidFill>
                  <a:schemeClr val="bg1"/>
                </a:solidFill>
              </a:rPr>
              <a:t> / m</a:t>
            </a:r>
            <a:r>
              <a:rPr lang="hu-HU" sz="2000" baseline="30000" dirty="0" smtClean="0">
                <a:solidFill>
                  <a:schemeClr val="bg1"/>
                </a:solidFill>
              </a:rPr>
              <a:t>3</a:t>
            </a:r>
          </a:p>
          <a:p>
            <a:pPr algn="just"/>
            <a:endParaRPr lang="hu-HU" sz="2400" baseline="30000" dirty="0" smtClean="0">
              <a:solidFill>
                <a:schemeClr val="bg1"/>
              </a:solidFill>
            </a:endParaRP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4000 m-ig totális kompenzáció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7000 m-ig parciális kompenzáció – kritikus magasság felette magassági halál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11 000 méterig elegendő az O</a:t>
            </a:r>
            <a:r>
              <a:rPr lang="hu-HU" sz="2400" baseline="-25000" dirty="0" smtClean="0">
                <a:solidFill>
                  <a:schemeClr val="bg1"/>
                </a:solidFill>
              </a:rPr>
              <a:t>2</a:t>
            </a:r>
            <a:r>
              <a:rPr lang="hu-HU" sz="2400" dirty="0" smtClean="0">
                <a:solidFill>
                  <a:schemeClr val="bg1"/>
                </a:solidFill>
              </a:rPr>
              <a:t> adagolás, felette már szkafander / túlnyomásos kabin szükséges</a:t>
            </a:r>
          </a:p>
          <a:p>
            <a:endParaRPr lang="hu-HU" altLang="hu-H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Áramlás típusok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dirty="0" smtClean="0">
                <a:solidFill>
                  <a:schemeClr val="bg1"/>
                </a:solidFill>
              </a:rPr>
              <a:t>Lamináris (réteges): a részecskék rendezett, egyirányú, párhuzamos áramlása, melyben az egyes rétegek nem keverednek.</a:t>
            </a:r>
          </a:p>
          <a:p>
            <a:pPr algn="just"/>
            <a:r>
              <a:rPr lang="hu-HU" dirty="0" smtClean="0">
                <a:solidFill>
                  <a:schemeClr val="bg1"/>
                </a:solidFill>
              </a:rPr>
              <a:t>Turbulens (gomolygó): rendezetlen örvényszerű áramlás, melyben a részecskék a fő áramlási irányukra merőlegesen is mozognak.</a:t>
            </a:r>
          </a:p>
          <a:p>
            <a:endParaRPr lang="hu-HU" alt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Áramlástan - kontinuitás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2000" dirty="0" smtClean="0">
                <a:solidFill>
                  <a:schemeClr val="bg1"/>
                </a:solidFill>
              </a:rPr>
              <a:t>Állandósult (stacioner) áramlásról beszélünk, amennyiben a tér valamely pontján áthaladó közeg részecskéinek száma és áthaladásuk iránya azonos egy </a:t>
            </a:r>
            <a:r>
              <a:rPr lang="hu-HU" sz="2000" i="1" dirty="0" smtClean="0">
                <a:solidFill>
                  <a:schemeClr val="bg1"/>
                </a:solidFill>
              </a:rPr>
              <a:t>t</a:t>
            </a:r>
            <a:r>
              <a:rPr lang="hu-HU" sz="2000" dirty="0" smtClean="0">
                <a:solidFill>
                  <a:schemeClr val="bg1"/>
                </a:solidFill>
              </a:rPr>
              <a:t> időpillanatban, vagy a tér két különböző pontja között a sebességkülönbség állandó. Ez a </a:t>
            </a:r>
            <a:r>
              <a:rPr lang="hu-HU" sz="2000" b="1" dirty="0" smtClean="0">
                <a:solidFill>
                  <a:schemeClr val="bg1"/>
                </a:solidFill>
              </a:rPr>
              <a:t>kontinuitás</a:t>
            </a:r>
            <a:r>
              <a:rPr lang="hu-HU" sz="2000" dirty="0" smtClean="0">
                <a:solidFill>
                  <a:schemeClr val="bg1"/>
                </a:solidFill>
              </a:rPr>
              <a:t> tétele.</a:t>
            </a:r>
          </a:p>
          <a:p>
            <a:pPr algn="just"/>
            <a:endParaRPr lang="hu-HU" altLang="hu-HU" sz="2000" dirty="0">
              <a:solidFill>
                <a:schemeClr val="bg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662" y="3635823"/>
            <a:ext cx="4608115" cy="2956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Users\Csabi\Pictures\Képkivágá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509120"/>
            <a:ext cx="1037371" cy="95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Bernoulli törvénye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688" y="1412776"/>
            <a:ext cx="7200900" cy="4895850"/>
          </a:xfrm>
        </p:spPr>
        <p:txBody>
          <a:bodyPr/>
          <a:lstStyle/>
          <a:p>
            <a:pPr algn="just"/>
            <a:r>
              <a:rPr lang="hu-HU" sz="1800" b="1" dirty="0" smtClean="0">
                <a:solidFill>
                  <a:schemeClr val="bg1"/>
                </a:solidFill>
              </a:rPr>
              <a:t>Állandósult áramlás esetén, a nyomás és a sebesség fordítottan arányos</a:t>
            </a:r>
            <a:r>
              <a:rPr lang="hu-HU" sz="1800" dirty="0" smtClean="0">
                <a:solidFill>
                  <a:schemeClr val="bg1"/>
                </a:solidFill>
              </a:rPr>
              <a:t>, ahol az áramló közeg sebessége nő, ott a statikus nyomás csökken, ahol a sebesség csökken ott a statikus nyomás nő.</a:t>
            </a:r>
          </a:p>
          <a:p>
            <a:pPr algn="just"/>
            <a:r>
              <a:rPr lang="hu-HU" sz="1800" dirty="0" smtClean="0">
                <a:solidFill>
                  <a:schemeClr val="bg1"/>
                </a:solidFill>
              </a:rPr>
              <a:t>Ez a repülés elmélet egyik legfontosabb alaptétele.</a:t>
            </a:r>
          </a:p>
          <a:p>
            <a:pPr algn="just"/>
            <a:r>
              <a:rPr lang="hu-HU" sz="1800" dirty="0" err="1" smtClean="0">
                <a:solidFill>
                  <a:schemeClr val="bg1"/>
                </a:solidFill>
              </a:rPr>
              <a:t>Szubszónikus</a:t>
            </a:r>
            <a:r>
              <a:rPr lang="hu-HU" sz="1800" dirty="0" smtClean="0">
                <a:solidFill>
                  <a:schemeClr val="bg1"/>
                </a:solidFill>
              </a:rPr>
              <a:t> körülmények között, örvénymentes és összenyomhatatlan közegben igaz.</a:t>
            </a:r>
          </a:p>
          <a:p>
            <a:endParaRPr lang="hu-HU" altLang="hu-HU" sz="1800" dirty="0">
              <a:solidFill>
                <a:schemeClr val="bg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573016"/>
            <a:ext cx="425464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1989" y="115888"/>
            <a:ext cx="8229600" cy="1143000"/>
          </a:xfrm>
        </p:spPr>
        <p:txBody>
          <a:bodyPr/>
          <a:lstStyle/>
          <a:p>
            <a:r>
              <a:rPr lang="es-UY" altLang="hu-HU">
                <a:solidFill>
                  <a:schemeClr val="tx1"/>
                </a:solidFill>
              </a:rPr>
              <a:t> </a:t>
            </a:r>
            <a:endParaRPr lang="es-ES" altLang="hu-HU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7" t="1" r="19041" b="68498"/>
          <a:stretch/>
        </p:blipFill>
        <p:spPr bwMode="auto">
          <a:xfrm>
            <a:off x="512" y="3340771"/>
            <a:ext cx="9143488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Ellipszis 5"/>
          <p:cNvSpPr/>
          <p:nvPr/>
        </p:nvSpPr>
        <p:spPr>
          <a:xfrm>
            <a:off x="1116128" y="4830843"/>
            <a:ext cx="504056" cy="504056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6"/>
          <p:cNvCxnSpPr>
            <a:stCxn id="6" idx="2"/>
          </p:cNvCxnSpPr>
          <p:nvPr/>
        </p:nvCxnSpPr>
        <p:spPr>
          <a:xfrm>
            <a:off x="1116128" y="5082871"/>
            <a:ext cx="7488832" cy="252028"/>
          </a:xfrm>
          <a:prstGeom prst="line">
            <a:avLst/>
          </a:prstGeom>
          <a:ln w="285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2. sz. felirat 7"/>
          <p:cNvSpPr/>
          <p:nvPr/>
        </p:nvSpPr>
        <p:spPr>
          <a:xfrm>
            <a:off x="288036" y="3124747"/>
            <a:ext cx="2160240" cy="432048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04979"/>
              <a:gd name="adj6" fmla="val 5621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Orrgörbületi sugár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9" name="2. sz. felirat 8"/>
          <p:cNvSpPr/>
          <p:nvPr/>
        </p:nvSpPr>
        <p:spPr>
          <a:xfrm>
            <a:off x="396048" y="5856146"/>
            <a:ext cx="1115616" cy="432048"/>
          </a:xfrm>
          <a:prstGeom prst="borderCallout2">
            <a:avLst>
              <a:gd name="adj1" fmla="val 1113"/>
              <a:gd name="adj2" fmla="val -1279"/>
              <a:gd name="adj3" fmla="val -170846"/>
              <a:gd name="adj4" fmla="val 23897"/>
              <a:gd name="adj5" fmla="val -176505"/>
              <a:gd name="adj6" fmla="val 6085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 smtClean="0">
                <a:solidFill>
                  <a:schemeClr val="tx1"/>
                </a:solidFill>
              </a:rPr>
              <a:t>Belépőél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0" name="2. sz. felirat 9"/>
          <p:cNvSpPr/>
          <p:nvPr/>
        </p:nvSpPr>
        <p:spPr>
          <a:xfrm>
            <a:off x="4606048" y="3102651"/>
            <a:ext cx="2160240" cy="432048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68857"/>
              <a:gd name="adj6" fmla="val 4600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Középvonal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2. sz. felirat 10"/>
          <p:cNvSpPr/>
          <p:nvPr/>
        </p:nvSpPr>
        <p:spPr>
          <a:xfrm>
            <a:off x="5402882" y="5931747"/>
            <a:ext cx="1170128" cy="432048"/>
          </a:xfrm>
          <a:prstGeom prst="borderCallout2">
            <a:avLst>
              <a:gd name="adj1" fmla="val 17280"/>
              <a:gd name="adj2" fmla="val 99251"/>
              <a:gd name="adj3" fmla="val -3295"/>
              <a:gd name="adj4" fmla="val 100110"/>
              <a:gd name="adj5" fmla="val -156196"/>
              <a:gd name="adj6" fmla="val 8170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Húr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2" name="2. sz. felirat 11"/>
          <p:cNvSpPr/>
          <p:nvPr/>
        </p:nvSpPr>
        <p:spPr>
          <a:xfrm>
            <a:off x="7668856" y="5856146"/>
            <a:ext cx="1115616" cy="432048"/>
          </a:xfrm>
          <a:prstGeom prst="borderCallout2">
            <a:avLst>
              <a:gd name="adj1" fmla="val 2716"/>
              <a:gd name="adj2" fmla="val 99313"/>
              <a:gd name="adj3" fmla="val -2493"/>
              <a:gd name="adj4" fmla="val 95925"/>
              <a:gd name="adj5" fmla="val -120387"/>
              <a:gd name="adj6" fmla="val 8569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 smtClean="0">
                <a:solidFill>
                  <a:schemeClr val="tx1"/>
                </a:solidFill>
              </a:rPr>
              <a:t>Kilépőél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Szalagnyíl jobbra 12"/>
          <p:cNvSpPr/>
          <p:nvPr/>
        </p:nvSpPr>
        <p:spPr>
          <a:xfrm>
            <a:off x="6732752" y="4931901"/>
            <a:ext cx="144016" cy="569110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cxnSp>
        <p:nvCxnSpPr>
          <p:cNvPr id="14" name="Egyenes összekötő 13"/>
          <p:cNvCxnSpPr/>
          <p:nvPr/>
        </p:nvCxnSpPr>
        <p:spPr>
          <a:xfrm>
            <a:off x="6588736" y="4852939"/>
            <a:ext cx="2016224" cy="48196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/>
          <p:nvPr/>
        </p:nvCxnSpPr>
        <p:spPr>
          <a:xfrm flipH="1">
            <a:off x="6516728" y="5334899"/>
            <a:ext cx="2088232" cy="166112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2. sz. felirat 15"/>
          <p:cNvSpPr/>
          <p:nvPr/>
        </p:nvSpPr>
        <p:spPr>
          <a:xfrm>
            <a:off x="6804760" y="3130697"/>
            <a:ext cx="2160240" cy="432048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35214"/>
              <a:gd name="adj6" fmla="val -1231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err="1" smtClean="0">
                <a:solidFill>
                  <a:schemeClr val="tx1"/>
                </a:solidFill>
              </a:rPr>
              <a:t>Kilépőél</a:t>
            </a:r>
            <a:r>
              <a:rPr lang="hu-HU" dirty="0" smtClean="0">
                <a:solidFill>
                  <a:schemeClr val="tx1"/>
                </a:solidFill>
              </a:rPr>
              <a:t> szöge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7" name="2. sz. felirat 16"/>
          <p:cNvSpPr/>
          <p:nvPr/>
        </p:nvSpPr>
        <p:spPr>
          <a:xfrm>
            <a:off x="2910532" y="3138213"/>
            <a:ext cx="1530168" cy="432048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65239"/>
              <a:gd name="adj6" fmla="val 85454"/>
            </a:avLst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Íveltség</a:t>
            </a:r>
            <a:endParaRPr lang="hu-HU" dirty="0">
              <a:solidFill>
                <a:schemeClr val="tx1"/>
              </a:solidFill>
            </a:endParaRPr>
          </a:p>
        </p:txBody>
      </p:sp>
      <p:cxnSp>
        <p:nvCxnSpPr>
          <p:cNvPr id="18" name="Egyenes összekötő 17"/>
          <p:cNvCxnSpPr/>
          <p:nvPr/>
        </p:nvCxnSpPr>
        <p:spPr>
          <a:xfrm>
            <a:off x="4212472" y="4931901"/>
            <a:ext cx="0" cy="785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18"/>
          <p:cNvCxnSpPr/>
          <p:nvPr/>
        </p:nvCxnSpPr>
        <p:spPr>
          <a:xfrm>
            <a:off x="4140464" y="5082871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/>
          <p:nvPr/>
        </p:nvCxnSpPr>
        <p:spPr>
          <a:xfrm>
            <a:off x="4140464" y="5208885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/>
          <p:cNvCxnSpPr/>
          <p:nvPr/>
        </p:nvCxnSpPr>
        <p:spPr>
          <a:xfrm>
            <a:off x="4212472" y="5093919"/>
            <a:ext cx="0" cy="114966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ím 1"/>
          <p:cNvSpPr txBox="1">
            <a:spLocks/>
          </p:cNvSpPr>
          <p:nvPr/>
        </p:nvSpPr>
        <p:spPr bwMode="auto">
          <a:xfrm>
            <a:off x="399195" y="-12482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hu-HU" kern="0" dirty="0" smtClean="0"/>
              <a:t>Szárnyszelvény felépítése</a:t>
            </a:r>
            <a:endParaRPr lang="hu-HU" kern="0" dirty="0"/>
          </a:p>
        </p:txBody>
      </p:sp>
      <p:sp>
        <p:nvSpPr>
          <p:cNvPr id="23" name="Tartalom helye 2"/>
          <p:cNvSpPr txBox="1">
            <a:spLocks/>
          </p:cNvSpPr>
          <p:nvPr/>
        </p:nvSpPr>
        <p:spPr bwMode="auto">
          <a:xfrm>
            <a:off x="1559385" y="1291676"/>
            <a:ext cx="7576343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just"/>
            <a:r>
              <a:rPr lang="hu-HU" b="1" kern="0" dirty="0" smtClean="0">
                <a:solidFill>
                  <a:schemeClr val="bg1">
                    <a:lumMod val="95000"/>
                  </a:schemeClr>
                </a:solidFill>
              </a:rPr>
              <a:t>Húr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: a belépőélet és kilépő élet összekötő egyenes</a:t>
            </a:r>
          </a:p>
          <a:p>
            <a:pPr algn="just"/>
            <a:r>
              <a:rPr lang="hu-HU" b="1" kern="0" dirty="0" smtClean="0">
                <a:solidFill>
                  <a:schemeClr val="bg1">
                    <a:lumMod val="95000"/>
                  </a:schemeClr>
                </a:solidFill>
              </a:rPr>
              <a:t>Középvonal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: a szelvény hossztengelyére merőlegesen berajzolt legnagyobb átmérőjű körök középpontját összekötő egyenes. </a:t>
            </a:r>
          </a:p>
          <a:p>
            <a:pPr algn="just"/>
            <a:r>
              <a:rPr lang="hu-HU" b="1" kern="0" dirty="0" smtClean="0">
                <a:solidFill>
                  <a:schemeClr val="bg1">
                    <a:lumMod val="95000"/>
                  </a:schemeClr>
                </a:solidFill>
              </a:rPr>
              <a:t>Íveltség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: a középvonal és a húr távolsága. Ha nagy aszimmetrikus profil (kis sebesség esetén is elegendő felhajtóerő [s</a:t>
            </a:r>
            <a:r>
              <a:rPr lang="hu-HU" kern="0" baseline="-25000" dirty="0" smtClean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 &gt; s</a:t>
            </a:r>
            <a:r>
              <a:rPr lang="hu-HU" kern="0" baseline="-25000" dirty="0" smtClean="0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]), ha kicsi szimmetrikus profil (nagy sebesség szükséges [s</a:t>
            </a:r>
            <a:r>
              <a:rPr lang="hu-HU" kern="0" baseline="-25000" dirty="0" smtClean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 = s</a:t>
            </a:r>
            <a:r>
              <a:rPr lang="hu-HU" kern="0" baseline="-25000" dirty="0" smtClean="0">
                <a:solidFill>
                  <a:schemeClr val="bg1">
                    <a:lumMod val="95000"/>
                  </a:schemeClr>
                </a:solidFill>
              </a:rPr>
              <a:t>2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]). </a:t>
            </a:r>
          </a:p>
          <a:p>
            <a:pPr algn="just"/>
            <a:r>
              <a:rPr lang="hu-HU" b="1" kern="0" dirty="0" smtClean="0">
                <a:solidFill>
                  <a:schemeClr val="bg1">
                    <a:lumMod val="95000"/>
                  </a:schemeClr>
                </a:solidFill>
              </a:rPr>
              <a:t>Állásszög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lang="el-GR" kern="0" dirty="0" smtClean="0">
                <a:solidFill>
                  <a:schemeClr val="bg1">
                    <a:lumMod val="95000"/>
                  </a:schemeClr>
                </a:solidFill>
              </a:rPr>
              <a:t>α</a:t>
            </a:r>
            <a:r>
              <a:rPr lang="hu-HU" kern="0" dirty="0" smtClean="0">
                <a:solidFill>
                  <a:schemeClr val="bg1">
                    <a:lumMod val="95000"/>
                  </a:schemeClr>
                </a:solidFill>
              </a:rPr>
              <a:t>) a húr és az áramlás főiránya által bezár szög.</a:t>
            </a:r>
            <a:endParaRPr lang="hu-HU" kern="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Szövegdoboz 23"/>
          <p:cNvSpPr txBox="1"/>
          <p:nvPr/>
        </p:nvSpPr>
        <p:spPr>
          <a:xfrm>
            <a:off x="3288585" y="410036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</a:t>
            </a:r>
            <a:r>
              <a:rPr lang="hu-HU" baseline="-25000" dirty="0" smtClean="0"/>
              <a:t>1</a:t>
            </a:r>
            <a:endParaRPr lang="hu-HU" baseline="-25000" dirty="0"/>
          </a:p>
        </p:txBody>
      </p:sp>
      <p:sp>
        <p:nvSpPr>
          <p:cNvPr id="25" name="Szövegdoboz 24"/>
          <p:cNvSpPr txBox="1"/>
          <p:nvPr/>
        </p:nvSpPr>
        <p:spPr>
          <a:xfrm>
            <a:off x="3254945" y="550101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smtClean="0"/>
              <a:t>s</a:t>
            </a:r>
            <a:r>
              <a:rPr lang="hu-HU" baseline="-25000" dirty="0" smtClean="0"/>
              <a:t>2</a:t>
            </a:r>
            <a:endParaRPr lang="hu-HU" baseline="-25000" dirty="0"/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es-UY" altLang="hu-HU">
                <a:solidFill>
                  <a:schemeClr val="tx1"/>
                </a:solidFill>
              </a:rPr>
              <a:t> </a:t>
            </a:r>
            <a:endParaRPr lang="es-ES" altLang="hu-HU">
              <a:solidFill>
                <a:schemeClr val="tx1"/>
              </a:solidFill>
            </a:endParaRPr>
          </a:p>
        </p:txBody>
      </p:sp>
      <p:sp>
        <p:nvSpPr>
          <p:cNvPr id="4" name="Cím 1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hu-HU" kern="0" smtClean="0"/>
              <a:t>Szárnyszelvény felépítése</a:t>
            </a:r>
            <a:endParaRPr lang="hu-HU" kern="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" t="1" r="611" b="68498"/>
          <a:stretch/>
        </p:blipFill>
        <p:spPr bwMode="auto">
          <a:xfrm rot="693099">
            <a:off x="1767462" y="3934099"/>
            <a:ext cx="7085120" cy="181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zalagnyíl jobbra 7"/>
          <p:cNvSpPr/>
          <p:nvPr/>
        </p:nvSpPr>
        <p:spPr>
          <a:xfrm rot="693099">
            <a:off x="2052427" y="4249942"/>
            <a:ext cx="184049" cy="449136"/>
          </a:xfrm>
          <a:prstGeom prst="curved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2. sz. felirat 8"/>
          <p:cNvSpPr/>
          <p:nvPr/>
        </p:nvSpPr>
        <p:spPr>
          <a:xfrm>
            <a:off x="1923560" y="2236182"/>
            <a:ext cx="1840496" cy="283665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784790"/>
              <a:gd name="adj6" fmla="val 1255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Állásszög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0" name="2. sz. felirat 9"/>
          <p:cNvSpPr/>
          <p:nvPr/>
        </p:nvSpPr>
        <p:spPr>
          <a:xfrm>
            <a:off x="6918794" y="2910699"/>
            <a:ext cx="1840496" cy="378220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72404"/>
              <a:gd name="adj6" fmla="val 2386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Szabad áramlás iránya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3" name="2. sz. felirat 12"/>
          <p:cNvSpPr/>
          <p:nvPr/>
        </p:nvSpPr>
        <p:spPr>
          <a:xfrm>
            <a:off x="4245035" y="2452207"/>
            <a:ext cx="1840496" cy="378220"/>
          </a:xfrm>
          <a:prstGeom prst="borderCallout2">
            <a:avLst>
              <a:gd name="adj1" fmla="val 17280"/>
              <a:gd name="adj2" fmla="val 99251"/>
              <a:gd name="adj3" fmla="val 102526"/>
              <a:gd name="adj4" fmla="val 99148"/>
              <a:gd name="adj5" fmla="val 421886"/>
              <a:gd name="adj6" fmla="val -801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Szárny utáni áramlás iránya</a:t>
            </a:r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4" name="Szalagnyíl jobbra 13"/>
          <p:cNvSpPr/>
          <p:nvPr/>
        </p:nvSpPr>
        <p:spPr>
          <a:xfrm rot="693099" flipH="1" flipV="1">
            <a:off x="6727391" y="4760114"/>
            <a:ext cx="266900" cy="376824"/>
          </a:xfrm>
          <a:prstGeom prst="curvedRigh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5" name="2. sz. felirat 14"/>
          <p:cNvSpPr/>
          <p:nvPr/>
        </p:nvSpPr>
        <p:spPr>
          <a:xfrm>
            <a:off x="6261260" y="5988983"/>
            <a:ext cx="1540597" cy="419993"/>
          </a:xfrm>
          <a:prstGeom prst="borderCallout2">
            <a:avLst>
              <a:gd name="adj1" fmla="val 17280"/>
              <a:gd name="adj2" fmla="val 99251"/>
              <a:gd name="adj3" fmla="val -3295"/>
              <a:gd name="adj4" fmla="val 100110"/>
              <a:gd name="adj5" fmla="val -222010"/>
              <a:gd name="adj6" fmla="val 50990"/>
            </a:avLst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Eltérülési szög (</a:t>
            </a:r>
            <a:r>
              <a:rPr lang="hu-HU" dirty="0" err="1" smtClean="0">
                <a:solidFill>
                  <a:schemeClr val="tx1"/>
                </a:solidFill>
              </a:rPr>
              <a:t>Downwash</a:t>
            </a:r>
            <a:r>
              <a:rPr lang="hu-HU" dirty="0" smtClean="0">
                <a:solidFill>
                  <a:schemeClr val="tx1"/>
                </a:solidFill>
              </a:rPr>
              <a:t>)</a:t>
            </a:r>
            <a:endParaRPr lang="hu-HU" dirty="0">
              <a:solidFill>
                <a:schemeClr val="tx1"/>
              </a:solidFill>
            </a:endParaRPr>
          </a:p>
        </p:txBody>
      </p:sp>
      <p:cxnSp>
        <p:nvCxnSpPr>
          <p:cNvPr id="16" name="Egyenes összekötő 15"/>
          <p:cNvCxnSpPr/>
          <p:nvPr/>
        </p:nvCxnSpPr>
        <p:spPr>
          <a:xfrm>
            <a:off x="1657439" y="4095583"/>
            <a:ext cx="5845488" cy="1281134"/>
          </a:xfrm>
          <a:prstGeom prst="line">
            <a:avLst/>
          </a:prstGeom>
          <a:ln w="28575">
            <a:solidFill>
              <a:srgbClr val="00B05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2. sz. felirat 16"/>
          <p:cNvSpPr/>
          <p:nvPr/>
        </p:nvSpPr>
        <p:spPr>
          <a:xfrm>
            <a:off x="4159988" y="5620559"/>
            <a:ext cx="996933" cy="283665"/>
          </a:xfrm>
          <a:prstGeom prst="borderCallout2">
            <a:avLst>
              <a:gd name="adj1" fmla="val 17280"/>
              <a:gd name="adj2" fmla="val 99251"/>
              <a:gd name="adj3" fmla="val -3295"/>
              <a:gd name="adj4" fmla="val 100110"/>
              <a:gd name="adj5" fmla="val -257232"/>
              <a:gd name="adj6" fmla="val 8444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 smtClean="0">
                <a:solidFill>
                  <a:schemeClr val="tx1"/>
                </a:solidFill>
              </a:rPr>
              <a:t>Húr</a:t>
            </a:r>
            <a:endParaRPr lang="hu-HU" dirty="0">
              <a:solidFill>
                <a:schemeClr val="tx1"/>
              </a:solidFill>
            </a:endParaRPr>
          </a:p>
        </p:txBody>
      </p:sp>
      <p:cxnSp>
        <p:nvCxnSpPr>
          <p:cNvPr id="27" name="Egyenes összekötő 26"/>
          <p:cNvCxnSpPr/>
          <p:nvPr/>
        </p:nvCxnSpPr>
        <p:spPr>
          <a:xfrm rot="693099" flipV="1">
            <a:off x="2066406" y="4088457"/>
            <a:ext cx="6171106" cy="129614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/>
          <p:cNvCxnSpPr/>
          <p:nvPr/>
        </p:nvCxnSpPr>
        <p:spPr>
          <a:xfrm flipH="1" flipV="1">
            <a:off x="2843808" y="3501008"/>
            <a:ext cx="5616624" cy="2448272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Szárnyszelvény felépítése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1600" dirty="0" smtClean="0">
                <a:solidFill>
                  <a:schemeClr val="bg1"/>
                </a:solidFill>
              </a:rPr>
              <a:t>Aszimmetrikus szárnyszelvény felső kontúrja hosszabb, mint az alsó így a levegő részecskék ugyan azt az utat rövidebb idő alatt, nagyobb sebességgel teszik meg. A nagyobb sebesség nyomás csökkenéssel jár együtt, ezzel párhuzamosan a szárny alatt nyomás emelkedés jön létre, ennek aránya 1:2-höz.</a:t>
            </a:r>
          </a:p>
          <a:p>
            <a:pPr algn="just"/>
            <a:r>
              <a:rPr lang="hu-HU" sz="1600" dirty="0" smtClean="0">
                <a:solidFill>
                  <a:schemeClr val="bg1"/>
                </a:solidFill>
              </a:rPr>
              <a:t>A szárny alatt létrejövő </a:t>
            </a:r>
            <a:r>
              <a:rPr lang="hu-HU" sz="1600" b="1" dirty="0" smtClean="0">
                <a:solidFill>
                  <a:schemeClr val="bg1"/>
                </a:solidFill>
              </a:rPr>
              <a:t>nyomás emelkedés (2/3-ad) </a:t>
            </a:r>
            <a:r>
              <a:rPr lang="hu-HU" sz="1600" dirty="0" smtClean="0">
                <a:solidFill>
                  <a:schemeClr val="bg1"/>
                </a:solidFill>
              </a:rPr>
              <a:t>és a szárny felett létrejövő </a:t>
            </a:r>
            <a:r>
              <a:rPr lang="hu-HU" sz="1600" b="1" dirty="0" smtClean="0">
                <a:solidFill>
                  <a:schemeClr val="bg1"/>
                </a:solidFill>
              </a:rPr>
              <a:t>nyomás csökkenés (1/3-ad) </a:t>
            </a:r>
            <a:r>
              <a:rPr lang="hu-HU" sz="1600" dirty="0" smtClean="0">
                <a:solidFill>
                  <a:schemeClr val="bg1"/>
                </a:solidFill>
              </a:rPr>
              <a:t>eredője hozza létre a felhajtó erőt (Y).</a:t>
            </a:r>
          </a:p>
          <a:p>
            <a:pPr algn="just"/>
            <a:r>
              <a:rPr lang="hu-HU" sz="1600" dirty="0" smtClean="0">
                <a:solidFill>
                  <a:schemeClr val="bg1"/>
                </a:solidFill>
              </a:rPr>
              <a:t>A levegőben mozgó testeken ébredő, a testek mozgásával párhuzamos irányú akadályozó erőt légellenállásnak (közegellenállásnak) nevezzük (X).</a:t>
            </a:r>
          </a:p>
          <a:p>
            <a:pPr algn="just"/>
            <a:r>
              <a:rPr lang="hu-HU" sz="1600" dirty="0" smtClean="0">
                <a:solidFill>
                  <a:schemeClr val="bg1"/>
                </a:solidFill>
              </a:rPr>
              <a:t>Felhajtóerő  és ellenállás:</a:t>
            </a:r>
          </a:p>
          <a:p>
            <a:pPr marL="457200" lvl="1" indent="0" algn="ctr">
              <a:buNone/>
            </a:pPr>
            <a:r>
              <a:rPr lang="hu-HU" sz="1400" b="1" dirty="0" err="1" smtClean="0">
                <a:solidFill>
                  <a:schemeClr val="bg1"/>
                </a:solidFill>
              </a:rPr>
              <a:t>F</a:t>
            </a:r>
            <a:r>
              <a:rPr lang="hu-HU" sz="1400" b="1" baseline="-25000" dirty="0" err="1" smtClean="0">
                <a:solidFill>
                  <a:schemeClr val="bg1"/>
                </a:solidFill>
              </a:rPr>
              <a:t>y</a:t>
            </a:r>
            <a:r>
              <a:rPr lang="hu-HU" sz="1400" b="1" dirty="0" smtClean="0">
                <a:solidFill>
                  <a:schemeClr val="bg1"/>
                </a:solidFill>
              </a:rPr>
              <a:t> = </a:t>
            </a:r>
            <a:r>
              <a:rPr lang="el-GR" sz="1400" b="1" dirty="0" smtClean="0">
                <a:solidFill>
                  <a:schemeClr val="bg1"/>
                </a:solidFill>
              </a:rPr>
              <a:t>ρ</a:t>
            </a:r>
            <a:r>
              <a:rPr lang="hu-HU" sz="1400" b="1" dirty="0" smtClean="0">
                <a:solidFill>
                  <a:schemeClr val="bg1"/>
                </a:solidFill>
              </a:rPr>
              <a:t>/2 *v</a:t>
            </a:r>
            <a:r>
              <a:rPr lang="hu-HU" sz="1400" b="1" baseline="30000" dirty="0" smtClean="0">
                <a:solidFill>
                  <a:schemeClr val="bg1"/>
                </a:solidFill>
              </a:rPr>
              <a:t>2</a:t>
            </a:r>
            <a:r>
              <a:rPr lang="hu-HU" sz="1400" b="1" dirty="0" smtClean="0">
                <a:solidFill>
                  <a:schemeClr val="bg1"/>
                </a:solidFill>
              </a:rPr>
              <a:t> *</a:t>
            </a:r>
            <a:r>
              <a:rPr lang="hu-HU" sz="1400" b="1" dirty="0" err="1" smtClean="0">
                <a:solidFill>
                  <a:schemeClr val="bg1"/>
                </a:solidFill>
              </a:rPr>
              <a:t>c</a:t>
            </a:r>
            <a:r>
              <a:rPr lang="hu-HU" sz="1400" b="1" baseline="-25000" dirty="0" err="1" smtClean="0">
                <a:solidFill>
                  <a:schemeClr val="bg1"/>
                </a:solidFill>
              </a:rPr>
              <a:t>y</a:t>
            </a:r>
            <a:r>
              <a:rPr lang="hu-HU" sz="1400" b="1" dirty="0" smtClean="0">
                <a:solidFill>
                  <a:schemeClr val="bg1"/>
                </a:solidFill>
              </a:rPr>
              <a:t> * A </a:t>
            </a:r>
          </a:p>
          <a:p>
            <a:pPr marL="457200" lvl="1" indent="0" algn="just">
              <a:buNone/>
            </a:pPr>
            <a:r>
              <a:rPr lang="hu-HU" sz="1400" dirty="0" smtClean="0">
                <a:solidFill>
                  <a:schemeClr val="bg1"/>
                </a:solidFill>
              </a:rPr>
              <a:t>ahol </a:t>
            </a:r>
            <a:r>
              <a:rPr lang="hu-HU" sz="1400" dirty="0" err="1" smtClean="0">
                <a:solidFill>
                  <a:schemeClr val="bg1"/>
                </a:solidFill>
              </a:rPr>
              <a:t>F</a:t>
            </a:r>
            <a:r>
              <a:rPr lang="hu-HU" sz="1400" baseline="-25000" dirty="0" err="1" smtClean="0">
                <a:solidFill>
                  <a:schemeClr val="bg1"/>
                </a:solidFill>
              </a:rPr>
              <a:t>y</a:t>
            </a:r>
            <a:r>
              <a:rPr lang="hu-HU" sz="1400" baseline="-25000" dirty="0" smtClean="0">
                <a:solidFill>
                  <a:schemeClr val="bg1"/>
                </a:solidFill>
              </a:rPr>
              <a:t>: </a:t>
            </a:r>
            <a:r>
              <a:rPr lang="hu-HU" sz="1400" dirty="0" smtClean="0">
                <a:solidFill>
                  <a:schemeClr val="bg1"/>
                </a:solidFill>
              </a:rPr>
              <a:t>felhajtóerő, </a:t>
            </a:r>
            <a:r>
              <a:rPr lang="el-GR" sz="1400" dirty="0" smtClean="0">
                <a:solidFill>
                  <a:schemeClr val="bg1"/>
                </a:solidFill>
              </a:rPr>
              <a:t>ρ</a:t>
            </a:r>
            <a:r>
              <a:rPr lang="hu-HU" sz="1400" dirty="0" smtClean="0">
                <a:solidFill>
                  <a:schemeClr val="bg1"/>
                </a:solidFill>
              </a:rPr>
              <a:t>: a közeg sűrűsége, v: sebesség, </a:t>
            </a:r>
            <a:r>
              <a:rPr lang="hu-HU" sz="1400" dirty="0" err="1" smtClean="0">
                <a:solidFill>
                  <a:schemeClr val="bg1"/>
                </a:solidFill>
              </a:rPr>
              <a:t>c</a:t>
            </a:r>
            <a:r>
              <a:rPr lang="hu-HU" sz="1400" baseline="-25000" dirty="0" err="1" smtClean="0">
                <a:solidFill>
                  <a:schemeClr val="bg1"/>
                </a:solidFill>
              </a:rPr>
              <a:t>y</a:t>
            </a:r>
            <a:r>
              <a:rPr lang="hu-HU" sz="1400" baseline="-25000" dirty="0" smtClean="0">
                <a:solidFill>
                  <a:schemeClr val="bg1"/>
                </a:solidFill>
              </a:rPr>
              <a:t> </a:t>
            </a:r>
            <a:r>
              <a:rPr lang="hu-HU" sz="1400" dirty="0" smtClean="0">
                <a:solidFill>
                  <a:schemeClr val="bg1"/>
                </a:solidFill>
              </a:rPr>
              <a:t>: felhajtóerő tényező, A: felület</a:t>
            </a:r>
          </a:p>
          <a:p>
            <a:pPr marL="457200" lvl="1" indent="0" algn="ctr">
              <a:buNone/>
            </a:pPr>
            <a:r>
              <a:rPr lang="hu-HU" sz="1400" b="1" dirty="0" err="1" smtClean="0">
                <a:solidFill>
                  <a:schemeClr val="bg1"/>
                </a:solidFill>
              </a:rPr>
              <a:t>F</a:t>
            </a:r>
            <a:r>
              <a:rPr lang="hu-HU" sz="1400" b="1" baseline="-25000" dirty="0" err="1" smtClean="0">
                <a:solidFill>
                  <a:schemeClr val="bg1"/>
                </a:solidFill>
              </a:rPr>
              <a:t>x</a:t>
            </a:r>
            <a:r>
              <a:rPr lang="hu-HU" sz="1400" b="1" dirty="0" smtClean="0">
                <a:solidFill>
                  <a:schemeClr val="bg1"/>
                </a:solidFill>
              </a:rPr>
              <a:t> = </a:t>
            </a:r>
            <a:r>
              <a:rPr lang="el-GR" sz="1400" b="1" dirty="0" smtClean="0">
                <a:solidFill>
                  <a:schemeClr val="bg1"/>
                </a:solidFill>
              </a:rPr>
              <a:t>ρ</a:t>
            </a:r>
            <a:r>
              <a:rPr lang="hu-HU" sz="1400" b="1" dirty="0" smtClean="0">
                <a:solidFill>
                  <a:schemeClr val="bg1"/>
                </a:solidFill>
              </a:rPr>
              <a:t>/2 *v</a:t>
            </a:r>
            <a:r>
              <a:rPr lang="hu-HU" sz="1400" b="1" baseline="30000" dirty="0" smtClean="0">
                <a:solidFill>
                  <a:schemeClr val="bg1"/>
                </a:solidFill>
              </a:rPr>
              <a:t>2</a:t>
            </a:r>
            <a:r>
              <a:rPr lang="hu-HU" sz="1400" b="1" dirty="0" smtClean="0">
                <a:solidFill>
                  <a:schemeClr val="bg1"/>
                </a:solidFill>
              </a:rPr>
              <a:t> *</a:t>
            </a:r>
            <a:r>
              <a:rPr lang="hu-HU" sz="1400" b="1" dirty="0" err="1" smtClean="0">
                <a:solidFill>
                  <a:schemeClr val="bg1"/>
                </a:solidFill>
              </a:rPr>
              <a:t>c</a:t>
            </a:r>
            <a:r>
              <a:rPr lang="hu-HU" sz="1400" b="1" baseline="-25000" dirty="0" err="1" smtClean="0">
                <a:solidFill>
                  <a:schemeClr val="bg1"/>
                </a:solidFill>
              </a:rPr>
              <a:t>x</a:t>
            </a:r>
            <a:r>
              <a:rPr lang="hu-HU" sz="1400" b="1" dirty="0" smtClean="0">
                <a:solidFill>
                  <a:schemeClr val="bg1"/>
                </a:solidFill>
              </a:rPr>
              <a:t> * A</a:t>
            </a:r>
            <a:r>
              <a:rPr lang="hu-HU" sz="1400" dirty="0" smtClean="0">
                <a:solidFill>
                  <a:schemeClr val="bg1"/>
                </a:solidFill>
              </a:rPr>
              <a:t> </a:t>
            </a:r>
          </a:p>
          <a:p>
            <a:pPr marL="457200" lvl="1" indent="0" algn="just">
              <a:buNone/>
            </a:pPr>
            <a:r>
              <a:rPr lang="hu-HU" sz="1400" dirty="0" smtClean="0">
                <a:solidFill>
                  <a:schemeClr val="bg1"/>
                </a:solidFill>
              </a:rPr>
              <a:t>ahol </a:t>
            </a:r>
            <a:r>
              <a:rPr lang="hu-HU" sz="1400" dirty="0" err="1" smtClean="0">
                <a:solidFill>
                  <a:schemeClr val="bg1"/>
                </a:solidFill>
              </a:rPr>
              <a:t>F</a:t>
            </a:r>
            <a:r>
              <a:rPr lang="hu-HU" sz="1400" baseline="-25000" dirty="0" err="1" smtClean="0">
                <a:solidFill>
                  <a:schemeClr val="bg1"/>
                </a:solidFill>
              </a:rPr>
              <a:t>x</a:t>
            </a:r>
            <a:r>
              <a:rPr lang="hu-HU" sz="1400" baseline="-25000" dirty="0" smtClean="0">
                <a:solidFill>
                  <a:schemeClr val="bg1"/>
                </a:solidFill>
              </a:rPr>
              <a:t>: </a:t>
            </a:r>
            <a:r>
              <a:rPr lang="hu-HU" sz="1400" dirty="0" smtClean="0">
                <a:solidFill>
                  <a:schemeClr val="bg1"/>
                </a:solidFill>
              </a:rPr>
              <a:t>ellenálláserő, </a:t>
            </a:r>
            <a:r>
              <a:rPr lang="el-GR" sz="1400" dirty="0" smtClean="0">
                <a:solidFill>
                  <a:schemeClr val="bg1"/>
                </a:solidFill>
              </a:rPr>
              <a:t>ρ</a:t>
            </a:r>
            <a:r>
              <a:rPr lang="hu-HU" sz="1400" dirty="0" smtClean="0">
                <a:solidFill>
                  <a:schemeClr val="bg1"/>
                </a:solidFill>
              </a:rPr>
              <a:t>: a közeg sűrűsége, v: sebesség, </a:t>
            </a:r>
            <a:r>
              <a:rPr lang="hu-HU" sz="1400" dirty="0" err="1" smtClean="0">
                <a:solidFill>
                  <a:schemeClr val="bg1"/>
                </a:solidFill>
              </a:rPr>
              <a:t>c</a:t>
            </a:r>
            <a:r>
              <a:rPr lang="hu-HU" sz="1400" baseline="-25000" dirty="0" err="1" smtClean="0">
                <a:solidFill>
                  <a:schemeClr val="bg1"/>
                </a:solidFill>
              </a:rPr>
              <a:t>x</a:t>
            </a:r>
            <a:r>
              <a:rPr lang="hu-HU" sz="1400" baseline="-25000" dirty="0" smtClean="0">
                <a:solidFill>
                  <a:schemeClr val="bg1"/>
                </a:solidFill>
              </a:rPr>
              <a:t> </a:t>
            </a:r>
            <a:r>
              <a:rPr lang="hu-HU" sz="1400" dirty="0" smtClean="0">
                <a:solidFill>
                  <a:schemeClr val="bg1"/>
                </a:solidFill>
              </a:rPr>
              <a:t>: ellenállás tényező, A: felület</a:t>
            </a:r>
          </a:p>
          <a:p>
            <a:endParaRPr lang="hu-HU" altLang="hu-H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es-UY" altLang="hu-HU">
                <a:solidFill>
                  <a:schemeClr val="tx1"/>
                </a:solidFill>
              </a:rPr>
              <a:t> </a:t>
            </a:r>
            <a:endParaRPr lang="es-ES" altLang="hu-HU">
              <a:solidFill>
                <a:schemeClr val="tx1"/>
              </a:solidFill>
            </a:endParaRPr>
          </a:p>
        </p:txBody>
      </p:sp>
      <p:sp>
        <p:nvSpPr>
          <p:cNvPr id="4" name="Cím 1"/>
          <p:cNvSpPr txBox="1">
            <a:spLocks/>
          </p:cNvSpPr>
          <p:nvPr/>
        </p:nvSpPr>
        <p:spPr bwMode="auto">
          <a:xfrm>
            <a:off x="454342" y="22173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hu-HU" kern="0" dirty="0" smtClean="0"/>
              <a:t>Átesés</a:t>
            </a:r>
            <a:endParaRPr lang="hu-HU" kern="0" dirty="0"/>
          </a:p>
        </p:txBody>
      </p:sp>
      <p:sp>
        <p:nvSpPr>
          <p:cNvPr id="5" name="Tartalom helye 2"/>
          <p:cNvSpPr txBox="1">
            <a:spLocks/>
          </p:cNvSpPr>
          <p:nvPr/>
        </p:nvSpPr>
        <p:spPr bwMode="auto">
          <a:xfrm>
            <a:off x="1547664" y="1484785"/>
            <a:ext cx="7139136" cy="208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hu-HU" sz="2800" b="1" kern="0" dirty="0" smtClean="0">
                <a:solidFill>
                  <a:schemeClr val="bg1"/>
                </a:solidFill>
              </a:rPr>
              <a:t>Átesési pont</a:t>
            </a:r>
            <a:r>
              <a:rPr lang="hu-HU" sz="2800" kern="0" dirty="0" smtClean="0">
                <a:solidFill>
                  <a:schemeClr val="bg1"/>
                </a:solidFill>
              </a:rPr>
              <a:t>: azt az állásszöget, amelynél a felhajtóerő már nem növekszik tovább, ill. drasztikus visszaesés tapasztalható átesi pontnak nevezzük.</a:t>
            </a:r>
          </a:p>
          <a:p>
            <a:r>
              <a:rPr lang="hu-HU" sz="2800" b="1" kern="0" dirty="0" smtClean="0">
                <a:solidFill>
                  <a:schemeClr val="bg1"/>
                </a:solidFill>
              </a:rPr>
              <a:t>Kritikus sebesség</a:t>
            </a:r>
            <a:r>
              <a:rPr lang="hu-HU" sz="2800" kern="0" dirty="0" smtClean="0">
                <a:solidFill>
                  <a:schemeClr val="bg1"/>
                </a:solidFill>
              </a:rPr>
              <a:t>: az a legkisebb sebesség, amellyel még a levegőben tudunk maradni, de az állásszög további növelésével létrejön az átesés.</a:t>
            </a:r>
            <a:endParaRPr lang="hu-HU" sz="2800" kern="0" dirty="0">
              <a:solidFill>
                <a:schemeClr val="bg1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48233"/>
          <a:stretch/>
        </p:blipFill>
        <p:spPr bwMode="auto">
          <a:xfrm>
            <a:off x="2974831" y="3522295"/>
            <a:ext cx="3600400" cy="326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R-</a:t>
            </a:r>
            <a:r>
              <a:rPr lang="el-GR" dirty="0" smtClean="0"/>
              <a:t>α</a:t>
            </a:r>
            <a:r>
              <a:rPr lang="hu-HU" dirty="0" smtClean="0"/>
              <a:t> összefüggés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5657" y="1628775"/>
            <a:ext cx="2448272" cy="4895850"/>
          </a:xfrm>
        </p:spPr>
        <p:txBody>
          <a:bodyPr/>
          <a:lstStyle/>
          <a:p>
            <a:pPr marL="0" indent="0">
              <a:buNone/>
            </a:pPr>
            <a:r>
              <a:rPr lang="el-GR" sz="2400" dirty="0" smtClean="0">
                <a:solidFill>
                  <a:schemeClr val="bg1"/>
                </a:solidFill>
              </a:rPr>
              <a:t>α</a:t>
            </a:r>
            <a:r>
              <a:rPr lang="hu-HU" sz="2400" dirty="0" smtClean="0">
                <a:solidFill>
                  <a:schemeClr val="bg1"/>
                </a:solidFill>
              </a:rPr>
              <a:t>: állásszög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Y: felhajtóerő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X: ellenállás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R: eredő légerő</a:t>
            </a:r>
          </a:p>
          <a:p>
            <a:pPr marL="0" indent="0">
              <a:buNone/>
            </a:pPr>
            <a:endParaRPr lang="hu-HU" sz="2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bal oldali oszlop:</a:t>
            </a:r>
            <a:br>
              <a:rPr lang="hu-HU" sz="2400" dirty="0" smtClean="0">
                <a:solidFill>
                  <a:schemeClr val="bg1"/>
                </a:solidFill>
              </a:rPr>
            </a:br>
            <a:r>
              <a:rPr lang="hu-HU" sz="2400" dirty="0" smtClean="0">
                <a:solidFill>
                  <a:schemeClr val="bg1"/>
                </a:solidFill>
              </a:rPr>
              <a:t>szimmetrikus profil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jobb oldal:</a:t>
            </a:r>
          </a:p>
          <a:p>
            <a:pPr marL="0" indent="0">
              <a:buNone/>
            </a:pPr>
            <a:r>
              <a:rPr lang="hu-HU" sz="2400" dirty="0" smtClean="0">
                <a:solidFill>
                  <a:schemeClr val="bg1"/>
                </a:solidFill>
              </a:rPr>
              <a:t>aszimmetrikus profil</a:t>
            </a:r>
          </a:p>
          <a:p>
            <a:endParaRPr lang="hu-HU" altLang="hu-HU" sz="2400" dirty="0">
              <a:solidFill>
                <a:schemeClr val="bg1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854" y="1677496"/>
            <a:ext cx="5146570" cy="5180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R-</a:t>
            </a:r>
            <a:r>
              <a:rPr lang="el-GR" dirty="0" smtClean="0"/>
              <a:t>α</a:t>
            </a:r>
            <a:r>
              <a:rPr lang="hu-HU" dirty="0" smtClean="0"/>
              <a:t> összefüggés</a:t>
            </a:r>
            <a:endParaRPr lang="es-ES" altLang="hu-HU" dirty="0">
              <a:solidFill>
                <a:schemeClr val="tx1"/>
              </a:solidFill>
            </a:endParaRPr>
          </a:p>
        </p:txBody>
      </p:sp>
      <p:pic>
        <p:nvPicPr>
          <p:cNvPr id="4" name="fluid mechanics - airfoil.wmv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2123728" y="1536284"/>
            <a:ext cx="6514125" cy="48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dirty="0" smtClean="0"/>
              <a:t>R-</a:t>
            </a:r>
            <a:r>
              <a:rPr lang="el-GR" dirty="0" smtClean="0"/>
              <a:t>α</a:t>
            </a:r>
            <a:r>
              <a:rPr lang="hu-HU" dirty="0" smtClean="0"/>
              <a:t> összefüggés</a:t>
            </a:r>
            <a:endParaRPr lang="es-ES" altLang="hu-HU" dirty="0">
              <a:solidFill>
                <a:schemeClr val="tx1"/>
              </a:solidFill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628775"/>
            <a:ext cx="7200900" cy="4895850"/>
          </a:xfrm>
        </p:spPr>
        <p:txBody>
          <a:bodyPr/>
          <a:lstStyle/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 felhajtóerő kis állásszögnél az állásszöggel arányosan változik.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Az ellenállás nagyobb állásszögeknél rohamosan nő.</a:t>
            </a:r>
          </a:p>
          <a:p>
            <a:pPr algn="just"/>
            <a:r>
              <a:rPr lang="hu-HU" sz="2400" dirty="0" smtClean="0">
                <a:solidFill>
                  <a:schemeClr val="bg1"/>
                </a:solidFill>
              </a:rPr>
              <a:t>A szárnyszelvény a legnagyobb felhajtóerő tényezőt a kritikus állásszög esetén éri el. Ennél nagyobb állásszögnél a felhajtóerő tényező rohamosan csökken, a szárny átesik.</a:t>
            </a:r>
          </a:p>
          <a:p>
            <a:endParaRPr lang="hu-HU" altLang="hu-H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sz="2800" dirty="0" smtClean="0"/>
              <a:t>Testek áramképe és ellenállás tényezője (</a:t>
            </a:r>
            <a:r>
              <a:rPr lang="hu-HU" sz="2800" dirty="0" err="1" smtClean="0"/>
              <a:t>c</a:t>
            </a:r>
            <a:r>
              <a:rPr lang="hu-HU" sz="2800" baseline="-25000" dirty="0" err="1" smtClean="0"/>
              <a:t>x</a:t>
            </a:r>
            <a:r>
              <a:rPr lang="hu-HU" sz="2800" dirty="0" smtClean="0"/>
              <a:t>)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058151"/>
            <a:ext cx="3423050" cy="392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095" y="2060848"/>
            <a:ext cx="3628963" cy="39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357239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1143000"/>
          </a:xfrm>
        </p:spPr>
        <p:txBody>
          <a:bodyPr/>
          <a:lstStyle/>
          <a:p>
            <a:r>
              <a:rPr lang="hu-HU" sz="2800" dirty="0" smtClean="0"/>
              <a:t>Örvények</a:t>
            </a:r>
            <a:endParaRPr lang="es-ES" altLang="hu-HU" sz="2800" dirty="0">
              <a:solidFill>
                <a:schemeClr val="tx1"/>
              </a:solidFill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idx="1"/>
          </p:nvPr>
        </p:nvSpPr>
        <p:spPr>
          <a:xfrm>
            <a:off x="1619672" y="1412776"/>
            <a:ext cx="7365504" cy="331236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hu-HU" sz="2800" dirty="0">
                <a:solidFill>
                  <a:schemeClr val="bg1"/>
                </a:solidFill>
              </a:rPr>
              <a:t>A test mögötti örvénytérben az egyik oldalon leváló örvényt rögtön követi a másik oldalon is egy, amely ellentétes irányban forog. Az örvények </a:t>
            </a:r>
            <a:r>
              <a:rPr lang="hu-HU" sz="2800" dirty="0" smtClean="0">
                <a:solidFill>
                  <a:schemeClr val="bg1"/>
                </a:solidFill>
              </a:rPr>
              <a:t>mindig párosával </a:t>
            </a:r>
            <a:r>
              <a:rPr lang="hu-HU" sz="2800" dirty="0">
                <a:solidFill>
                  <a:schemeClr val="bg1"/>
                </a:solidFill>
              </a:rPr>
              <a:t>keletkeznek a test mögött. A test mögött zegzugosan lemaradó örvények örvénysort alkotnak, melyet Kármán-féle örvénysornak nevezünk</a:t>
            </a:r>
            <a:r>
              <a:rPr lang="hu-HU" sz="2800" dirty="0" smtClean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hu-HU" sz="2800" dirty="0">
                <a:solidFill>
                  <a:schemeClr val="bg1"/>
                </a:solidFill>
              </a:rPr>
              <a:t>Az örvények jelenléte miatt az áramlás nem tud zavartalanul összezáródni a test mögött, annak fala mentén, ezért ott a statikus nyomás lecsökken.</a:t>
            </a:r>
            <a:endParaRPr lang="hu-HU" sz="2800" dirty="0" smtClean="0">
              <a:solidFill>
                <a:schemeClr val="bg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4210065"/>
            <a:ext cx="3744416" cy="2396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613277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hu-HU" dirty="0" smtClean="0"/>
              <a:t>Határréteg</a:t>
            </a:r>
            <a:endParaRPr lang="hu-HU" dirty="0"/>
          </a:p>
        </p:txBody>
      </p:sp>
      <p:sp>
        <p:nvSpPr>
          <p:cNvPr id="5" name="Tartalom helye 2"/>
          <p:cNvSpPr>
            <a:spLocks noGrp="1"/>
          </p:cNvSpPr>
          <p:nvPr>
            <p:ph idx="1"/>
          </p:nvPr>
        </p:nvSpPr>
        <p:spPr>
          <a:xfrm>
            <a:off x="1619672" y="1484785"/>
            <a:ext cx="7067128" cy="511256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hu-HU" sz="2800" dirty="0">
                <a:solidFill>
                  <a:schemeClr val="bg1"/>
                </a:solidFill>
              </a:rPr>
              <a:t>Az áramlásba helyezett </a:t>
            </a:r>
            <a:r>
              <a:rPr lang="hu-HU" sz="2800" b="1" dirty="0">
                <a:solidFill>
                  <a:schemeClr val="bg1"/>
                </a:solidFill>
              </a:rPr>
              <a:t>testek körül kialakult réteget</a:t>
            </a:r>
            <a:r>
              <a:rPr lang="hu-HU" sz="2800" dirty="0">
                <a:solidFill>
                  <a:schemeClr val="bg1"/>
                </a:solidFill>
              </a:rPr>
              <a:t>, amelyben a közeg </a:t>
            </a:r>
            <a:r>
              <a:rPr lang="hu-HU" sz="2800" b="1" dirty="0">
                <a:solidFill>
                  <a:schemeClr val="bg1"/>
                </a:solidFill>
              </a:rPr>
              <a:t>részecskéinek a mozgását a súrlódási erők befolyásolják</a:t>
            </a:r>
            <a:r>
              <a:rPr lang="hu-HU" sz="2800" dirty="0">
                <a:solidFill>
                  <a:schemeClr val="bg1"/>
                </a:solidFill>
              </a:rPr>
              <a:t>, </a:t>
            </a:r>
            <a:r>
              <a:rPr lang="hu-HU" sz="2800" dirty="0" smtClean="0">
                <a:solidFill>
                  <a:schemeClr val="bg1"/>
                </a:solidFill>
              </a:rPr>
              <a:t>határrétegnek nevezzük.</a:t>
            </a:r>
          </a:p>
          <a:p>
            <a:pPr algn="just"/>
            <a:r>
              <a:rPr lang="hu-HU" sz="2800" dirty="0">
                <a:solidFill>
                  <a:schemeClr val="bg1"/>
                </a:solidFill>
              </a:rPr>
              <a:t>A test körüli áramlást két részre oszthatjuk:</a:t>
            </a:r>
          </a:p>
          <a:p>
            <a:pPr lvl="1" algn="just"/>
            <a:r>
              <a:rPr lang="hu-HU" sz="2400" dirty="0">
                <a:solidFill>
                  <a:schemeClr val="bg1"/>
                </a:solidFill>
              </a:rPr>
              <a:t>a test közvetlen közelében a viszkozitás hatása alatt lévő határrétegre,</a:t>
            </a:r>
          </a:p>
          <a:p>
            <a:pPr lvl="1" algn="just"/>
            <a:r>
              <a:rPr lang="hu-HU" sz="2400" dirty="0">
                <a:solidFill>
                  <a:schemeClr val="bg1"/>
                </a:solidFill>
              </a:rPr>
              <a:t>a határrétegen kívüli zavartalan áramlásra</a:t>
            </a:r>
            <a:r>
              <a:rPr lang="hu-HU" sz="2400" dirty="0" smtClean="0">
                <a:solidFill>
                  <a:schemeClr val="bg1"/>
                </a:solidFill>
              </a:rPr>
              <a:t>.</a:t>
            </a:r>
            <a:endParaRPr lang="hu-HU" sz="2800" dirty="0" smtClean="0">
              <a:solidFill>
                <a:schemeClr val="bg1"/>
              </a:solidFill>
            </a:endParaRPr>
          </a:p>
          <a:p>
            <a:pPr marL="514350" indent="-457200" algn="just"/>
            <a:r>
              <a:rPr lang="hu-HU" sz="2800" dirty="0">
                <a:solidFill>
                  <a:schemeClr val="bg1"/>
                </a:solidFill>
              </a:rPr>
              <a:t>A </a:t>
            </a:r>
            <a:r>
              <a:rPr lang="hu-HU" sz="2800" dirty="0" err="1">
                <a:solidFill>
                  <a:schemeClr val="bg1"/>
                </a:solidFill>
              </a:rPr>
              <a:t>torlópontból</a:t>
            </a:r>
            <a:r>
              <a:rPr lang="hu-HU" sz="2800" dirty="0">
                <a:solidFill>
                  <a:schemeClr val="bg1"/>
                </a:solidFill>
              </a:rPr>
              <a:t> kiinduló határréteg kezdetben mindig lamináris. A lamináris határréteg az áramlás irányában fokozatosan vastagszik. A határréteg a </a:t>
            </a:r>
            <a:r>
              <a:rPr lang="hu-HU" sz="2800" dirty="0" err="1">
                <a:solidFill>
                  <a:schemeClr val="bg1"/>
                </a:solidFill>
              </a:rPr>
              <a:t>torlópont</a:t>
            </a:r>
            <a:r>
              <a:rPr lang="hu-HU" sz="2800" dirty="0">
                <a:solidFill>
                  <a:schemeClr val="bg1"/>
                </a:solidFill>
              </a:rPr>
              <a:t> mögött egy bizonyos távolságban kezd turbulenssé válni. </a:t>
            </a:r>
          </a:p>
          <a:p>
            <a:pPr marL="514350" indent="-457200" algn="just"/>
            <a:r>
              <a:rPr lang="hu-HU" sz="2800" dirty="0">
                <a:solidFill>
                  <a:schemeClr val="bg1"/>
                </a:solidFill>
              </a:rPr>
              <a:t>A test felületének azt a pontját, ahol a határréteg jellege laminárisból turbulensbe alakul át, átváltási pontnak nevezzük</a:t>
            </a:r>
            <a:r>
              <a:rPr lang="hu-HU" sz="2800" dirty="0" smtClean="0">
                <a:solidFill>
                  <a:schemeClr val="bg1"/>
                </a:solidFill>
              </a:rPr>
              <a:t>.</a:t>
            </a:r>
          </a:p>
          <a:p>
            <a:pPr marL="514350" indent="-457200" algn="just"/>
            <a:r>
              <a:rPr lang="hu-HU" sz="2800" dirty="0" smtClean="0">
                <a:solidFill>
                  <a:schemeClr val="bg1"/>
                </a:solidFill>
              </a:rPr>
              <a:t>Az átváltási pont jellemzésére használhatjuk a Reynolds számot (Re). A Re növekedésével az átváltási pont a </a:t>
            </a:r>
            <a:r>
              <a:rPr lang="hu-HU" sz="2800" dirty="0" err="1" smtClean="0">
                <a:solidFill>
                  <a:schemeClr val="bg1"/>
                </a:solidFill>
              </a:rPr>
              <a:t>torlópont</a:t>
            </a:r>
            <a:r>
              <a:rPr lang="hu-HU" sz="2800" dirty="0" smtClean="0">
                <a:solidFill>
                  <a:schemeClr val="bg1"/>
                </a:solidFill>
              </a:rPr>
              <a:t> felé vándorol.</a:t>
            </a:r>
            <a:endParaRPr lang="hu-HU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354327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hu-HU" dirty="0" smtClean="0"/>
              <a:t>Határréteg</a:t>
            </a:r>
            <a:endParaRPr lang="hu-H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911562"/>
            <a:ext cx="6684504" cy="414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7932572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hu-HU" dirty="0" smtClean="0"/>
              <a:t>Határréteg</a:t>
            </a:r>
            <a:endParaRPr lang="hu-HU" dirty="0"/>
          </a:p>
        </p:txBody>
      </p:sp>
      <p:sp>
        <p:nvSpPr>
          <p:cNvPr id="5" name="Tartalom helye 2"/>
          <p:cNvSpPr>
            <a:spLocks noGrp="1"/>
          </p:cNvSpPr>
          <p:nvPr>
            <p:ph idx="1"/>
          </p:nvPr>
        </p:nvSpPr>
        <p:spPr>
          <a:xfrm>
            <a:off x="1619672" y="1484785"/>
            <a:ext cx="7067128" cy="237626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hu-HU" dirty="0" smtClean="0">
                <a:solidFill>
                  <a:schemeClr val="bg1"/>
                </a:solidFill>
              </a:rPr>
              <a:t>Az eredő-légerő támadáspontját a szárnyszelvény </a:t>
            </a:r>
            <a:r>
              <a:rPr lang="hu-HU" b="1" dirty="0" smtClean="0">
                <a:solidFill>
                  <a:schemeClr val="bg1"/>
                </a:solidFill>
              </a:rPr>
              <a:t>nyomásközéppontjának</a:t>
            </a:r>
            <a:r>
              <a:rPr lang="hu-HU" i="1" dirty="0" smtClean="0">
                <a:solidFill>
                  <a:schemeClr val="bg1"/>
                </a:solidFill>
              </a:rPr>
              <a:t> </a:t>
            </a:r>
            <a:r>
              <a:rPr lang="hu-HU" dirty="0" smtClean="0">
                <a:solidFill>
                  <a:schemeClr val="bg1"/>
                </a:solidFill>
              </a:rPr>
              <a:t>nevezzük</a:t>
            </a:r>
            <a:r>
              <a:rPr lang="hu-HU" i="1" dirty="0" smtClean="0">
                <a:solidFill>
                  <a:schemeClr val="bg1"/>
                </a:solidFill>
              </a:rPr>
              <a:t>.</a:t>
            </a:r>
            <a:endParaRPr lang="hu-HU" sz="5400" dirty="0">
              <a:solidFill>
                <a:schemeClr val="bg1"/>
              </a:solidFill>
            </a:endParaRPr>
          </a:p>
          <a:p>
            <a:pPr algn="just"/>
            <a:r>
              <a:rPr lang="hu-HU" dirty="0">
                <a:solidFill>
                  <a:schemeClr val="bg1"/>
                </a:solidFill>
              </a:rPr>
              <a:t>A nyomásközéppont az állásszög függvényében vándorol. Állásszög növekedéskor a szelvény </a:t>
            </a:r>
            <a:r>
              <a:rPr lang="hu-HU" dirty="0" err="1">
                <a:solidFill>
                  <a:schemeClr val="bg1"/>
                </a:solidFill>
              </a:rPr>
              <a:t>belépőéle</a:t>
            </a:r>
            <a:r>
              <a:rPr lang="hu-HU" dirty="0">
                <a:solidFill>
                  <a:schemeClr val="bg1"/>
                </a:solidFill>
              </a:rPr>
              <a:t> felé, állásszög csökkenéskor pedig a </a:t>
            </a:r>
            <a:r>
              <a:rPr lang="hu-HU" dirty="0" err="1">
                <a:solidFill>
                  <a:schemeClr val="bg1"/>
                </a:solidFill>
              </a:rPr>
              <a:t>kilépőéle</a:t>
            </a:r>
            <a:r>
              <a:rPr lang="hu-HU" dirty="0">
                <a:solidFill>
                  <a:schemeClr val="bg1"/>
                </a:solidFill>
              </a:rPr>
              <a:t> felé vándorol. A nyomásközéppont a szárnyon kívül is lehet például a zuhanó repülés.</a:t>
            </a:r>
            <a:endParaRPr lang="hu-HU" dirty="0" smtClean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765032"/>
            <a:ext cx="6107642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204700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hu-HU" dirty="0" smtClean="0"/>
              <a:t>Indukált ellenállás</a:t>
            </a:r>
            <a:endParaRPr lang="hu-HU" dirty="0"/>
          </a:p>
        </p:txBody>
      </p:sp>
      <p:sp>
        <p:nvSpPr>
          <p:cNvPr id="5" name="Tartalom helye 2"/>
          <p:cNvSpPr>
            <a:spLocks noGrp="1"/>
          </p:cNvSpPr>
          <p:nvPr>
            <p:ph idx="1"/>
          </p:nvPr>
        </p:nvSpPr>
        <p:spPr>
          <a:xfrm>
            <a:off x="1619672" y="1484785"/>
            <a:ext cx="7067128" cy="2304255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hu-HU" sz="2800" b="1" dirty="0" smtClean="0">
                <a:solidFill>
                  <a:schemeClr val="bg1"/>
                </a:solidFill>
              </a:rPr>
              <a:t>A nyomás különbség miatt kialakuló szárnyszéli nyomás kiegyenlítődés </a:t>
            </a:r>
            <a:r>
              <a:rPr lang="hu-HU" sz="2800" dirty="0" smtClean="0">
                <a:solidFill>
                  <a:schemeClr val="bg1"/>
                </a:solidFill>
              </a:rPr>
              <a:t>indukált örvények kialakulásához vezet. Az örvények keletkezése mindig energia fogyasztással jár együtt, melyet </a:t>
            </a:r>
            <a:r>
              <a:rPr lang="hu-HU" sz="2800" b="1" dirty="0" smtClean="0">
                <a:solidFill>
                  <a:schemeClr val="bg1"/>
                </a:solidFill>
              </a:rPr>
              <a:t>indukált ellenállás</a:t>
            </a:r>
            <a:r>
              <a:rPr lang="hu-HU" sz="2800" dirty="0" smtClean="0">
                <a:solidFill>
                  <a:schemeClr val="bg1"/>
                </a:solidFill>
              </a:rPr>
              <a:t>nak nevezünk (</a:t>
            </a:r>
            <a:r>
              <a:rPr lang="hu-HU" sz="2800" dirty="0" err="1" smtClean="0">
                <a:solidFill>
                  <a:schemeClr val="bg1"/>
                </a:solidFill>
              </a:rPr>
              <a:t>X</a:t>
            </a:r>
            <a:r>
              <a:rPr lang="hu-HU" sz="2800" baseline="-25000" dirty="0" err="1" smtClean="0">
                <a:solidFill>
                  <a:schemeClr val="bg1"/>
                </a:solidFill>
              </a:rPr>
              <a:t>i</a:t>
            </a:r>
            <a:r>
              <a:rPr lang="hu-HU" sz="2800" dirty="0" smtClean="0">
                <a:solidFill>
                  <a:schemeClr val="bg1"/>
                </a:solidFill>
              </a:rPr>
              <a:t>).</a:t>
            </a:r>
          </a:p>
          <a:p>
            <a:pPr algn="just"/>
            <a:r>
              <a:rPr lang="hu-HU" sz="2800" dirty="0" smtClean="0">
                <a:solidFill>
                  <a:schemeClr val="bg1"/>
                </a:solidFill>
              </a:rPr>
              <a:t>Az </a:t>
            </a:r>
            <a:r>
              <a:rPr lang="hu-HU" sz="2800" dirty="0" err="1" smtClean="0">
                <a:solidFill>
                  <a:schemeClr val="bg1"/>
                </a:solidFill>
              </a:rPr>
              <a:t>X</a:t>
            </a:r>
            <a:r>
              <a:rPr lang="hu-HU" sz="2800" baseline="-25000" dirty="0" err="1" smtClean="0">
                <a:solidFill>
                  <a:schemeClr val="bg1"/>
                </a:solidFill>
              </a:rPr>
              <a:t>i</a:t>
            </a:r>
            <a:r>
              <a:rPr lang="hu-HU" sz="2800" dirty="0" smtClean="0">
                <a:solidFill>
                  <a:schemeClr val="bg1"/>
                </a:solidFill>
              </a:rPr>
              <a:t> létrejötte a felhajtóerő következménye.</a:t>
            </a:r>
          </a:p>
          <a:p>
            <a:pPr algn="just"/>
            <a:r>
              <a:rPr lang="hu-HU" sz="2800" dirty="0" smtClean="0">
                <a:solidFill>
                  <a:schemeClr val="bg1"/>
                </a:solidFill>
              </a:rPr>
              <a:t>A szárnyvégek felé a nyomáskiegyenlítődés miatt a </a:t>
            </a:r>
            <a:r>
              <a:rPr lang="hu-HU" sz="2800" dirty="0" err="1" smtClean="0">
                <a:solidFill>
                  <a:schemeClr val="bg1"/>
                </a:solidFill>
              </a:rPr>
              <a:t>c</a:t>
            </a:r>
            <a:r>
              <a:rPr lang="hu-HU" sz="2800" baseline="-25000" dirty="0" err="1" smtClean="0">
                <a:solidFill>
                  <a:schemeClr val="bg1"/>
                </a:solidFill>
              </a:rPr>
              <a:t>y</a:t>
            </a:r>
            <a:r>
              <a:rPr lang="hu-HU" sz="2800" dirty="0" smtClean="0">
                <a:solidFill>
                  <a:schemeClr val="bg1"/>
                </a:solidFill>
              </a:rPr>
              <a:t> csökken.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645024"/>
            <a:ext cx="5130718" cy="306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062225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zövegdoboz 16"/>
          <p:cNvSpPr txBox="1"/>
          <p:nvPr/>
        </p:nvSpPr>
        <p:spPr>
          <a:xfrm>
            <a:off x="3189448" y="6110840"/>
            <a:ext cx="3827412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Negatív </a:t>
            </a:r>
            <a:r>
              <a:rPr lang="hu-HU" b="1" dirty="0" err="1" smtClean="0">
                <a:solidFill>
                  <a:schemeClr val="bg1"/>
                </a:solidFill>
              </a:rPr>
              <a:t>max</a:t>
            </a:r>
            <a:r>
              <a:rPr lang="hu-HU" b="1" dirty="0" smtClean="0">
                <a:solidFill>
                  <a:schemeClr val="bg1"/>
                </a:solidFill>
              </a:rPr>
              <a:t>. felhajtóerő</a:t>
            </a:r>
            <a:br>
              <a:rPr lang="hu-HU" b="1" dirty="0" smtClean="0">
                <a:solidFill>
                  <a:schemeClr val="bg1"/>
                </a:solidFill>
              </a:rPr>
            </a:br>
            <a:r>
              <a:rPr lang="hu-HU" b="1" dirty="0" smtClean="0">
                <a:solidFill>
                  <a:schemeClr val="bg1"/>
                </a:solidFill>
              </a:rPr>
              <a:t>(</a:t>
            </a:r>
            <a:r>
              <a:rPr lang="hu-HU" b="1" dirty="0" err="1" smtClean="0">
                <a:solidFill>
                  <a:schemeClr val="bg1"/>
                </a:solidFill>
              </a:rPr>
              <a:t>hátonrepülés</a:t>
            </a:r>
            <a:r>
              <a:rPr lang="hu-HU" b="1" dirty="0" smtClean="0">
                <a:solidFill>
                  <a:schemeClr val="bg1"/>
                </a:solidFill>
              </a:rPr>
              <a:t>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1143000"/>
          </a:xfrm>
        </p:spPr>
        <p:txBody>
          <a:bodyPr>
            <a:normAutofit/>
          </a:bodyPr>
          <a:lstStyle/>
          <a:p>
            <a:r>
              <a:rPr lang="hu-HU" dirty="0" err="1" smtClean="0"/>
              <a:t>Lilienthal-féle</a:t>
            </a:r>
            <a:r>
              <a:rPr lang="hu-HU" dirty="0" smtClean="0"/>
              <a:t> </a:t>
            </a:r>
            <a:r>
              <a:rPr lang="hu-HU" dirty="0" err="1" smtClean="0"/>
              <a:t>polárdiagram</a:t>
            </a:r>
            <a:endParaRPr lang="hu-HU" dirty="0"/>
          </a:p>
        </p:txBody>
      </p:sp>
      <p:sp>
        <p:nvSpPr>
          <p:cNvPr id="5" name="Tartalom helye 2"/>
          <p:cNvSpPr>
            <a:spLocks noGrp="1"/>
          </p:cNvSpPr>
          <p:nvPr>
            <p:ph idx="1"/>
          </p:nvPr>
        </p:nvSpPr>
        <p:spPr>
          <a:xfrm>
            <a:off x="1547664" y="1484785"/>
            <a:ext cx="7139136" cy="3312367"/>
          </a:xfrm>
        </p:spPr>
        <p:txBody>
          <a:bodyPr>
            <a:normAutofit/>
          </a:bodyPr>
          <a:lstStyle/>
          <a:p>
            <a:pPr algn="just"/>
            <a:r>
              <a:rPr lang="hu-HU" sz="2800" dirty="0" smtClean="0">
                <a:solidFill>
                  <a:schemeClr val="bg1"/>
                </a:solidFill>
              </a:rPr>
              <a:t>Minden egyes pontja egy adott állásszög esetén a szelvényeken keletkező </a:t>
            </a:r>
            <a:r>
              <a:rPr lang="hu-HU" sz="2800" dirty="0" err="1" smtClean="0">
                <a:solidFill>
                  <a:schemeClr val="bg1"/>
                </a:solidFill>
              </a:rPr>
              <a:t>légerőtényezők</a:t>
            </a:r>
            <a:r>
              <a:rPr lang="hu-HU" sz="2800" dirty="0" smtClean="0">
                <a:solidFill>
                  <a:schemeClr val="bg1"/>
                </a:solidFill>
              </a:rPr>
              <a:t> nagyságát mutatja.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2970619"/>
            <a:ext cx="2736304" cy="3804300"/>
          </a:xfrm>
          <a:prstGeom prst="rect">
            <a:avLst/>
          </a:prstGeom>
        </p:spPr>
      </p:pic>
      <p:cxnSp>
        <p:nvCxnSpPr>
          <p:cNvPr id="8" name="Egyenes összekötő nyíllal 7"/>
          <p:cNvCxnSpPr/>
          <p:nvPr/>
        </p:nvCxnSpPr>
        <p:spPr>
          <a:xfrm>
            <a:off x="6472920" y="3350691"/>
            <a:ext cx="815678" cy="288032"/>
          </a:xfrm>
          <a:prstGeom prst="straightConnector1">
            <a:avLst/>
          </a:prstGeom>
          <a:ln w="698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nyíllal 8"/>
          <p:cNvCxnSpPr/>
          <p:nvPr/>
        </p:nvCxnSpPr>
        <p:spPr>
          <a:xfrm>
            <a:off x="5249869" y="3866617"/>
            <a:ext cx="1314720" cy="144016"/>
          </a:xfrm>
          <a:prstGeom prst="straightConnector1">
            <a:avLst/>
          </a:prstGeom>
          <a:ln w="698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>
            <a:off x="5103154" y="4553319"/>
            <a:ext cx="1461435" cy="180643"/>
          </a:xfrm>
          <a:prstGeom prst="straightConnector1">
            <a:avLst/>
          </a:prstGeom>
          <a:ln w="698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/>
          <p:cNvCxnSpPr/>
          <p:nvPr/>
        </p:nvCxnSpPr>
        <p:spPr>
          <a:xfrm>
            <a:off x="5462191" y="5322052"/>
            <a:ext cx="1010729" cy="303192"/>
          </a:xfrm>
          <a:prstGeom prst="straightConnector1">
            <a:avLst/>
          </a:prstGeom>
          <a:ln w="698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/>
          <p:cNvCxnSpPr/>
          <p:nvPr/>
        </p:nvCxnSpPr>
        <p:spPr>
          <a:xfrm>
            <a:off x="5964891" y="6434006"/>
            <a:ext cx="1199397" cy="0"/>
          </a:xfrm>
          <a:prstGeom prst="straightConnector1">
            <a:avLst/>
          </a:prstGeom>
          <a:ln w="698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/>
          <p:cNvSpPr txBox="1"/>
          <p:nvPr/>
        </p:nvSpPr>
        <p:spPr>
          <a:xfrm>
            <a:off x="3145872" y="2874337"/>
            <a:ext cx="3010304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Maximális Felhajtóerő (leszállás)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4" name="Szövegdoboz 13"/>
          <p:cNvSpPr txBox="1"/>
          <p:nvPr/>
        </p:nvSpPr>
        <p:spPr>
          <a:xfrm>
            <a:off x="3189448" y="3508318"/>
            <a:ext cx="212597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Optimális sebesség</a:t>
            </a:r>
            <a:br>
              <a:rPr lang="hu-HU" b="1" dirty="0" smtClean="0">
                <a:solidFill>
                  <a:schemeClr val="bg1"/>
                </a:solidFill>
              </a:rPr>
            </a:br>
            <a:r>
              <a:rPr lang="hu-HU" b="1" dirty="0" smtClean="0">
                <a:solidFill>
                  <a:schemeClr val="bg1"/>
                </a:solidFill>
              </a:rPr>
              <a:t>(siklás, emelkedés)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5" name="Szövegdoboz 14"/>
          <p:cNvSpPr txBox="1"/>
          <p:nvPr/>
        </p:nvSpPr>
        <p:spPr>
          <a:xfrm>
            <a:off x="2950368" y="4230154"/>
            <a:ext cx="2511823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Gazdaságos sebesség</a:t>
            </a:r>
            <a:br>
              <a:rPr lang="hu-HU" b="1" dirty="0" smtClean="0">
                <a:solidFill>
                  <a:schemeClr val="bg1"/>
                </a:solidFill>
              </a:rPr>
            </a:br>
            <a:r>
              <a:rPr lang="hu-HU" b="1" dirty="0" smtClean="0">
                <a:solidFill>
                  <a:schemeClr val="bg1"/>
                </a:solidFill>
              </a:rPr>
              <a:t>(várakozás)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6" name="Szövegdoboz 15"/>
          <p:cNvSpPr txBox="1"/>
          <p:nvPr/>
        </p:nvSpPr>
        <p:spPr>
          <a:xfrm>
            <a:off x="2950367" y="4952720"/>
            <a:ext cx="342236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b="1" dirty="0" smtClean="0">
                <a:solidFill>
                  <a:schemeClr val="bg1"/>
                </a:solidFill>
              </a:rPr>
              <a:t>Nulla Felhajtóerő (zuhanórepülés)</a:t>
            </a:r>
            <a:endParaRPr lang="hu-H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4856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14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3568" y="1340768"/>
            <a:ext cx="7772400" cy="1470025"/>
          </a:xfrm>
        </p:spPr>
        <p:txBody>
          <a:bodyPr/>
          <a:lstStyle/>
          <a:p>
            <a:r>
              <a:rPr lang="hu-HU" sz="6000" dirty="0" smtClean="0">
                <a:solidFill>
                  <a:schemeClr val="bg1"/>
                </a:solidFill>
              </a:rPr>
              <a:t>Köszönöm a figyelmet!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814505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5233</TotalTime>
  <Words>1269</Words>
  <Application>Microsoft Office PowerPoint</Application>
  <PresentationFormat>Diavetítés a képernyőre (4:3 oldalarány)</PresentationFormat>
  <Paragraphs>128</Paragraphs>
  <Slides>25</Slides>
  <Notes>0</Notes>
  <HiddenSlides>0</HiddenSlides>
  <MMClips>1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6" baseType="lpstr">
      <vt:lpstr>Diseño predeterminado</vt:lpstr>
      <vt:lpstr>Aerodinamika alapjai</vt:lpstr>
      <vt:lpstr>Aerodinamika </vt:lpstr>
      <vt:lpstr>Levegő fizikai tulajdonságai</vt:lpstr>
      <vt:lpstr>Nemzetközi Egyezményes Légkör (NEL) International Standard Atmosphere (ISA)</vt:lpstr>
      <vt:lpstr>Nemzetközi Egyezményes Légkör szerepe a repülésben</vt:lpstr>
      <vt:lpstr>Nemzetközi Egyezményes Légkör</vt:lpstr>
      <vt:lpstr>Magasság hatása az emberi szervezetre</vt:lpstr>
      <vt:lpstr>Áramlás típusok</vt:lpstr>
      <vt:lpstr>Áramlástan - kontinuitás</vt:lpstr>
      <vt:lpstr>Bernoulli törvénye</vt:lpstr>
      <vt:lpstr> </vt:lpstr>
      <vt:lpstr> </vt:lpstr>
      <vt:lpstr>Szárnyszelvény felépítése</vt:lpstr>
      <vt:lpstr> </vt:lpstr>
      <vt:lpstr>R-α összefüggés</vt:lpstr>
      <vt:lpstr>R-α összefüggés</vt:lpstr>
      <vt:lpstr>R-α összefüggés</vt:lpstr>
      <vt:lpstr>Testek áramképe és ellenállás tényezője (cx)</vt:lpstr>
      <vt:lpstr>Örvények</vt:lpstr>
      <vt:lpstr>Határréteg</vt:lpstr>
      <vt:lpstr>Határréteg</vt:lpstr>
      <vt:lpstr>Határréteg</vt:lpstr>
      <vt:lpstr>Indukált ellenállás</vt:lpstr>
      <vt:lpstr>Lilienthal-féle polárdiagram</vt:lpstr>
      <vt:lpstr>Köszönöm a figyelmet!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Csabi</cp:lastModifiedBy>
  <cp:revision>738</cp:revision>
  <dcterms:created xsi:type="dcterms:W3CDTF">2010-05-23T14:28:12Z</dcterms:created>
  <dcterms:modified xsi:type="dcterms:W3CDTF">2015-03-01T11:27:27Z</dcterms:modified>
</cp:coreProperties>
</file>